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5240000" cy="9525000"/>
  <p:notesSz cx="15240000" cy="9525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952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Path"/>
          <p:cNvSpPr/>
          <p:nvPr/>
        </p:nvSpPr>
        <p:spPr>
          <a:xfrm>
            <a:off x="757238" y="0"/>
            <a:ext cx="13725525" cy="9525000"/>
          </a:xfrm>
          <a:custGeom>
            <a:avLst/>
            <a:gdLst/>
            <a:ahLst/>
            <a:cxnLst/>
            <a:rect l="0" t="0" r="r" b="b"/>
            <a:pathLst>
              <a:path w="13725525" h="9525000">
                <a:moveTo>
                  <a:pt x="9525" y="0"/>
                </a:moveTo>
                <a:lnTo>
                  <a:pt x="9525" y="9525000"/>
                </a:lnTo>
                <a:lnTo>
                  <a:pt x="0" y="9525000"/>
                </a:lnTo>
                <a:lnTo>
                  <a:pt x="0" y="0"/>
                </a:lnTo>
                <a:lnTo>
                  <a:pt x="9525" y="0"/>
                </a:lnTo>
                <a:close/>
                <a:moveTo>
                  <a:pt x="771525" y="0"/>
                </a:moveTo>
                <a:lnTo>
                  <a:pt x="771525" y="9525000"/>
                </a:lnTo>
                <a:lnTo>
                  <a:pt x="762000" y="9525000"/>
                </a:lnTo>
                <a:lnTo>
                  <a:pt x="762000" y="0"/>
                </a:lnTo>
                <a:lnTo>
                  <a:pt x="771525" y="0"/>
                </a:lnTo>
                <a:close/>
                <a:moveTo>
                  <a:pt x="1533525" y="0"/>
                </a:moveTo>
                <a:lnTo>
                  <a:pt x="1533525" y="9525000"/>
                </a:lnTo>
                <a:lnTo>
                  <a:pt x="1524000" y="9525000"/>
                </a:lnTo>
                <a:lnTo>
                  <a:pt x="1524000" y="0"/>
                </a:lnTo>
                <a:lnTo>
                  <a:pt x="1533525" y="0"/>
                </a:lnTo>
                <a:close/>
                <a:moveTo>
                  <a:pt x="2295525" y="0"/>
                </a:moveTo>
                <a:lnTo>
                  <a:pt x="2295525" y="9525000"/>
                </a:lnTo>
                <a:lnTo>
                  <a:pt x="2286000" y="9525000"/>
                </a:lnTo>
                <a:lnTo>
                  <a:pt x="2286000" y="0"/>
                </a:lnTo>
                <a:lnTo>
                  <a:pt x="2295525" y="0"/>
                </a:lnTo>
                <a:close/>
                <a:moveTo>
                  <a:pt x="3057525" y="0"/>
                </a:moveTo>
                <a:lnTo>
                  <a:pt x="3057525" y="9525000"/>
                </a:lnTo>
                <a:lnTo>
                  <a:pt x="3048000" y="9525000"/>
                </a:lnTo>
                <a:lnTo>
                  <a:pt x="3048000" y="0"/>
                </a:lnTo>
                <a:lnTo>
                  <a:pt x="3057525" y="0"/>
                </a:lnTo>
                <a:close/>
                <a:moveTo>
                  <a:pt x="3819525" y="0"/>
                </a:moveTo>
                <a:lnTo>
                  <a:pt x="3819525" y="9525000"/>
                </a:lnTo>
                <a:lnTo>
                  <a:pt x="3810000" y="9525000"/>
                </a:lnTo>
                <a:lnTo>
                  <a:pt x="3810000" y="0"/>
                </a:lnTo>
                <a:lnTo>
                  <a:pt x="3819525" y="0"/>
                </a:lnTo>
                <a:close/>
                <a:moveTo>
                  <a:pt x="4581525" y="0"/>
                </a:moveTo>
                <a:lnTo>
                  <a:pt x="4581525" y="9525000"/>
                </a:lnTo>
                <a:lnTo>
                  <a:pt x="4572000" y="9525000"/>
                </a:lnTo>
                <a:lnTo>
                  <a:pt x="4572000" y="0"/>
                </a:lnTo>
                <a:lnTo>
                  <a:pt x="4581525" y="0"/>
                </a:lnTo>
                <a:close/>
                <a:moveTo>
                  <a:pt x="5343525" y="0"/>
                </a:moveTo>
                <a:lnTo>
                  <a:pt x="5343525" y="9525000"/>
                </a:lnTo>
                <a:lnTo>
                  <a:pt x="5334000" y="9525000"/>
                </a:lnTo>
                <a:lnTo>
                  <a:pt x="5334000" y="0"/>
                </a:lnTo>
                <a:lnTo>
                  <a:pt x="5343525" y="0"/>
                </a:lnTo>
                <a:close/>
                <a:moveTo>
                  <a:pt x="6105525" y="0"/>
                </a:moveTo>
                <a:lnTo>
                  <a:pt x="6105525" y="9525000"/>
                </a:lnTo>
                <a:lnTo>
                  <a:pt x="6096000" y="9525000"/>
                </a:lnTo>
                <a:lnTo>
                  <a:pt x="6096000" y="0"/>
                </a:lnTo>
                <a:lnTo>
                  <a:pt x="6105525" y="0"/>
                </a:lnTo>
                <a:close/>
                <a:moveTo>
                  <a:pt x="6867525" y="0"/>
                </a:moveTo>
                <a:lnTo>
                  <a:pt x="6867525" y="9525000"/>
                </a:lnTo>
                <a:lnTo>
                  <a:pt x="6858000" y="9525000"/>
                </a:lnTo>
                <a:lnTo>
                  <a:pt x="6858000" y="0"/>
                </a:lnTo>
                <a:lnTo>
                  <a:pt x="6867525" y="0"/>
                </a:lnTo>
                <a:close/>
                <a:moveTo>
                  <a:pt x="7629525" y="0"/>
                </a:moveTo>
                <a:lnTo>
                  <a:pt x="7629525" y="9525000"/>
                </a:lnTo>
                <a:lnTo>
                  <a:pt x="7620000" y="9525000"/>
                </a:lnTo>
                <a:lnTo>
                  <a:pt x="7620000" y="0"/>
                </a:lnTo>
                <a:lnTo>
                  <a:pt x="7629525" y="0"/>
                </a:lnTo>
                <a:close/>
                <a:moveTo>
                  <a:pt x="8391525" y="0"/>
                </a:moveTo>
                <a:lnTo>
                  <a:pt x="8391525" y="9525000"/>
                </a:lnTo>
                <a:lnTo>
                  <a:pt x="8382000" y="9525000"/>
                </a:lnTo>
                <a:lnTo>
                  <a:pt x="8382000" y="0"/>
                </a:lnTo>
                <a:lnTo>
                  <a:pt x="8391525" y="0"/>
                </a:lnTo>
                <a:close/>
                <a:moveTo>
                  <a:pt x="9153525" y="0"/>
                </a:moveTo>
                <a:lnTo>
                  <a:pt x="9153525" y="9525000"/>
                </a:lnTo>
                <a:lnTo>
                  <a:pt x="9144000" y="9525000"/>
                </a:lnTo>
                <a:lnTo>
                  <a:pt x="9144000" y="0"/>
                </a:lnTo>
                <a:lnTo>
                  <a:pt x="9153525" y="0"/>
                </a:lnTo>
                <a:close/>
                <a:moveTo>
                  <a:pt x="9915525" y="0"/>
                </a:moveTo>
                <a:lnTo>
                  <a:pt x="9915525" y="9525000"/>
                </a:lnTo>
                <a:lnTo>
                  <a:pt x="9906000" y="9525000"/>
                </a:lnTo>
                <a:lnTo>
                  <a:pt x="9906000" y="0"/>
                </a:lnTo>
                <a:lnTo>
                  <a:pt x="9915525" y="0"/>
                </a:lnTo>
                <a:close/>
                <a:moveTo>
                  <a:pt x="10677525" y="0"/>
                </a:moveTo>
                <a:lnTo>
                  <a:pt x="10677525" y="9525000"/>
                </a:lnTo>
                <a:lnTo>
                  <a:pt x="10668000" y="9525000"/>
                </a:lnTo>
                <a:lnTo>
                  <a:pt x="10668000" y="0"/>
                </a:lnTo>
                <a:lnTo>
                  <a:pt x="10677525" y="0"/>
                </a:lnTo>
                <a:close/>
                <a:moveTo>
                  <a:pt x="11439525" y="0"/>
                </a:moveTo>
                <a:lnTo>
                  <a:pt x="11439525" y="9525000"/>
                </a:lnTo>
                <a:lnTo>
                  <a:pt x="11430000" y="9525000"/>
                </a:lnTo>
                <a:lnTo>
                  <a:pt x="11430000" y="0"/>
                </a:lnTo>
                <a:lnTo>
                  <a:pt x="11439525" y="0"/>
                </a:lnTo>
                <a:close/>
                <a:moveTo>
                  <a:pt x="12201525" y="0"/>
                </a:moveTo>
                <a:lnTo>
                  <a:pt x="12201525" y="9525000"/>
                </a:lnTo>
                <a:lnTo>
                  <a:pt x="12192000" y="9525000"/>
                </a:lnTo>
                <a:lnTo>
                  <a:pt x="12192000" y="0"/>
                </a:lnTo>
                <a:lnTo>
                  <a:pt x="12201525" y="0"/>
                </a:lnTo>
                <a:close/>
                <a:moveTo>
                  <a:pt x="12963525" y="0"/>
                </a:moveTo>
                <a:lnTo>
                  <a:pt x="12963525" y="9525000"/>
                </a:lnTo>
                <a:lnTo>
                  <a:pt x="12954000" y="9525000"/>
                </a:lnTo>
                <a:lnTo>
                  <a:pt x="12954000" y="0"/>
                </a:lnTo>
                <a:lnTo>
                  <a:pt x="12963525" y="0"/>
                </a:lnTo>
                <a:close/>
                <a:moveTo>
                  <a:pt x="13725525" y="0"/>
                </a:moveTo>
                <a:lnTo>
                  <a:pt x="13725525" y="9525000"/>
                </a:lnTo>
                <a:lnTo>
                  <a:pt x="13716000" y="9525000"/>
                </a:lnTo>
                <a:lnTo>
                  <a:pt x="13716000" y="0"/>
                </a:lnTo>
                <a:lnTo>
                  <a:pt x="13725525" y="0"/>
                </a:lnTo>
                <a:close/>
              </a:path>
            </a:pathLst>
          </a:custGeom>
          <a:solidFill>
            <a:srgbClr val="4F5BD5">
              <a:alpha val="55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ath"/>
          <p:cNvSpPr/>
          <p:nvPr/>
        </p:nvSpPr>
        <p:spPr>
          <a:xfrm>
            <a:off x="0" y="757238"/>
            <a:ext cx="15240000" cy="7629525"/>
          </a:xfrm>
          <a:custGeom>
            <a:avLst/>
            <a:gdLst/>
            <a:ahLst/>
            <a:cxnLst/>
            <a:rect l="0" t="0" r="r" b="b"/>
            <a:pathLst>
              <a:path w="15240000" h="7629525">
                <a:moveTo>
                  <a:pt x="0" y="0"/>
                </a:moveTo>
                <a:lnTo>
                  <a:pt x="15240000" y="0"/>
                </a:lnTo>
                <a:lnTo>
                  <a:pt x="15240000" y="9525"/>
                </a:lnTo>
                <a:lnTo>
                  <a:pt x="0" y="9525"/>
                </a:lnTo>
                <a:lnTo>
                  <a:pt x="0" y="0"/>
                </a:lnTo>
                <a:close/>
                <a:moveTo>
                  <a:pt x="0" y="762000"/>
                </a:moveTo>
                <a:lnTo>
                  <a:pt x="15240000" y="762000"/>
                </a:lnTo>
                <a:lnTo>
                  <a:pt x="15240000" y="771525"/>
                </a:lnTo>
                <a:lnTo>
                  <a:pt x="0" y="771525"/>
                </a:lnTo>
                <a:lnTo>
                  <a:pt x="0" y="762000"/>
                </a:lnTo>
                <a:close/>
                <a:moveTo>
                  <a:pt x="0" y="1524000"/>
                </a:moveTo>
                <a:lnTo>
                  <a:pt x="15240000" y="1524000"/>
                </a:lnTo>
                <a:lnTo>
                  <a:pt x="15240000" y="1533525"/>
                </a:lnTo>
                <a:lnTo>
                  <a:pt x="0" y="1533525"/>
                </a:lnTo>
                <a:lnTo>
                  <a:pt x="0" y="1524000"/>
                </a:lnTo>
                <a:close/>
                <a:moveTo>
                  <a:pt x="0" y="2286000"/>
                </a:moveTo>
                <a:lnTo>
                  <a:pt x="15240000" y="2286000"/>
                </a:lnTo>
                <a:lnTo>
                  <a:pt x="15240000" y="2295525"/>
                </a:lnTo>
                <a:lnTo>
                  <a:pt x="0" y="2295525"/>
                </a:lnTo>
                <a:lnTo>
                  <a:pt x="0" y="2286000"/>
                </a:lnTo>
                <a:close/>
                <a:moveTo>
                  <a:pt x="0" y="3048000"/>
                </a:moveTo>
                <a:lnTo>
                  <a:pt x="15240000" y="3048000"/>
                </a:lnTo>
                <a:lnTo>
                  <a:pt x="15240000" y="3057525"/>
                </a:lnTo>
                <a:lnTo>
                  <a:pt x="0" y="3057525"/>
                </a:lnTo>
                <a:lnTo>
                  <a:pt x="0" y="3048000"/>
                </a:lnTo>
                <a:close/>
                <a:moveTo>
                  <a:pt x="0" y="3810000"/>
                </a:moveTo>
                <a:lnTo>
                  <a:pt x="15240000" y="3810000"/>
                </a:lnTo>
                <a:lnTo>
                  <a:pt x="15240000" y="3819525"/>
                </a:lnTo>
                <a:lnTo>
                  <a:pt x="0" y="3819525"/>
                </a:lnTo>
                <a:lnTo>
                  <a:pt x="0" y="3810000"/>
                </a:lnTo>
                <a:close/>
                <a:moveTo>
                  <a:pt x="0" y="4572000"/>
                </a:moveTo>
                <a:lnTo>
                  <a:pt x="15240000" y="4572000"/>
                </a:lnTo>
                <a:lnTo>
                  <a:pt x="15240000" y="4581525"/>
                </a:lnTo>
                <a:lnTo>
                  <a:pt x="0" y="4581525"/>
                </a:lnTo>
                <a:lnTo>
                  <a:pt x="0" y="4572000"/>
                </a:lnTo>
                <a:close/>
                <a:moveTo>
                  <a:pt x="0" y="5334000"/>
                </a:moveTo>
                <a:lnTo>
                  <a:pt x="15240000" y="5334000"/>
                </a:lnTo>
                <a:lnTo>
                  <a:pt x="15240000" y="5343525"/>
                </a:lnTo>
                <a:lnTo>
                  <a:pt x="0" y="5343525"/>
                </a:lnTo>
                <a:lnTo>
                  <a:pt x="0" y="5334000"/>
                </a:lnTo>
                <a:close/>
                <a:moveTo>
                  <a:pt x="0" y="6096000"/>
                </a:moveTo>
                <a:lnTo>
                  <a:pt x="15240000" y="6096000"/>
                </a:lnTo>
                <a:lnTo>
                  <a:pt x="15240000" y="6105525"/>
                </a:lnTo>
                <a:lnTo>
                  <a:pt x="0" y="6105525"/>
                </a:lnTo>
                <a:lnTo>
                  <a:pt x="0" y="6096000"/>
                </a:lnTo>
                <a:close/>
                <a:moveTo>
                  <a:pt x="0" y="6858000"/>
                </a:moveTo>
                <a:lnTo>
                  <a:pt x="15240000" y="6858000"/>
                </a:lnTo>
                <a:lnTo>
                  <a:pt x="15240000" y="6867525"/>
                </a:lnTo>
                <a:lnTo>
                  <a:pt x="0" y="6867525"/>
                </a:lnTo>
                <a:lnTo>
                  <a:pt x="0" y="6858000"/>
                </a:lnTo>
                <a:close/>
                <a:moveTo>
                  <a:pt x="0" y="7620000"/>
                </a:moveTo>
                <a:lnTo>
                  <a:pt x="15240000" y="7620000"/>
                </a:lnTo>
                <a:lnTo>
                  <a:pt x="15240000" y="7629525"/>
                </a:lnTo>
                <a:lnTo>
                  <a:pt x="0" y="7629525"/>
                </a:lnTo>
                <a:lnTo>
                  <a:pt x="0" y="7620000"/>
                </a:lnTo>
                <a:close/>
              </a:path>
            </a:pathLst>
          </a:custGeom>
          <a:solidFill>
            <a:srgbClr val="4F5BD5">
              <a:alpha val="55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762000" y="7620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"/>
          <p:cNvSpPr/>
          <p:nvPr/>
        </p:nvSpPr>
        <p:spPr>
          <a:xfrm>
            <a:off x="862965" y="939165"/>
            <a:ext cx="64770" cy="647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Ellipse"/>
          <p:cNvSpPr/>
          <p:nvPr/>
        </p:nvSpPr>
        <p:spPr>
          <a:xfrm>
            <a:off x="1024890" y="867727"/>
            <a:ext cx="45720" cy="45720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"/>
          <p:cNvSpPr/>
          <p:nvPr/>
        </p:nvSpPr>
        <p:spPr>
          <a:xfrm>
            <a:off x="1024890" y="1029652"/>
            <a:ext cx="45720" cy="45720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916129" y="898984"/>
            <a:ext cx="110842" cy="145132"/>
          </a:xfrm>
          <a:custGeom>
            <a:avLst/>
            <a:gdLst/>
            <a:ahLst/>
            <a:cxnLst/>
            <a:rect l="0" t="0" r="r" b="b"/>
            <a:pathLst>
              <a:path w="110842" h="145132">
                <a:moveTo>
                  <a:pt x="4500" y="50988"/>
                </a:moveTo>
                <a:lnTo>
                  <a:pt x="99750" y="1458"/>
                </a:lnTo>
                <a:quadBezTo>
                  <a:pt x="102368" y="0"/>
                  <a:pt x="105197" y="984"/>
                </a:quadBezTo>
                <a:quadBezTo>
                  <a:pt x="108079" y="1804"/>
                  <a:pt x="109384" y="4500"/>
                </a:quadBezTo>
                <a:quadBezTo>
                  <a:pt x="110842" y="7118"/>
                  <a:pt x="109858" y="9947"/>
                </a:quadBezTo>
                <a:quadBezTo>
                  <a:pt x="109039" y="12829"/>
                  <a:pt x="106342" y="14134"/>
                </a:quadBezTo>
                <a:lnTo>
                  <a:pt x="11092" y="63664"/>
                </a:lnTo>
                <a:quadBezTo>
                  <a:pt x="8475" y="65122"/>
                  <a:pt x="5645" y="64138"/>
                </a:quadBezTo>
                <a:quadBezTo>
                  <a:pt x="2763" y="63319"/>
                  <a:pt x="1458" y="60622"/>
                </a:quadBezTo>
                <a:quadBezTo>
                  <a:pt x="0" y="58005"/>
                  <a:pt x="984" y="55175"/>
                </a:quadBezTo>
                <a:quadBezTo>
                  <a:pt x="1804" y="52293"/>
                  <a:pt x="4500" y="50988"/>
                </a:quadBezTo>
                <a:close/>
                <a:moveTo>
                  <a:pt x="11092" y="81468"/>
                </a:moveTo>
                <a:lnTo>
                  <a:pt x="106342" y="130998"/>
                </a:lnTo>
                <a:quadBezTo>
                  <a:pt x="109039" y="132303"/>
                  <a:pt x="109858" y="135185"/>
                </a:quadBezTo>
                <a:quadBezTo>
                  <a:pt x="110842" y="138015"/>
                  <a:pt x="109384" y="140632"/>
                </a:quadBezTo>
                <a:quadBezTo>
                  <a:pt x="108079" y="143329"/>
                  <a:pt x="105197" y="144148"/>
                </a:quadBezTo>
                <a:quadBezTo>
                  <a:pt x="102368" y="145132"/>
                  <a:pt x="99750" y="143674"/>
                </a:quadBezTo>
                <a:lnTo>
                  <a:pt x="4500" y="94144"/>
                </a:lnTo>
                <a:quadBezTo>
                  <a:pt x="1804" y="92839"/>
                  <a:pt x="984" y="89957"/>
                </a:quadBezTo>
                <a:quadBezTo>
                  <a:pt x="0" y="87128"/>
                  <a:pt x="1458" y="84510"/>
                </a:quadBezTo>
                <a:quadBezTo>
                  <a:pt x="2763" y="81814"/>
                  <a:pt x="5645" y="80994"/>
                </a:quadBezTo>
                <a:quadBezTo>
                  <a:pt x="8475" y="80010"/>
                  <a:pt x="11092" y="81468"/>
                </a:quad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314450" y="771525"/>
            <a:ext cx="104270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DSH 知识库插件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314450" y="1009650"/>
            <a:ext cx="13137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zvec · 嵌入式向量知识库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3030200" y="895350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6B7484"/>
                </a:solidFill>
                <a:latin typeface="JetBrains Mono"/>
                <a:ea typeface="JetBrains Mono"/>
                <a:cs typeface="JetBrains Mono"/>
              </a:rPr>
              <a:t>DESIGN SYSTEM  v1.0.0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762000" y="2400300"/>
            <a:ext cx="1554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DESIGN SYSTEM · 设计系统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762000" y="2762250"/>
            <a:ext cx="3803104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50"/>
              </a:lnSpc>
            </a:pPr>
            <a:r>
              <a:rPr lang="zh-CN" sz="40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zvec 知识库插件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762000" y="3429000"/>
            <a:ext cx="20574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50"/>
              </a:lnSpc>
            </a:pPr>
            <a:r>
              <a:rPr lang="zh-CN" sz="4050">
                <a:solidFill>
                  <a:srgbClr val="4F5BD5"/>
                </a:solidFill>
                <a:latin typeface="Noto Sans SC Bold"/>
                <a:ea typeface="Noto Sans SC Bold"/>
                <a:cs typeface="Noto Sans SC Bold"/>
              </a:rPr>
              <a:t>设计系统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762000" y="4343400"/>
            <a:ext cx="7714031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250"/>
              </a:lnSpc>
            </a:pPr>
            <a:r>
              <a:rPr lang="zh-CN" sz="12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面向 DeepSeek Harness 的本地知识库插件设计系统。基于 zvec 进程内向量数据库构建，覆盖知识库创建、文档上传、索引构建、知识检索工具与 RAG 问答的完整链路，为插件 UI 提供统一的视觉语言、设计令牌与组件规范。</a:t>
            </a:r>
          </a:p>
        </p:txBody>
      </p:sp>
      <p:sp>
        <p:nvSpPr>
          <p:cNvPr id="17" name="Rectangle"/>
          <p:cNvSpPr/>
          <p:nvPr/>
        </p:nvSpPr>
        <p:spPr>
          <a:xfrm>
            <a:off x="762000" y="5334000"/>
            <a:ext cx="1114425" cy="34290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14400" y="5448300"/>
            <a:ext cx="114300" cy="114300"/>
          </a:xfrm>
          <a:prstGeom prst="roundRect">
            <a:avLst>
              <a:gd name="adj" fmla="val 26666"/>
            </a:avLst>
          </a:prstGeom>
          <a:noFill/>
          <a:ln w="13335">
            <a:solidFill>
              <a:srgbClr val="4F5BD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Path"/>
          <p:cNvSpPr/>
          <p:nvPr/>
        </p:nvSpPr>
        <p:spPr>
          <a:xfrm>
            <a:off x="940037" y="5473937"/>
            <a:ext cx="63026" cy="63026"/>
          </a:xfrm>
          <a:custGeom>
            <a:avLst/>
            <a:gdLst/>
            <a:ahLst/>
            <a:cxnLst/>
            <a:rect l="0" t="0" r="r" b="b"/>
            <a:pathLst>
              <a:path w="63026" h="63026">
                <a:moveTo>
                  <a:pt x="38180" y="6748"/>
                </a:moveTo>
                <a:lnTo>
                  <a:pt x="38180" y="24845"/>
                </a:lnTo>
                <a:lnTo>
                  <a:pt x="56278" y="24845"/>
                </a:lnTo>
                <a:quadBezTo>
                  <a:pt x="59073" y="24765"/>
                  <a:pt x="60993" y="26798"/>
                </a:quadBezTo>
                <a:quadBezTo>
                  <a:pt x="63026" y="28718"/>
                  <a:pt x="62945" y="31513"/>
                </a:quadBezTo>
                <a:quadBezTo>
                  <a:pt x="63026" y="34308"/>
                  <a:pt x="60993" y="36228"/>
                </a:quadBezTo>
                <a:quadBezTo>
                  <a:pt x="59073" y="38261"/>
                  <a:pt x="56278" y="38180"/>
                </a:quadBezTo>
                <a:lnTo>
                  <a:pt x="38180" y="38180"/>
                </a:lnTo>
                <a:lnTo>
                  <a:pt x="38180" y="56278"/>
                </a:lnTo>
                <a:quadBezTo>
                  <a:pt x="38261" y="59073"/>
                  <a:pt x="36228" y="60993"/>
                </a:quadBezTo>
                <a:quadBezTo>
                  <a:pt x="34308" y="63026"/>
                  <a:pt x="31513" y="62945"/>
                </a:quadBezTo>
                <a:quadBezTo>
                  <a:pt x="28718" y="63026"/>
                  <a:pt x="26798" y="60993"/>
                </a:quadBezTo>
                <a:quadBezTo>
                  <a:pt x="24765" y="59073"/>
                  <a:pt x="24845" y="56278"/>
                </a:quadBezTo>
                <a:lnTo>
                  <a:pt x="24845" y="38180"/>
                </a:lnTo>
                <a:lnTo>
                  <a:pt x="6748" y="38180"/>
                </a:lnTo>
                <a:quadBezTo>
                  <a:pt x="3953" y="38261"/>
                  <a:pt x="2033" y="36228"/>
                </a:quadBezTo>
                <a:quadBezTo>
                  <a:pt x="0" y="34308"/>
                  <a:pt x="80" y="31513"/>
                </a:quadBezTo>
                <a:quadBezTo>
                  <a:pt x="0" y="28718"/>
                  <a:pt x="2033" y="26798"/>
                </a:quadBezTo>
                <a:quadBezTo>
                  <a:pt x="3953" y="24765"/>
                  <a:pt x="6748" y="24845"/>
                </a:quadBezTo>
                <a:lnTo>
                  <a:pt x="24845" y="24845"/>
                </a:lnTo>
                <a:lnTo>
                  <a:pt x="24845" y="6748"/>
                </a:lnTo>
                <a:quadBezTo>
                  <a:pt x="24765" y="3953"/>
                  <a:pt x="26798" y="2033"/>
                </a:quadBezTo>
                <a:quadBezTo>
                  <a:pt x="28718" y="0"/>
                  <a:pt x="31513" y="80"/>
                </a:quadBezTo>
                <a:quadBezTo>
                  <a:pt x="34308" y="0"/>
                  <a:pt x="36228" y="2033"/>
                </a:quadBezTo>
                <a:quadBezTo>
                  <a:pt x="38261" y="3953"/>
                  <a:pt x="38180" y="6748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123950" y="54197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创建知识库</a:t>
            </a:r>
          </a:p>
        </p:txBody>
      </p:sp>
      <p:sp>
        <p:nvSpPr>
          <p:cNvPr id="21" name="Rectangle"/>
          <p:cNvSpPr/>
          <p:nvPr/>
        </p:nvSpPr>
        <p:spPr>
          <a:xfrm>
            <a:off x="766763" y="5338763"/>
            <a:ext cx="1104900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971675" y="5334000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2147807" y="5452982"/>
            <a:ext cx="66836" cy="83981"/>
          </a:xfrm>
          <a:custGeom>
            <a:avLst/>
            <a:gdLst/>
            <a:ahLst/>
            <a:cxnLst/>
            <a:rect l="0" t="0" r="r" b="b"/>
            <a:pathLst>
              <a:path w="66836" h="83981">
                <a:moveTo>
                  <a:pt x="28703" y="2033"/>
                </a:moveTo>
                <a:quadBezTo>
                  <a:pt x="30623" y="0"/>
                  <a:pt x="33418" y="80"/>
                </a:quadBezTo>
                <a:quadBezTo>
                  <a:pt x="36213" y="0"/>
                  <a:pt x="38133" y="2033"/>
                </a:quadBezTo>
                <a:lnTo>
                  <a:pt x="64803" y="28703"/>
                </a:lnTo>
                <a:quadBezTo>
                  <a:pt x="66836" y="30623"/>
                  <a:pt x="66755" y="33418"/>
                </a:quadBezTo>
                <a:quadBezTo>
                  <a:pt x="66836" y="36213"/>
                  <a:pt x="64803" y="38133"/>
                </a:quadBezTo>
                <a:quadBezTo>
                  <a:pt x="62883" y="40166"/>
                  <a:pt x="60088" y="40085"/>
                </a:quadBezTo>
                <a:quadBezTo>
                  <a:pt x="57293" y="40166"/>
                  <a:pt x="55373" y="38133"/>
                </a:quadBezTo>
                <a:lnTo>
                  <a:pt x="40085" y="22845"/>
                </a:lnTo>
                <a:lnTo>
                  <a:pt x="40085" y="77233"/>
                </a:lnTo>
                <a:quadBezTo>
                  <a:pt x="40166" y="80028"/>
                  <a:pt x="38133" y="81948"/>
                </a:quadBezTo>
                <a:quadBezTo>
                  <a:pt x="36213" y="83981"/>
                  <a:pt x="33418" y="83900"/>
                </a:quadBezTo>
                <a:quadBezTo>
                  <a:pt x="30623" y="83981"/>
                  <a:pt x="28703" y="81948"/>
                </a:quadBezTo>
                <a:quadBezTo>
                  <a:pt x="26670" y="80028"/>
                  <a:pt x="26750" y="77233"/>
                </a:quadBezTo>
                <a:lnTo>
                  <a:pt x="26750" y="22845"/>
                </a:lnTo>
                <a:lnTo>
                  <a:pt x="11463" y="38133"/>
                </a:lnTo>
                <a:quadBezTo>
                  <a:pt x="9543" y="40166"/>
                  <a:pt x="6748" y="40085"/>
                </a:quadBezTo>
                <a:quadBezTo>
                  <a:pt x="3953" y="40166"/>
                  <a:pt x="2033" y="38133"/>
                </a:quadBezTo>
                <a:quadBezTo>
                  <a:pt x="0" y="36213"/>
                  <a:pt x="80" y="33418"/>
                </a:quadBezTo>
                <a:quadBezTo>
                  <a:pt x="0" y="30623"/>
                  <a:pt x="2033" y="28703"/>
                </a:quadBezTo>
                <a:lnTo>
                  <a:pt x="28703" y="203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2124947" y="5521562"/>
            <a:ext cx="112556" cy="41990"/>
          </a:xfrm>
          <a:custGeom>
            <a:avLst/>
            <a:gdLst/>
            <a:ahLst/>
            <a:cxnLst/>
            <a:rect l="0" t="0" r="r" b="b"/>
            <a:pathLst>
              <a:path w="112556" h="41990">
                <a:moveTo>
                  <a:pt x="13415" y="6748"/>
                </a:moveTo>
                <a:lnTo>
                  <a:pt x="13415" y="23893"/>
                </a:lnTo>
                <a:quadBezTo>
                  <a:pt x="13415" y="25825"/>
                  <a:pt x="14885" y="27139"/>
                </a:quadBezTo>
                <a:quadBezTo>
                  <a:pt x="16579" y="28655"/>
                  <a:pt x="19130" y="28655"/>
                </a:quadBezTo>
                <a:lnTo>
                  <a:pt x="93425" y="28655"/>
                </a:lnTo>
                <a:quadBezTo>
                  <a:pt x="95977" y="28655"/>
                  <a:pt x="97671" y="27139"/>
                </a:quadBezTo>
                <a:quadBezTo>
                  <a:pt x="99140" y="25825"/>
                  <a:pt x="99140" y="23893"/>
                </a:quadBezTo>
                <a:lnTo>
                  <a:pt x="99140" y="6748"/>
                </a:lnTo>
                <a:quadBezTo>
                  <a:pt x="99060" y="3953"/>
                  <a:pt x="101093" y="2033"/>
                </a:quadBezTo>
                <a:quadBezTo>
                  <a:pt x="103013" y="0"/>
                  <a:pt x="105808" y="80"/>
                </a:quadBezTo>
                <a:quadBezTo>
                  <a:pt x="108603" y="0"/>
                  <a:pt x="110523" y="2033"/>
                </a:quadBezTo>
                <a:quadBezTo>
                  <a:pt x="112556" y="3953"/>
                  <a:pt x="112475" y="6748"/>
                </a:quadBezTo>
                <a:lnTo>
                  <a:pt x="112475" y="23893"/>
                </a:lnTo>
                <a:quadBezTo>
                  <a:pt x="112475" y="31787"/>
                  <a:pt x="106563" y="37077"/>
                </a:quadBezTo>
                <a:quadBezTo>
                  <a:pt x="101072" y="41990"/>
                  <a:pt x="93425" y="41990"/>
                </a:quadBezTo>
                <a:lnTo>
                  <a:pt x="19130" y="41990"/>
                </a:lnTo>
                <a:quadBezTo>
                  <a:pt x="11484" y="41990"/>
                  <a:pt x="5993" y="37077"/>
                </a:quadBezTo>
                <a:quadBezTo>
                  <a:pt x="80" y="31787"/>
                  <a:pt x="80" y="23893"/>
                </a:quadBezTo>
                <a:lnTo>
                  <a:pt x="80" y="6748"/>
                </a:ln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quadBezTo>
                  <a:pt x="13496" y="3953"/>
                  <a:pt x="13415" y="6748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2333625" y="54197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文档上传</a:t>
            </a:r>
          </a:p>
        </p:txBody>
      </p:sp>
      <p:sp>
        <p:nvSpPr>
          <p:cNvPr id="26" name="Rectangle"/>
          <p:cNvSpPr/>
          <p:nvPr/>
        </p:nvSpPr>
        <p:spPr>
          <a:xfrm>
            <a:off x="1976438" y="5338763"/>
            <a:ext cx="981075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3057525" y="5334000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3203167" y="5442099"/>
            <a:ext cx="127816" cy="71458"/>
          </a:xfrm>
          <a:custGeom>
            <a:avLst/>
            <a:gdLst/>
            <a:ahLst/>
            <a:cxnLst/>
            <a:rect l="0" t="0" r="r" b="b"/>
            <a:pathLst>
              <a:path w="127816" h="71458">
                <a:moveTo>
                  <a:pt x="123900" y="30228"/>
                </a:moveTo>
                <a:quadBezTo>
                  <a:pt x="124756" y="30669"/>
                  <a:pt x="125436" y="31351"/>
                </a:quadBezTo>
                <a:quadBezTo>
                  <a:pt x="126118" y="32031"/>
                  <a:pt x="126559" y="32887"/>
                </a:quadBezTo>
                <a:quadBezTo>
                  <a:pt x="127816" y="35158"/>
                  <a:pt x="126957" y="37609"/>
                </a:quadBezTo>
                <a:quadBezTo>
                  <a:pt x="126240" y="40104"/>
                  <a:pt x="123900" y="41229"/>
                </a:quadBezTo>
                <a:lnTo>
                  <a:pt x="66750" y="70757"/>
                </a:lnTo>
                <a:quadBezTo>
                  <a:pt x="65416" y="71458"/>
                  <a:pt x="63908" y="71448"/>
                </a:quadBezTo>
                <a:quadBezTo>
                  <a:pt x="62401" y="71458"/>
                  <a:pt x="61066" y="70757"/>
                </a:quadBezTo>
                <a:lnTo>
                  <a:pt x="3916" y="41229"/>
                </a:lnTo>
                <a:quadBezTo>
                  <a:pt x="3060" y="40789"/>
                  <a:pt x="2380" y="40107"/>
                </a:quadBezTo>
                <a:quadBezTo>
                  <a:pt x="1698" y="39427"/>
                  <a:pt x="1258" y="38571"/>
                </a:quadBezTo>
                <a:quadBezTo>
                  <a:pt x="0" y="36299"/>
                  <a:pt x="859" y="33849"/>
                </a:quadBezTo>
                <a:quadBezTo>
                  <a:pt x="1576" y="31353"/>
                  <a:pt x="3916" y="30228"/>
                </a:quadBezTo>
                <a:lnTo>
                  <a:pt x="61066" y="701"/>
                </a:lnTo>
                <a:quadBezTo>
                  <a:pt x="62401" y="0"/>
                  <a:pt x="63908" y="10"/>
                </a:quadBezTo>
                <a:quadBezTo>
                  <a:pt x="65416" y="0"/>
                  <a:pt x="66750" y="701"/>
                </a:quadBezTo>
                <a:lnTo>
                  <a:pt x="123900" y="30228"/>
                </a:lnTo>
                <a:close/>
                <a:moveTo>
                  <a:pt x="63908" y="13170"/>
                </a:moveTo>
                <a:lnTo>
                  <a:pt x="20246" y="35729"/>
                </a:lnTo>
                <a:lnTo>
                  <a:pt x="63908" y="58288"/>
                </a:lnTo>
                <a:lnTo>
                  <a:pt x="107570" y="35729"/>
                </a:lnTo>
                <a:lnTo>
                  <a:pt x="63908" y="1317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"/>
          <p:cNvSpPr/>
          <p:nvPr/>
        </p:nvSpPr>
        <p:spPr>
          <a:xfrm>
            <a:off x="3207083" y="5504712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3207083" y="5533287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3419475" y="54197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索引构建</a:t>
            </a:r>
          </a:p>
        </p:txBody>
      </p:sp>
      <p:sp>
        <p:nvSpPr>
          <p:cNvPr id="32" name="Rectangle"/>
          <p:cNvSpPr/>
          <p:nvPr/>
        </p:nvSpPr>
        <p:spPr>
          <a:xfrm>
            <a:off x="3062288" y="5338763"/>
            <a:ext cx="981075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4143375" y="533400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Ellipse"/>
          <p:cNvSpPr/>
          <p:nvPr/>
        </p:nvSpPr>
        <p:spPr>
          <a:xfrm>
            <a:off x="4302443" y="5454968"/>
            <a:ext cx="85725" cy="85725"/>
          </a:xfrm>
          <a:prstGeom prst="ellipse">
            <a:avLst/>
          </a:prstGeom>
          <a:noFill/>
          <a:ln w="13335">
            <a:solidFill>
              <a:srgbClr val="4F5BD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Path"/>
          <p:cNvSpPr/>
          <p:nvPr/>
        </p:nvSpPr>
        <p:spPr>
          <a:xfrm>
            <a:off x="4370942" y="5523467"/>
            <a:ext cx="42071" cy="42071"/>
          </a:xfrm>
          <a:custGeom>
            <a:avLst/>
            <a:gdLst/>
            <a:ahLst/>
            <a:cxnLst/>
            <a:rect l="0" t="0" r="r" b="b"/>
            <a:pathLst>
              <a:path w="42071" h="42071">
                <a:moveTo>
                  <a:pt x="11463" y="2033"/>
                </a:moveTo>
                <a:lnTo>
                  <a:pt x="40038" y="30608"/>
                </a:lnTo>
                <a:quadBezTo>
                  <a:pt x="42071" y="32528"/>
                  <a:pt x="41990" y="35323"/>
                </a:quadBezTo>
                <a:quadBezTo>
                  <a:pt x="42071" y="38118"/>
                  <a:pt x="40038" y="40038"/>
                </a:quadBezTo>
                <a:quadBezTo>
                  <a:pt x="38118" y="42071"/>
                  <a:pt x="35323" y="41990"/>
                </a:quadBezTo>
                <a:quadBezTo>
                  <a:pt x="32528" y="42071"/>
                  <a:pt x="30608" y="40038"/>
                </a:quadBez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4505325" y="5419725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知识检索工具</a:t>
            </a:r>
          </a:p>
        </p:txBody>
      </p:sp>
      <p:sp>
        <p:nvSpPr>
          <p:cNvPr id="37" name="Rectangle"/>
          <p:cNvSpPr/>
          <p:nvPr/>
        </p:nvSpPr>
        <p:spPr>
          <a:xfrm>
            <a:off x="4148138" y="5338763"/>
            <a:ext cx="1228725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5476875" y="5334000"/>
            <a:ext cx="1019175" cy="371475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Path"/>
          <p:cNvSpPr/>
          <p:nvPr/>
        </p:nvSpPr>
        <p:spPr>
          <a:xfrm>
            <a:off x="5630629" y="5464969"/>
            <a:ext cx="115327" cy="121042"/>
          </a:xfrm>
          <a:custGeom>
            <a:avLst/>
            <a:gdLst/>
            <a:ahLst/>
            <a:cxnLst/>
            <a:rect l="0" t="0" r="r" b="b"/>
            <a:pathLst>
              <a:path w="115327" h="121042">
                <a:moveTo>
                  <a:pt x="90086" y="100013"/>
                </a:moveTo>
                <a:lnTo>
                  <a:pt x="40479" y="100013"/>
                </a:lnTo>
                <a:lnTo>
                  <a:pt x="9629" y="119974"/>
                </a:lnTo>
                <a:quadBezTo>
                  <a:pt x="8878" y="120462"/>
                  <a:pt x="8019" y="120714"/>
                </a:quadBezTo>
                <a:quadBezTo>
                  <a:pt x="7161" y="120969"/>
                  <a:pt x="6266" y="120967"/>
                </a:quadBezTo>
                <a:quadBezTo>
                  <a:pt x="3671" y="121042"/>
                  <a:pt x="1888" y="119154"/>
                </a:quadBezTo>
                <a:quadBezTo>
                  <a:pt x="0" y="117372"/>
                  <a:pt x="75" y="114776"/>
                </a:quadBezTo>
                <a:lnTo>
                  <a:pt x="75" y="25241"/>
                </a:lnTo>
                <a:quadBezTo>
                  <a:pt x="75" y="14819"/>
                  <a:pt x="7484" y="7409"/>
                </a:quadBezTo>
                <a:quadBezTo>
                  <a:pt x="14893" y="0"/>
                  <a:pt x="25316" y="0"/>
                </a:quadBezTo>
                <a:lnTo>
                  <a:pt x="90086" y="0"/>
                </a:lnTo>
                <a:quadBezTo>
                  <a:pt x="100509" y="0"/>
                  <a:pt x="107918" y="7409"/>
                </a:quadBezTo>
                <a:quadBezTo>
                  <a:pt x="115327" y="14819"/>
                  <a:pt x="115327" y="25241"/>
                </a:quadBezTo>
                <a:lnTo>
                  <a:pt x="115327" y="74771"/>
                </a:lnTo>
                <a:quadBezTo>
                  <a:pt x="115327" y="85194"/>
                  <a:pt x="107918" y="92603"/>
                </a:quadBezTo>
                <a:quadBezTo>
                  <a:pt x="100509" y="100012"/>
                  <a:pt x="90086" y="100013"/>
                </a:quadBezTo>
                <a:close/>
                <a:moveTo>
                  <a:pt x="90086" y="87630"/>
                </a:moveTo>
                <a:quadBezTo>
                  <a:pt x="95380" y="87630"/>
                  <a:pt x="99162" y="83847"/>
                </a:quadBezTo>
                <a:quadBezTo>
                  <a:pt x="102945" y="80065"/>
                  <a:pt x="102945" y="74771"/>
                </a:quadBezTo>
                <a:lnTo>
                  <a:pt x="102945" y="25241"/>
                </a:lnTo>
                <a:quadBezTo>
                  <a:pt x="102945" y="19948"/>
                  <a:pt x="99162" y="16165"/>
                </a:quadBezTo>
                <a:quadBezTo>
                  <a:pt x="95380" y="12382"/>
                  <a:pt x="90086" y="12382"/>
                </a:quadBezTo>
                <a:lnTo>
                  <a:pt x="25316" y="12382"/>
                </a:lnTo>
                <a:quadBezTo>
                  <a:pt x="20022" y="12382"/>
                  <a:pt x="16240" y="16165"/>
                </a:quadBezTo>
                <a:quadBezTo>
                  <a:pt x="12457" y="19948"/>
                  <a:pt x="12457" y="25241"/>
                </a:quadBezTo>
                <a:lnTo>
                  <a:pt x="12457" y="103396"/>
                </a:lnTo>
                <a:lnTo>
                  <a:pt x="35288" y="88623"/>
                </a:lnTo>
                <a:quadBezTo>
                  <a:pt x="36038" y="88136"/>
                  <a:pt x="36897" y="87884"/>
                </a:quadBezTo>
                <a:quadBezTo>
                  <a:pt x="37756" y="87629"/>
                  <a:pt x="38651" y="87630"/>
                </a:quadBezTo>
                <a:lnTo>
                  <a:pt x="90086" y="8763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5838825" y="5429250"/>
            <a:ext cx="51746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RAG 问答</a:t>
            </a:r>
          </a:p>
        </p:txBody>
      </p:sp>
      <p:sp>
        <p:nvSpPr>
          <p:cNvPr id="41" name="Rectangle"/>
          <p:cNvSpPr/>
          <p:nvPr/>
        </p:nvSpPr>
        <p:spPr>
          <a:xfrm>
            <a:off x="5481638" y="5338763"/>
            <a:ext cx="1009650" cy="3619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762000" y="6391275"/>
            <a:ext cx="13716000" cy="9525"/>
          </a:xfrm>
          <a:prstGeom prst="rect">
            <a:avLst/>
          </a:prstGeom>
          <a:solidFill>
            <a:srgbClr val="E1E5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762000" y="6667500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DESIGN TOKENS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762000" y="6848475"/>
            <a:ext cx="85157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51 项设计令牌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2228850" y="666750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COMPONENTS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2228850" y="6848475"/>
            <a:ext cx="85157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24 个基础组件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3695700" y="6667500"/>
            <a:ext cx="44005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MODULES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3695700" y="6848475"/>
            <a:ext cx="9075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8 个知识库模块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5219700" y="6667500"/>
            <a:ext cx="37719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THEMES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5219700" y="6848475"/>
            <a:ext cx="64554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浅色 / 深色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762000" y="76676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981075" y="76485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色彩系统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1857375" y="76676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2076450" y="764857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字体与尺度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3076575" y="76676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3295650" y="76485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基础组件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4171950" y="76676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4391025" y="76485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业务组件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5267325" y="76676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5486400" y="76485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应用界面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3954125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5316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01 / FOUNDATIONS · 色彩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色彩系统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831530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以靛蓝 Indigo 为唯一品牌主色，承担主操作、选中态与焦点态；青绿 Teal 只在「就绪 / 已完成」时出现，琥珀 Amber 表示「构建中」，玫红 Rose 表示「失败」。中性色承担界面骨架，通过边框与层级差而非重投影建立深度。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2573000" y="1733550"/>
            <a:ext cx="20573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22 COLOR TOKENS · LIGHT + DARK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2190750"/>
            <a:ext cx="14020800" cy="3562350"/>
          </a:xfrm>
          <a:prstGeom prst="roundRect">
            <a:avLst>
              <a:gd name="adj" fmla="val 320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876300" y="2457450"/>
            <a:ext cx="14510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品牌主色阶 · Indigo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76300" y="2733675"/>
            <a:ext cx="561509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brand-500 #4F5BD5 为基准色。浅阶用于选中背景与信息底纹，深阶用于悬停、按下与深色主题承载。</a:t>
            </a:r>
          </a:p>
        </p:txBody>
      </p:sp>
      <p:sp>
        <p:nvSpPr>
          <p:cNvPr id="10" name="Rectangle"/>
          <p:cNvSpPr/>
          <p:nvPr/>
        </p:nvSpPr>
        <p:spPr>
          <a:xfrm>
            <a:off x="8763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EEF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971550" y="3733800"/>
            <a:ext cx="5029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brand-50</a:t>
            </a:r>
          </a:p>
        </p:txBody>
      </p:sp>
      <p:sp>
        <p:nvSpPr>
          <p:cNvPr id="12" name="Rectangle"/>
          <p:cNvSpPr/>
          <p:nvPr/>
        </p:nvSpPr>
        <p:spPr>
          <a:xfrm>
            <a:off x="881063" y="3138488"/>
            <a:ext cx="1552575" cy="828675"/>
          </a:xfrm>
          <a:prstGeom prst="roundRect">
            <a:avLst>
              <a:gd name="adj" fmla="val 1091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25527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E0E3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26479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brand-100</a:t>
            </a:r>
          </a:p>
        </p:txBody>
      </p:sp>
      <p:sp>
        <p:nvSpPr>
          <p:cNvPr id="15" name="Rectangle"/>
          <p:cNvSpPr/>
          <p:nvPr/>
        </p:nvSpPr>
        <p:spPr>
          <a:xfrm>
            <a:off x="42291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C7CB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43243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343BA0"/>
                </a:solidFill>
                <a:latin typeface="JetBrains Mono"/>
                <a:ea typeface="JetBrains Mono"/>
                <a:cs typeface="JetBrains Mono"/>
              </a:rPr>
              <a:t>brand-200</a:t>
            </a:r>
          </a:p>
        </p:txBody>
      </p:sp>
      <p:sp>
        <p:nvSpPr>
          <p:cNvPr id="17" name="Rectangle"/>
          <p:cNvSpPr/>
          <p:nvPr/>
        </p:nvSpPr>
        <p:spPr>
          <a:xfrm>
            <a:off x="59055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A6AC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60007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2A2F6E"/>
                </a:solidFill>
                <a:latin typeface="JetBrains Mono"/>
                <a:ea typeface="JetBrains Mono"/>
                <a:cs typeface="JetBrains Mono"/>
              </a:rPr>
              <a:t>brand-300</a:t>
            </a:r>
          </a:p>
        </p:txBody>
      </p:sp>
      <p:sp>
        <p:nvSpPr>
          <p:cNvPr id="19" name="Rectangle"/>
          <p:cNvSpPr/>
          <p:nvPr/>
        </p:nvSpPr>
        <p:spPr>
          <a:xfrm>
            <a:off x="75819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7A84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76771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brand-400</a:t>
            </a:r>
          </a:p>
        </p:txBody>
      </p:sp>
      <p:sp>
        <p:nvSpPr>
          <p:cNvPr id="21" name="Rectangle"/>
          <p:cNvSpPr/>
          <p:nvPr/>
        </p:nvSpPr>
        <p:spPr>
          <a:xfrm>
            <a:off x="92583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9353550" y="3733800"/>
            <a:ext cx="9639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brand-500 · 主色</a:t>
            </a:r>
          </a:p>
        </p:txBody>
      </p:sp>
      <p:sp>
        <p:nvSpPr>
          <p:cNvPr id="23" name="Rectangle"/>
          <p:cNvSpPr/>
          <p:nvPr/>
        </p:nvSpPr>
        <p:spPr>
          <a:xfrm>
            <a:off x="109347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4149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10299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brand-600</a:t>
            </a:r>
          </a:p>
        </p:txBody>
      </p:sp>
      <p:sp>
        <p:nvSpPr>
          <p:cNvPr id="25" name="Rectangle"/>
          <p:cNvSpPr/>
          <p:nvPr/>
        </p:nvSpPr>
        <p:spPr>
          <a:xfrm>
            <a:off x="12611100" y="313372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343B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2706350" y="373380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brand-700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76300" y="4162425"/>
            <a:ext cx="15569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深色主题映射 · Dark Mode</a:t>
            </a:r>
          </a:p>
        </p:txBody>
      </p:sp>
      <p:sp>
        <p:nvSpPr>
          <p:cNvPr id="28" name="Rectangle"/>
          <p:cNvSpPr/>
          <p:nvPr/>
        </p:nvSpPr>
        <p:spPr>
          <a:xfrm>
            <a:off x="876300" y="4533900"/>
            <a:ext cx="13487400" cy="952500"/>
          </a:xfrm>
          <a:prstGeom prst="roundRect">
            <a:avLst>
              <a:gd name="adj" fmla="val 10000"/>
            </a:avLst>
          </a:prstGeom>
          <a:solidFill>
            <a:srgbClr val="13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028700" y="4686300"/>
            <a:ext cx="3209925" cy="647700"/>
          </a:xfrm>
          <a:prstGeom prst="roundRect">
            <a:avLst>
              <a:gd name="adj" fmla="val 11764"/>
            </a:avLst>
          </a:prstGeom>
          <a:solidFill>
            <a:srgbClr val="1619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23950" y="5114925"/>
            <a:ext cx="5715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bg-surface</a:t>
            </a:r>
          </a:p>
        </p:txBody>
      </p:sp>
      <p:sp>
        <p:nvSpPr>
          <p:cNvPr id="31" name="Rectangle"/>
          <p:cNvSpPr/>
          <p:nvPr/>
        </p:nvSpPr>
        <p:spPr>
          <a:xfrm>
            <a:off x="1033463" y="4691063"/>
            <a:ext cx="3200400" cy="638175"/>
          </a:xfrm>
          <a:prstGeom prst="roundRect">
            <a:avLst>
              <a:gd name="adj" fmla="val 11194"/>
            </a:avLst>
          </a:prstGeom>
          <a:noFill/>
          <a:ln w="9525">
            <a:solidFill>
              <a:srgbClr val="262B3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4352925" y="4686300"/>
            <a:ext cx="3209925" cy="647700"/>
          </a:xfrm>
          <a:prstGeom prst="roundRect">
            <a:avLst>
              <a:gd name="adj" fmla="val 11764"/>
            </a:avLst>
          </a:prstGeom>
          <a:solidFill>
            <a:srgbClr val="6F7B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4448175" y="5114925"/>
            <a:ext cx="7620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brand-500 提亮</a:t>
            </a:r>
          </a:p>
        </p:txBody>
      </p:sp>
      <p:sp>
        <p:nvSpPr>
          <p:cNvPr id="34" name="Rectangle"/>
          <p:cNvSpPr/>
          <p:nvPr/>
        </p:nvSpPr>
        <p:spPr>
          <a:xfrm>
            <a:off x="7677150" y="4686300"/>
            <a:ext cx="3209925" cy="647700"/>
          </a:xfrm>
          <a:prstGeom prst="roundRect">
            <a:avLst>
              <a:gd name="adj" fmla="val 11764"/>
            </a:avLst>
          </a:prstGeom>
          <a:solidFill>
            <a:srgbClr val="1E21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7772400" y="5114925"/>
            <a:ext cx="5715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8B95EE"/>
                </a:solidFill>
                <a:latin typeface="JetBrains Mono"/>
                <a:ea typeface="JetBrains Mono"/>
                <a:cs typeface="JetBrains Mono"/>
              </a:rPr>
              <a:t>brand-tint</a:t>
            </a:r>
          </a:p>
        </p:txBody>
      </p:sp>
      <p:sp>
        <p:nvSpPr>
          <p:cNvPr id="36" name="Rectangle"/>
          <p:cNvSpPr/>
          <p:nvPr/>
        </p:nvSpPr>
        <p:spPr>
          <a:xfrm>
            <a:off x="7681913" y="4691063"/>
            <a:ext cx="3200400" cy="638175"/>
          </a:xfrm>
          <a:prstGeom prst="roundRect">
            <a:avLst>
              <a:gd name="adj" fmla="val 11194"/>
            </a:avLst>
          </a:prstGeom>
          <a:noFill/>
          <a:ln w="9525">
            <a:solidFill>
              <a:srgbClr val="33396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11001375" y="4686300"/>
            <a:ext cx="3209925" cy="647700"/>
          </a:xfrm>
          <a:prstGeom prst="roundRect">
            <a:avLst>
              <a:gd name="adj" fmla="val 11764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1096625" y="511492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text-primary</a:t>
            </a:r>
          </a:p>
        </p:txBody>
      </p:sp>
      <p:sp>
        <p:nvSpPr>
          <p:cNvPr id="39" name="Rectangle"/>
          <p:cNvSpPr/>
          <p:nvPr/>
        </p:nvSpPr>
        <p:spPr>
          <a:xfrm>
            <a:off x="614363" y="2195513"/>
            <a:ext cx="14011275" cy="3552825"/>
          </a:xfrm>
          <a:prstGeom prst="roundRect">
            <a:avLst>
              <a:gd name="adj" fmla="val 3083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609600" y="5943600"/>
            <a:ext cx="14020800" cy="2047875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876300" y="6210300"/>
            <a:ext cx="1384097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中性色阶 · Neutral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876300" y="6486525"/>
            <a:ext cx="7650157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neutral-50 为应用底色，neutral-0 为卡片承载面；分割线只用 neutral-200，弱化装饰性描边。文字三级：primary / secondary / tertiary。</a:t>
            </a:r>
          </a:p>
        </p:txBody>
      </p:sp>
      <p:sp>
        <p:nvSpPr>
          <p:cNvPr id="43" name="Rectangle"/>
          <p:cNvSpPr/>
          <p:nvPr/>
        </p:nvSpPr>
        <p:spPr>
          <a:xfrm>
            <a:off x="8763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971550" y="7486650"/>
            <a:ext cx="5657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neutral-0</a:t>
            </a:r>
          </a:p>
        </p:txBody>
      </p:sp>
      <p:sp>
        <p:nvSpPr>
          <p:cNvPr id="45" name="Rectangle"/>
          <p:cNvSpPr/>
          <p:nvPr/>
        </p:nvSpPr>
        <p:spPr>
          <a:xfrm>
            <a:off x="881063" y="6891338"/>
            <a:ext cx="1552575" cy="828675"/>
          </a:xfrm>
          <a:prstGeom prst="roundRect">
            <a:avLst>
              <a:gd name="adj" fmla="val 1091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25527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2647950" y="748665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neutral-25</a:t>
            </a:r>
          </a:p>
        </p:txBody>
      </p:sp>
      <p:sp>
        <p:nvSpPr>
          <p:cNvPr id="48" name="Rectangle"/>
          <p:cNvSpPr/>
          <p:nvPr/>
        </p:nvSpPr>
        <p:spPr>
          <a:xfrm>
            <a:off x="2557463" y="6891338"/>
            <a:ext cx="1552575" cy="828675"/>
          </a:xfrm>
          <a:prstGeom prst="roundRect">
            <a:avLst>
              <a:gd name="adj" fmla="val 1091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"/>
          <p:cNvSpPr/>
          <p:nvPr/>
        </p:nvSpPr>
        <p:spPr>
          <a:xfrm>
            <a:off x="42291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4324350" y="7505700"/>
            <a:ext cx="10287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B7484"/>
                </a:solidFill>
                <a:latin typeface="JetBrains Mono"/>
                <a:ea typeface="JetBrains Mono"/>
                <a:cs typeface="JetBrains Mono"/>
              </a:rPr>
              <a:t>neutral-50 · 应用底</a:t>
            </a:r>
          </a:p>
        </p:txBody>
      </p:sp>
      <p:sp>
        <p:nvSpPr>
          <p:cNvPr id="51" name="Rectangle"/>
          <p:cNvSpPr/>
          <p:nvPr/>
        </p:nvSpPr>
        <p:spPr>
          <a:xfrm>
            <a:off x="59055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6000750" y="7486650"/>
            <a:ext cx="691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B7484"/>
                </a:solidFill>
                <a:latin typeface="JetBrains Mono"/>
                <a:ea typeface="JetBrains Mono"/>
                <a:cs typeface="JetBrains Mono"/>
              </a:rPr>
              <a:t>neutral-100</a:t>
            </a:r>
          </a:p>
        </p:txBody>
      </p:sp>
      <p:sp>
        <p:nvSpPr>
          <p:cNvPr id="53" name="Rectangle"/>
          <p:cNvSpPr/>
          <p:nvPr/>
        </p:nvSpPr>
        <p:spPr>
          <a:xfrm>
            <a:off x="75819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E1E5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7677150" y="7505700"/>
            <a:ext cx="9906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6B7484"/>
                </a:solidFill>
                <a:latin typeface="JetBrains Mono"/>
                <a:ea typeface="JetBrains Mono"/>
                <a:cs typeface="JetBrains Mono"/>
              </a:rPr>
              <a:t>neutral-200 · 描边</a:t>
            </a:r>
          </a:p>
        </p:txBody>
      </p:sp>
      <p:sp>
        <p:nvSpPr>
          <p:cNvPr id="55" name="Rectangle"/>
          <p:cNvSpPr/>
          <p:nvPr/>
        </p:nvSpPr>
        <p:spPr>
          <a:xfrm>
            <a:off x="92583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CBD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9353550" y="7486650"/>
            <a:ext cx="691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3A424E"/>
                </a:solidFill>
                <a:latin typeface="JetBrains Mono"/>
                <a:ea typeface="JetBrains Mono"/>
                <a:cs typeface="JetBrains Mono"/>
              </a:rPr>
              <a:t>neutral-300</a:t>
            </a:r>
          </a:p>
        </p:txBody>
      </p:sp>
      <p:sp>
        <p:nvSpPr>
          <p:cNvPr id="57" name="Rectangle"/>
          <p:cNvSpPr/>
          <p:nvPr/>
        </p:nvSpPr>
        <p:spPr>
          <a:xfrm>
            <a:off x="109347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11029950" y="7505700"/>
            <a:ext cx="10858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neutral-500 · 次级字</a:t>
            </a:r>
          </a:p>
        </p:txBody>
      </p:sp>
      <p:sp>
        <p:nvSpPr>
          <p:cNvPr id="59" name="Rectangle"/>
          <p:cNvSpPr/>
          <p:nvPr/>
        </p:nvSpPr>
        <p:spPr>
          <a:xfrm>
            <a:off x="12611100" y="6886575"/>
            <a:ext cx="1562100" cy="838200"/>
          </a:xfrm>
          <a:prstGeom prst="roundRect">
            <a:avLst>
              <a:gd name="adj" fmla="val 11363"/>
            </a:avLst>
          </a:prstGeom>
          <a:solidFill>
            <a:srgbClr val="13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12706350" y="7505700"/>
            <a:ext cx="9906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neutral-900 · 正文</a:t>
            </a:r>
          </a:p>
        </p:txBody>
      </p:sp>
      <p:sp>
        <p:nvSpPr>
          <p:cNvPr id="61" name="Rectangle"/>
          <p:cNvSpPr/>
          <p:nvPr/>
        </p:nvSpPr>
        <p:spPr>
          <a:xfrm>
            <a:off x="614363" y="5948363"/>
            <a:ext cx="14011275" cy="2038350"/>
          </a:xfrm>
          <a:prstGeom prst="roundRect">
            <a:avLst>
              <a:gd name="adj" fmla="val 5373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609600" y="8181975"/>
            <a:ext cx="6915150" cy="5162550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876300" y="8448675"/>
            <a:ext cx="1681734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语义状态色 · Semantic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876300" y="8724900"/>
            <a:ext cx="5201021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知识库与文档的生命周期状态。每个状态固定搭配「实色点 + 底纹」组合，禁止仅靠颜色区分。</a:t>
            </a:r>
          </a:p>
        </p:txBody>
      </p:sp>
      <p:sp>
        <p:nvSpPr>
          <p:cNvPr id="65" name="Rectangle"/>
          <p:cNvSpPr/>
          <p:nvPr/>
        </p:nvSpPr>
        <p:spPr>
          <a:xfrm>
            <a:off x="876300" y="9124950"/>
            <a:ext cx="6381750" cy="714375"/>
          </a:xfrm>
          <a:prstGeom prst="roundRect">
            <a:avLst>
              <a:gd name="adj" fmla="val 13333"/>
            </a:avLst>
          </a:prstGeom>
          <a:solidFill>
            <a:srgbClr val="E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1009650" y="9305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1181100" y="9258300"/>
            <a:ext cx="76660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就绪 · ready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1009650" y="9515475"/>
            <a:ext cx="289853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B7484"/>
                </a:solidFill>
                <a:latin typeface="Noto Sans SC"/>
                <a:ea typeface="Noto Sans SC"/>
                <a:cs typeface="Noto Sans SC"/>
              </a:rPr>
              <a:t>索引构建完成，可被知识检索工具命中并参与 RAG 生成。</a:t>
            </a:r>
          </a:p>
        </p:txBody>
      </p:sp>
      <p:sp>
        <p:nvSpPr>
          <p:cNvPr id="69" name="Rectangle"/>
          <p:cNvSpPr/>
          <p:nvPr/>
        </p:nvSpPr>
        <p:spPr>
          <a:xfrm>
            <a:off x="881063" y="9129713"/>
            <a:ext cx="6372225" cy="704850"/>
          </a:xfrm>
          <a:prstGeom prst="roundRect">
            <a:avLst>
              <a:gd name="adj" fmla="val 12837"/>
            </a:avLst>
          </a:prstGeom>
          <a:noFill/>
          <a:ln w="9525">
            <a:solidFill>
              <a:srgbClr val="B7E2D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876300" y="9934575"/>
            <a:ext cx="6381750" cy="714375"/>
          </a:xfrm>
          <a:prstGeom prst="roundRect">
            <a:avLst>
              <a:gd name="adj" fmla="val 13333"/>
            </a:avLst>
          </a:prstGeom>
          <a:solidFill>
            <a:srgbClr val="FDF3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1009650" y="10115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Box"/>
          <p:cNvSpPr txBox="1"/>
          <p:nvPr/>
        </p:nvSpPr>
        <p:spPr>
          <a:xfrm>
            <a:off x="1181100" y="10067925"/>
            <a:ext cx="1049169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构建中 · building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1009650" y="10325100"/>
            <a:ext cx="314256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8A6A38"/>
                </a:solidFill>
                <a:latin typeface="Noto Sans SC"/>
                <a:ea typeface="Noto Sans SC"/>
                <a:cs typeface="Noto Sans SC"/>
              </a:rPr>
              <a:t>正在切分文档、生成向量并写入 zvec 索引，显示进度与耗时。</a:t>
            </a:r>
          </a:p>
        </p:txBody>
      </p:sp>
      <p:sp>
        <p:nvSpPr>
          <p:cNvPr id="74" name="Rectangle"/>
          <p:cNvSpPr/>
          <p:nvPr/>
        </p:nvSpPr>
        <p:spPr>
          <a:xfrm>
            <a:off x="881063" y="9939338"/>
            <a:ext cx="6372225" cy="704850"/>
          </a:xfrm>
          <a:prstGeom prst="roundRect">
            <a:avLst>
              <a:gd name="adj" fmla="val 12837"/>
            </a:avLst>
          </a:prstGeom>
          <a:noFill/>
          <a:ln w="9525">
            <a:solidFill>
              <a:srgbClr val="F0DCB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876300" y="10744200"/>
            <a:ext cx="6381750" cy="714375"/>
          </a:xfrm>
          <a:prstGeom prst="roundRect">
            <a:avLst>
              <a:gd name="adj" fmla="val 13333"/>
            </a:avLst>
          </a:prstGeom>
          <a:solidFill>
            <a:srgbClr val="FCEA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1009650" y="109251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1181100" y="10877550"/>
            <a:ext cx="76511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失败 · failed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1009650" y="11134725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8E4257"/>
                </a:solidFill>
                <a:latin typeface="Noto Sans SC"/>
                <a:ea typeface="Noto Sans SC"/>
                <a:cs typeface="Noto Sans SC"/>
              </a:rPr>
              <a:t>解析或嵌入失败，需展示失败原因并提供单条重试入口。</a:t>
            </a:r>
          </a:p>
        </p:txBody>
      </p:sp>
      <p:sp>
        <p:nvSpPr>
          <p:cNvPr id="79" name="Rectangle"/>
          <p:cNvSpPr/>
          <p:nvPr/>
        </p:nvSpPr>
        <p:spPr>
          <a:xfrm>
            <a:off x="881063" y="10748963"/>
            <a:ext cx="6372225" cy="704850"/>
          </a:xfrm>
          <a:prstGeom prst="roundRect">
            <a:avLst>
              <a:gd name="adj" fmla="val 12837"/>
            </a:avLst>
          </a:prstGeom>
          <a:noFill/>
          <a:ln w="9525">
            <a:solidFill>
              <a:srgbClr val="F5C6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"/>
          <p:cNvSpPr/>
          <p:nvPr/>
        </p:nvSpPr>
        <p:spPr>
          <a:xfrm>
            <a:off x="876300" y="11553825"/>
            <a:ext cx="6381750" cy="714375"/>
          </a:xfrm>
          <a:prstGeom prst="roundRect">
            <a:avLst>
              <a:gd name="adj" fmla="val 13333"/>
            </a:avLst>
          </a:prstGeom>
          <a:solidFill>
            <a:srgbClr val="F0F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1009650" y="11734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8A93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"/>
          <p:cNvSpPr txBox="1"/>
          <p:nvPr/>
        </p:nvSpPr>
        <p:spPr>
          <a:xfrm>
            <a:off x="1181100" y="11687175"/>
            <a:ext cx="77316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待构建 · idle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1009650" y="119443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文档已上传但尚未建立索引，检索工具不会命中该集合。</a:t>
            </a:r>
          </a:p>
        </p:txBody>
      </p:sp>
      <p:sp>
        <p:nvSpPr>
          <p:cNvPr id="84" name="Rectangle"/>
          <p:cNvSpPr/>
          <p:nvPr/>
        </p:nvSpPr>
        <p:spPr>
          <a:xfrm>
            <a:off x="881063" y="11558588"/>
            <a:ext cx="6372225" cy="704850"/>
          </a:xfrm>
          <a:prstGeom prst="roundRect">
            <a:avLst>
              <a:gd name="adj" fmla="val 12837"/>
            </a:avLst>
          </a:prstGeom>
          <a:noFill/>
          <a:ln w="9525">
            <a:solidFill>
              <a:srgbClr val="DCE0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"/>
          <p:cNvSpPr/>
          <p:nvPr/>
        </p:nvSpPr>
        <p:spPr>
          <a:xfrm>
            <a:off x="876300" y="12363450"/>
            <a:ext cx="6381750" cy="714375"/>
          </a:xfrm>
          <a:prstGeom prst="roundRect">
            <a:avLst>
              <a:gd name="adj" fmla="val 13333"/>
            </a:avLst>
          </a:prstGeom>
          <a:solidFill>
            <a:srgbClr val="E8F1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angle"/>
          <p:cNvSpPr/>
          <p:nvPr/>
        </p:nvSpPr>
        <p:spPr>
          <a:xfrm>
            <a:off x="1009650" y="12544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B7D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"/>
          <p:cNvSpPr txBox="1"/>
          <p:nvPr/>
        </p:nvSpPr>
        <p:spPr>
          <a:xfrm>
            <a:off x="1181100" y="12496800"/>
            <a:ext cx="661597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信息 · info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1009650" y="1275397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F5F8A"/>
                </a:solidFill>
                <a:latin typeface="Noto Sans SC"/>
                <a:ea typeface="Noto Sans SC"/>
                <a:cs typeface="Noto Sans SC"/>
              </a:rPr>
              <a:t>中性提示与操作引导，不表达成功或失败语义。</a:t>
            </a:r>
          </a:p>
        </p:txBody>
      </p:sp>
      <p:sp>
        <p:nvSpPr>
          <p:cNvPr id="89" name="Rectangle"/>
          <p:cNvSpPr/>
          <p:nvPr/>
        </p:nvSpPr>
        <p:spPr>
          <a:xfrm>
            <a:off x="881063" y="12368213"/>
            <a:ext cx="6372225" cy="704850"/>
          </a:xfrm>
          <a:prstGeom prst="roundRect">
            <a:avLst>
              <a:gd name="adj" fmla="val 12837"/>
            </a:avLst>
          </a:prstGeom>
          <a:noFill/>
          <a:ln w="9525">
            <a:solidFill>
              <a:srgbClr val="C3DCF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"/>
          <p:cNvSpPr/>
          <p:nvPr/>
        </p:nvSpPr>
        <p:spPr>
          <a:xfrm>
            <a:off x="614363" y="8186738"/>
            <a:ext cx="6905625" cy="5153025"/>
          </a:xfrm>
          <a:prstGeom prst="roundRect">
            <a:avLst>
              <a:gd name="adj" fmla="val 2125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"/>
          <p:cNvSpPr/>
          <p:nvPr/>
        </p:nvSpPr>
        <p:spPr>
          <a:xfrm>
            <a:off x="7715250" y="8181975"/>
            <a:ext cx="6915150" cy="386715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7981950" y="8448675"/>
            <a:ext cx="218282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检索置信度色阶 · Match Score</a:t>
            </a:r>
          </a:p>
        </p:txBody>
      </p:sp>
      <p:sp>
        <p:nvSpPr>
          <p:cNvPr id="93" name="TextBox"/>
          <p:cNvSpPr txBox="1"/>
          <p:nvPr/>
        </p:nvSpPr>
        <p:spPr>
          <a:xfrm>
            <a:off x="7981949" y="8724900"/>
            <a:ext cx="550947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对 zvec 距离做归一化后的相似度分数。用于结果排序与人工可信度判断，禁止直接暴露原始距离值。</a:t>
            </a:r>
          </a:p>
        </p:txBody>
      </p:sp>
      <p:sp>
        <p:nvSpPr>
          <p:cNvPr id="94" name="Rectangle"/>
          <p:cNvSpPr/>
          <p:nvPr/>
        </p:nvSpPr>
        <p:spPr>
          <a:xfrm>
            <a:off x="7981950" y="9124950"/>
            <a:ext cx="1504950" cy="838200"/>
          </a:xfrm>
          <a:prstGeom prst="roundRect">
            <a:avLst>
              <a:gd name="adj" fmla="val 11363"/>
            </a:avLst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Box"/>
          <p:cNvSpPr txBox="1"/>
          <p:nvPr/>
        </p:nvSpPr>
        <p:spPr>
          <a:xfrm>
            <a:off x="8077200" y="9705975"/>
            <a:ext cx="8524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强相关 · ≥0.85</a:t>
            </a:r>
          </a:p>
        </p:txBody>
      </p:sp>
      <p:sp>
        <p:nvSpPr>
          <p:cNvPr id="96" name="Rectangle"/>
          <p:cNvSpPr/>
          <p:nvPr/>
        </p:nvSpPr>
        <p:spPr>
          <a:xfrm>
            <a:off x="9601200" y="9124950"/>
            <a:ext cx="1504950" cy="838200"/>
          </a:xfrm>
          <a:prstGeom prst="roundRect">
            <a:avLst>
              <a:gd name="adj" fmla="val 11363"/>
            </a:avLst>
          </a:prstGeom>
          <a:solidFill>
            <a:srgbClr val="7CA8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9696450" y="9705975"/>
            <a:ext cx="9150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相关 · 0.70–0.85</a:t>
            </a:r>
          </a:p>
        </p:txBody>
      </p:sp>
      <p:sp>
        <p:nvSpPr>
          <p:cNvPr id="98" name="Rectangle"/>
          <p:cNvSpPr/>
          <p:nvPr/>
        </p:nvSpPr>
        <p:spPr>
          <a:xfrm>
            <a:off x="11220450" y="9124950"/>
            <a:ext cx="1504950" cy="838200"/>
          </a:xfrm>
          <a:prstGeom prst="roundRect">
            <a:avLst>
              <a:gd name="adj" fmla="val 11363"/>
            </a:avLst>
          </a:prstGeom>
          <a:solidFill>
            <a:srgbClr val="D98B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Box"/>
          <p:cNvSpPr txBox="1"/>
          <p:nvPr/>
        </p:nvSpPr>
        <p:spPr>
          <a:xfrm>
            <a:off x="11315700" y="9705975"/>
            <a:ext cx="9150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一般 · 0.55–0.70</a:t>
            </a:r>
          </a:p>
        </p:txBody>
      </p:sp>
      <p:sp>
        <p:nvSpPr>
          <p:cNvPr id="100" name="Rectangle"/>
          <p:cNvSpPr/>
          <p:nvPr/>
        </p:nvSpPr>
        <p:spPr>
          <a:xfrm>
            <a:off x="12839700" y="9124950"/>
            <a:ext cx="1504950" cy="838200"/>
          </a:xfrm>
          <a:prstGeom prst="roundRect">
            <a:avLst>
              <a:gd name="adj" fmla="val 11363"/>
            </a:avLst>
          </a:pr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12934950" y="9705975"/>
            <a:ext cx="8033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低相关 · &lt;0.55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7981950" y="10153650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结果排序示例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7981950" y="10525125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3A424E"/>
                </a:solidFill>
                <a:latin typeface="JetBrains Mono"/>
                <a:ea typeface="JetBrains Mono"/>
                <a:cs typeface="JetBrains Mono"/>
              </a:rPr>
              <a:t>zvec-architecture.md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13601700" y="10534650"/>
            <a:ext cx="7543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E9E8F"/>
                </a:solidFill>
                <a:latin typeface="JetBrains Mono"/>
                <a:ea typeface="JetBrains Mono"/>
                <a:cs typeface="JetBrains Mono"/>
              </a:rPr>
              <a:t>0.92  strong</a:t>
            </a:r>
          </a:p>
        </p:txBody>
      </p:sp>
      <p:sp>
        <p:nvSpPr>
          <p:cNvPr id="105" name="Rectangle"/>
          <p:cNvSpPr/>
          <p:nvPr/>
        </p:nvSpPr>
        <p:spPr>
          <a:xfrm>
            <a:off x="7981950" y="10753725"/>
            <a:ext cx="6381750" cy="57150"/>
          </a:xfrm>
          <a:prstGeom prst="roundRect">
            <a:avLst>
              <a:gd name="adj" fmla="val 50000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Rectangle"/>
          <p:cNvSpPr/>
          <p:nvPr/>
        </p:nvSpPr>
        <p:spPr>
          <a:xfrm>
            <a:off x="7981950" y="10753725"/>
            <a:ext cx="5867400" cy="5715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"/>
          <p:cNvSpPr txBox="1"/>
          <p:nvPr/>
        </p:nvSpPr>
        <p:spPr>
          <a:xfrm>
            <a:off x="7981950" y="11001375"/>
            <a:ext cx="11250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索引参数调优笔记.pdf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13544550" y="11010900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E8A2E"/>
                </a:solidFill>
                <a:latin typeface="JetBrains Mono"/>
                <a:ea typeface="JetBrains Mono"/>
                <a:cs typeface="JetBrains Mono"/>
              </a:rPr>
              <a:t>0.78  related</a:t>
            </a:r>
          </a:p>
        </p:txBody>
      </p:sp>
      <p:sp>
        <p:nvSpPr>
          <p:cNvPr id="109" name="Rectangle"/>
          <p:cNvSpPr/>
          <p:nvPr/>
        </p:nvSpPr>
        <p:spPr>
          <a:xfrm>
            <a:off x="7981950" y="11239500"/>
            <a:ext cx="6381750" cy="57150"/>
          </a:xfrm>
          <a:prstGeom prst="roundRect">
            <a:avLst>
              <a:gd name="adj" fmla="val 50000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"/>
          <p:cNvSpPr/>
          <p:nvPr/>
        </p:nvSpPr>
        <p:spPr>
          <a:xfrm>
            <a:off x="7981950" y="11239500"/>
            <a:ext cx="4972050" cy="57150"/>
          </a:xfrm>
          <a:prstGeom prst="roundRect">
            <a:avLst>
              <a:gd name="adj" fmla="val 50000"/>
            </a:avLst>
          </a:prstGeom>
          <a:solidFill>
            <a:srgbClr val="7CA8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"/>
          <p:cNvSpPr txBox="1"/>
          <p:nvPr/>
        </p:nvSpPr>
        <p:spPr>
          <a:xfrm>
            <a:off x="7981950" y="11487150"/>
            <a:ext cx="1086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多模态嵌入实验.docx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13735050" y="1149667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B4731A"/>
                </a:solidFill>
                <a:latin typeface="JetBrains Mono"/>
                <a:ea typeface="JetBrains Mono"/>
                <a:cs typeface="JetBrains Mono"/>
              </a:rPr>
              <a:t>0.61  fair</a:t>
            </a:r>
          </a:p>
        </p:txBody>
      </p:sp>
      <p:sp>
        <p:nvSpPr>
          <p:cNvPr id="113" name="Rectangle"/>
          <p:cNvSpPr/>
          <p:nvPr/>
        </p:nvSpPr>
        <p:spPr>
          <a:xfrm>
            <a:off x="7981950" y="11725275"/>
            <a:ext cx="6381750" cy="57150"/>
          </a:xfrm>
          <a:prstGeom prst="roundRect">
            <a:avLst>
              <a:gd name="adj" fmla="val 50000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angle"/>
          <p:cNvSpPr/>
          <p:nvPr/>
        </p:nvSpPr>
        <p:spPr>
          <a:xfrm>
            <a:off x="7981950" y="11725275"/>
            <a:ext cx="3895725" cy="5715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Rectangle"/>
          <p:cNvSpPr/>
          <p:nvPr/>
        </p:nvSpPr>
        <p:spPr>
          <a:xfrm>
            <a:off x="7720013" y="8186738"/>
            <a:ext cx="6905625" cy="3857625"/>
          </a:xfrm>
          <a:prstGeom prst="roundRect">
            <a:avLst>
              <a:gd name="adj" fmla="val 283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533525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8745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02 / FOUNDATIONS · 字体与尺度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2438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字体、间距与层级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83475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界面字体统一使用 Noto Sans SC，技术标识、向量维度、文件名与分数使用 JetBrains Mono。间距以 4px 为基础单位，绝大多数场景只用 8 / 12 / 16 / 24 / 32。层级优先用边框与底色差表达，阴影仅用于浮层。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601700" y="1733550"/>
            <a:ext cx="10287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29 SCALE TOKENS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2190750"/>
            <a:ext cx="14020800" cy="3686175"/>
          </a:xfrm>
          <a:prstGeom prst="roundRect">
            <a:avLst>
              <a:gd name="adj" fmla="val 31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876300" y="2457450"/>
            <a:ext cx="1487576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字体家族 · Typeface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76300" y="2733675"/>
            <a:ext cx="7318676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双字体策略：中文与界面文案用 Noto Sans SC，所有机器生成的标识与数值用 JetBrains Mono 并启用等宽数字，保证列表纵向对齐。</a:t>
            </a:r>
          </a:p>
        </p:txBody>
      </p:sp>
      <p:sp>
        <p:nvSpPr>
          <p:cNvPr id="10" name="Rectangle"/>
          <p:cNvSpPr/>
          <p:nvPr/>
        </p:nvSpPr>
        <p:spPr>
          <a:xfrm>
            <a:off x="876300" y="3133725"/>
            <a:ext cx="6667500" cy="2476500"/>
          </a:xfrm>
          <a:prstGeom prst="roundRect">
            <a:avLst>
              <a:gd name="adj" fmla="val 3846"/>
            </a:avLst>
          </a:prstGeom>
          <a:solidFill>
            <a:srgbClr val="F8F9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104900" y="3362325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界面字体 · UI Sans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104900" y="3648075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195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知识库检索与向量嵌入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104900" y="4143375"/>
            <a:ext cx="2254148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Regular 400 · 正文、表单与列表内容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04900" y="4486275"/>
            <a:ext cx="2168538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Medium 500 · 按钮、标签与导航项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04900" y="4829175"/>
            <a:ext cx="227935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B6472"/>
                </a:solidFill>
                <a:latin typeface="Noto Sans SC Bold"/>
                <a:ea typeface="Noto Sans SC Bold"/>
                <a:cs typeface="Noto Sans SC Bold"/>
              </a:rPr>
              <a:t>SemiBold 600 · 卡片标题与关键数值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104900" y="5172075"/>
            <a:ext cx="196251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5B6472"/>
                </a:solidFill>
                <a:latin typeface="Noto Sans SC Bold"/>
                <a:ea typeface="Noto Sans SC Bold"/>
                <a:cs typeface="Noto Sans SC Bold"/>
              </a:rPr>
              <a:t>Bold 700 · 页面主标题与空状态</a:t>
            </a:r>
          </a:p>
        </p:txBody>
      </p:sp>
      <p:sp>
        <p:nvSpPr>
          <p:cNvPr id="17" name="Rectangle"/>
          <p:cNvSpPr/>
          <p:nvPr/>
        </p:nvSpPr>
        <p:spPr>
          <a:xfrm>
            <a:off x="881063" y="3138488"/>
            <a:ext cx="6657975" cy="2466975"/>
          </a:xfrm>
          <a:prstGeom prst="roundRect">
            <a:avLst>
              <a:gd name="adj" fmla="val 3667"/>
            </a:avLst>
          </a:prstGeom>
          <a:noFill/>
          <a:ln w="9525">
            <a:solidFill>
              <a:srgbClr val="E9ECF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7696200" y="3133725"/>
            <a:ext cx="6667500" cy="2095500"/>
          </a:xfrm>
          <a:prstGeom prst="roundRect">
            <a:avLst>
              <a:gd name="adj" fmla="val 4545"/>
            </a:avLst>
          </a:prstGeom>
          <a:solidFill>
            <a:srgbClr val="13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7924800" y="3362325"/>
            <a:ext cx="9372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latin typeface="JetBrains Mono"/>
                <a:ea typeface="JetBrains Mono"/>
                <a:cs typeface="JetBrains Mono"/>
              </a:rPr>
              <a:t>技术字体 · Mono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7924800" y="3648075"/>
            <a:ext cx="164592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</a:rPr>
              <a:t>kb_prod_2f8a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7924800" y="4105275"/>
            <a:ext cx="240220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A1A1AA"/>
                </a:solidFill>
                <a:latin typeface="JetBrains Mono"/>
                <a:ea typeface="JetBrains Mono"/>
                <a:cs typeface="JetBrains Mono"/>
              </a:rPr>
              <a:t>Regular 400 · 文件名、路径、集合标识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7924800" y="4448175"/>
            <a:ext cx="208026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A1A1AA"/>
                </a:solidFill>
                <a:latin typeface="JetBrains Mono"/>
                <a:ea typeface="JetBrains Mono"/>
                <a:cs typeface="JetBrains Mono"/>
              </a:rPr>
              <a:t>Medium 500 · 相似度分数与时间戳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7924800" y="4791075"/>
            <a:ext cx="289750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en-US" sz="975">
                <a:solidFill>
                  <a:srgbClr val="8B95EE"/>
                </a:solidFill>
                <a:latin typeface="JetBrains Mono"/>
                <a:ea typeface="JetBrains Mono"/>
                <a:cs typeface="JetBrains Mono"/>
              </a:rPr>
              <a:t>tabular-nums on · 0.92 / 1024d / v_fp32</a:t>
            </a:r>
          </a:p>
        </p:txBody>
      </p:sp>
      <p:sp>
        <p:nvSpPr>
          <p:cNvPr id="24" name="Rectangle"/>
          <p:cNvSpPr/>
          <p:nvPr/>
        </p:nvSpPr>
        <p:spPr>
          <a:xfrm>
            <a:off x="614363" y="2195513"/>
            <a:ext cx="14011275" cy="3676650"/>
          </a:xfrm>
          <a:prstGeom prst="roundRect">
            <a:avLst>
              <a:gd name="adj" fmla="val 297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609600" y="6067425"/>
            <a:ext cx="14020800" cy="5448300"/>
          </a:xfrm>
          <a:prstGeom prst="roundRect">
            <a:avLst>
              <a:gd name="adj" fmla="val 209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876300" y="6334125"/>
            <a:ext cx="1615897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字号阶梯 · Type Scale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76300" y="6610350"/>
            <a:ext cx="472862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共 8 级。页面只允许出现一个 display 级标题；卡片内标题不超过 h3，保证层级可读。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876300" y="6991350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TOKEN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495550" y="6991350"/>
            <a:ext cx="100584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字号 / 行高 · 用途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5162550" y="6991350"/>
            <a:ext cx="37719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SAMPLE</a:t>
            </a:r>
          </a:p>
        </p:txBody>
      </p:sp>
      <p:sp>
        <p:nvSpPr>
          <p:cNvPr id="31" name="Rectangle"/>
          <p:cNvSpPr/>
          <p:nvPr/>
        </p:nvSpPr>
        <p:spPr>
          <a:xfrm>
            <a:off x="876300" y="7134225"/>
            <a:ext cx="13487400" cy="9525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876300" y="7400925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display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2495550" y="7400925"/>
            <a:ext cx="10867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32 / 42 · 页面主标题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5162550" y="7277100"/>
            <a:ext cx="1524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知识库总览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876300" y="802957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h2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2495550" y="8029575"/>
            <a:ext cx="9724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24 / 34 · 区块标题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5162550" y="7943850"/>
            <a:ext cx="16002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文档与索引构建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876300" y="860107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h3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2495550" y="8601075"/>
            <a:ext cx="9724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20 / 30 · 卡片标题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5162550" y="85344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5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检索结果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876300" y="912495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title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2495550" y="9124950"/>
            <a:ext cx="10867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16 / 24 · 列表项标题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5162550" y="9086850"/>
            <a:ext cx="1566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800"/>
              </a:lnSpc>
            </a:pPr>
            <a:r>
              <a:rPr lang="en-US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zvec-architecture.md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876300" y="9610725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body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2495550" y="9610725"/>
            <a:ext cx="10867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14 / 22 · 正文与表单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5162550" y="9582150"/>
            <a:ext cx="2549519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1050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支持 Markdown / PDF / DOCX / TXT 等格式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876300" y="10077450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body-sm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2495550" y="10077450"/>
            <a:ext cx="9724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13 / 20 · 辅助说明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5162550" y="10058400"/>
            <a:ext cx="289502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75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嵌入模型 text-embedding-v4 · 1024 维 · 余弦距离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876300" y="10525125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caption</a:t>
            </a:r>
          </a:p>
        </p:txBody>
      </p:sp>
      <p:sp>
        <p:nvSpPr>
          <p:cNvPr id="51" name="TextBox"/>
          <p:cNvSpPr txBox="1"/>
          <p:nvPr/>
        </p:nvSpPr>
        <p:spPr>
          <a:xfrm>
            <a:off x="2495550" y="10525125"/>
            <a:ext cx="12010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12 / 18 · 标签与元信息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5162550" y="10515600"/>
            <a:ext cx="2590839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900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构建于 2026-09-14 10:28 · 耗时 42s · 128 个分片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876300" y="10963275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mono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2495550" y="10953750"/>
            <a:ext cx="13153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11 / 16 · 令牌与技术标识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5162550" y="10963275"/>
            <a:ext cx="25146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825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kb_prod_2f8a · 0.92 · HNSW · match_score</a:t>
            </a:r>
          </a:p>
        </p:txBody>
      </p:sp>
      <p:sp>
        <p:nvSpPr>
          <p:cNvPr id="56" name="Rectangle"/>
          <p:cNvSpPr/>
          <p:nvPr/>
        </p:nvSpPr>
        <p:spPr>
          <a:xfrm>
            <a:off x="614363" y="6072188"/>
            <a:ext cx="14011275" cy="543877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"/>
          <p:cNvSpPr/>
          <p:nvPr/>
        </p:nvSpPr>
        <p:spPr>
          <a:xfrm>
            <a:off x="609600" y="11706225"/>
            <a:ext cx="14020800" cy="3019425"/>
          </a:xfrm>
          <a:prstGeom prst="roundRect">
            <a:avLst>
              <a:gd name="adj" fmla="val 378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876300" y="11972925"/>
            <a:ext cx="1356969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间距 · 圆角 · 层级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876300" y="12249150"/>
            <a:ext cx="4689872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4px 网格。层级系统只有三级，通过描边与极轻的投影建立深度，避免多层阴影堆叠。</a:t>
            </a:r>
          </a:p>
        </p:txBody>
      </p:sp>
      <p:sp>
        <p:nvSpPr>
          <p:cNvPr id="60" name="TextBox"/>
          <p:cNvSpPr txBox="1"/>
          <p:nvPr/>
        </p:nvSpPr>
        <p:spPr>
          <a:xfrm>
            <a:off x="876300" y="1266825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间距 · Spacing</a:t>
            </a:r>
          </a:p>
        </p:txBody>
      </p:sp>
      <p:sp>
        <p:nvSpPr>
          <p:cNvPr id="61" name="Rectangle"/>
          <p:cNvSpPr/>
          <p:nvPr/>
        </p:nvSpPr>
        <p:spPr>
          <a:xfrm>
            <a:off x="876300" y="13373100"/>
            <a:ext cx="57150" cy="190500"/>
          </a:xfrm>
          <a:prstGeom prst="roundRect">
            <a:avLst>
              <a:gd name="adj" fmla="val 33333"/>
            </a:avLst>
          </a:prstGeom>
          <a:solidFill>
            <a:srgbClr val="E0E3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"/>
          <p:cNvSpPr/>
          <p:nvPr/>
        </p:nvSpPr>
        <p:spPr>
          <a:xfrm>
            <a:off x="990600" y="13315950"/>
            <a:ext cx="76200" cy="247650"/>
          </a:xfrm>
          <a:prstGeom prst="roundRect">
            <a:avLst>
              <a:gd name="adj" fmla="val 25000"/>
            </a:avLst>
          </a:prstGeom>
          <a:solidFill>
            <a:srgbClr val="C7CB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1123950" y="13258800"/>
            <a:ext cx="114300" cy="304800"/>
          </a:xfrm>
          <a:prstGeom prst="roundRect">
            <a:avLst>
              <a:gd name="adj" fmla="val 16666"/>
            </a:avLst>
          </a:prstGeom>
          <a:solidFill>
            <a:srgbClr val="A6AC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"/>
          <p:cNvSpPr/>
          <p:nvPr/>
        </p:nvSpPr>
        <p:spPr>
          <a:xfrm>
            <a:off x="1295400" y="13201650"/>
            <a:ext cx="152400" cy="361950"/>
          </a:xfrm>
          <a:prstGeom prst="roundRect">
            <a:avLst>
              <a:gd name="adj" fmla="val 12500"/>
            </a:avLst>
          </a:prstGeom>
          <a:solidFill>
            <a:srgbClr val="7A84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1504950" y="13154025"/>
            <a:ext cx="190500" cy="409575"/>
          </a:xfrm>
          <a:prstGeom prst="roundRect">
            <a:avLst>
              <a:gd name="adj" fmla="val 10000"/>
            </a:avLst>
          </a:prstGeom>
          <a:solidFill>
            <a:srgbClr val="6A74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1752600" y="13106400"/>
            <a:ext cx="228600" cy="457200"/>
          </a:xfrm>
          <a:prstGeom prst="roundRect">
            <a:avLst>
              <a:gd name="adj" fmla="val 8333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2038350" y="13068300"/>
            <a:ext cx="304800" cy="495300"/>
          </a:xfrm>
          <a:prstGeom prst="roundRect">
            <a:avLst>
              <a:gd name="adj" fmla="val 6250"/>
            </a:avLst>
          </a:prstGeom>
          <a:solidFill>
            <a:srgbClr val="4149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"/>
          <p:cNvSpPr/>
          <p:nvPr/>
        </p:nvSpPr>
        <p:spPr>
          <a:xfrm>
            <a:off x="2400300" y="13030200"/>
            <a:ext cx="381000" cy="533400"/>
          </a:xfrm>
          <a:prstGeom prst="roundRect">
            <a:avLst>
              <a:gd name="adj" fmla="val 5000"/>
            </a:avLst>
          </a:prstGeom>
          <a:solidFill>
            <a:srgbClr val="343B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2838450" y="12992100"/>
            <a:ext cx="457200" cy="571500"/>
          </a:xfrm>
          <a:prstGeom prst="roundRect">
            <a:avLst>
              <a:gd name="adj" fmla="val 4166"/>
            </a:avLst>
          </a:prstGeom>
          <a:solidFill>
            <a:srgbClr val="2A2F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3352800" y="1295400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3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876300" y="13696950"/>
            <a:ext cx="282892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4 · 8 · 12 · 16 · 20 · 24 · 32 · 40 · 48 · 64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5448300" y="12668250"/>
            <a:ext cx="8458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圆角 · Radius</a:t>
            </a:r>
          </a:p>
        </p:txBody>
      </p:sp>
      <p:sp>
        <p:nvSpPr>
          <p:cNvPr id="73" name="Rectangle"/>
          <p:cNvSpPr/>
          <p:nvPr/>
        </p:nvSpPr>
        <p:spPr>
          <a:xfrm>
            <a:off x="5448300" y="129540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5453063" y="12958763"/>
            <a:ext cx="466725" cy="466725"/>
          </a:xfrm>
          <a:prstGeom prst="roundRect">
            <a:avLst>
              <a:gd name="adj" fmla="val 7142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6038850" y="12954000"/>
            <a:ext cx="47625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"/>
          <p:cNvSpPr/>
          <p:nvPr/>
        </p:nvSpPr>
        <p:spPr>
          <a:xfrm>
            <a:off x="6043613" y="12958763"/>
            <a:ext cx="466725" cy="466725"/>
          </a:xfrm>
          <a:prstGeom prst="roundRect">
            <a:avLst>
              <a:gd name="adj" fmla="val 11224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6629400" y="12954000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EF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6634163" y="12958763"/>
            <a:ext cx="466725" cy="466725"/>
          </a:xfrm>
          <a:prstGeom prst="roundRect">
            <a:avLst>
              <a:gd name="adj" fmla="val 15306"/>
            </a:avLst>
          </a:prstGeom>
          <a:noFill/>
          <a:ln w="9525">
            <a:solidFill>
              <a:srgbClr val="7A84E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"/>
          <p:cNvSpPr/>
          <p:nvPr/>
        </p:nvSpPr>
        <p:spPr>
          <a:xfrm>
            <a:off x="7219950" y="129540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"/>
          <p:cNvSpPr/>
          <p:nvPr/>
        </p:nvSpPr>
        <p:spPr>
          <a:xfrm>
            <a:off x="7224713" y="12958763"/>
            <a:ext cx="466725" cy="466725"/>
          </a:xfrm>
          <a:prstGeom prst="roundRect">
            <a:avLst>
              <a:gd name="adj" fmla="val 23469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7810500" y="12954000"/>
            <a:ext cx="47625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"/>
          <p:cNvSpPr/>
          <p:nvPr/>
        </p:nvSpPr>
        <p:spPr>
          <a:xfrm>
            <a:off x="7815263" y="12958763"/>
            <a:ext cx="466725" cy="466725"/>
          </a:xfrm>
          <a:prstGeom prst="roundRect">
            <a:avLst>
              <a:gd name="adj" fmla="val 31632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5448300" y="13563600"/>
            <a:ext cx="319071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xs 4 控件 · sm 6 标签 · md 8 卡片与输入 · lg 12 弹窗 · xl 16 容器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10020300" y="12668250"/>
            <a:ext cx="10515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层级 · Elevation</a:t>
            </a:r>
          </a:p>
        </p:txBody>
      </p:sp>
      <p:sp>
        <p:nvSpPr>
          <p:cNvPr id="85" name="Rectangle"/>
          <p:cNvSpPr/>
          <p:nvPr/>
        </p:nvSpPr>
        <p:spPr>
          <a:xfrm>
            <a:off x="10020300" y="12954000"/>
            <a:ext cx="4343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10134600" y="13096875"/>
            <a:ext cx="1415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9525" dist="9525" dir="5400000" algn="ctr" rotWithShape="0">
                    <a:srgbClr val="0F121A">
                      <a:alpha val="6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level-1 · 内嵌卡片 / 输入框</a:t>
            </a:r>
          </a:p>
        </p:txBody>
      </p:sp>
      <p:sp>
        <p:nvSpPr>
          <p:cNvPr id="87" name="Rectangle"/>
          <p:cNvSpPr/>
          <p:nvPr/>
        </p:nvSpPr>
        <p:spPr>
          <a:xfrm>
            <a:off x="10025063" y="12958763"/>
            <a:ext cx="4333875" cy="4286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9525" dist="9525" dir="5400000" algn="ctr" rotWithShape="0">
              <a:srgbClr val="0F121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Rectangle"/>
          <p:cNvSpPr/>
          <p:nvPr/>
        </p:nvSpPr>
        <p:spPr>
          <a:xfrm>
            <a:off x="10020300" y="13487400"/>
            <a:ext cx="4343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>
            <a:outerShdw blurRad="57150" dist="38100" dir="5400000" algn="ctr" rotWithShape="0">
              <a:srgbClr val="0F121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Box"/>
          <p:cNvSpPr txBox="1"/>
          <p:nvPr/>
        </p:nvSpPr>
        <p:spPr>
          <a:xfrm>
            <a:off x="10134600" y="13630275"/>
            <a:ext cx="13010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57150" dist="38100" dir="5400000" algn="ctr" rotWithShape="0">
                    <a:srgbClr val="0F121A">
                      <a:alpha val="8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level-2 · 悬浮卡片 / 下拉</a:t>
            </a:r>
          </a:p>
        </p:txBody>
      </p:sp>
      <p:sp>
        <p:nvSpPr>
          <p:cNvPr id="90" name="Rectangle"/>
          <p:cNvSpPr/>
          <p:nvPr/>
        </p:nvSpPr>
        <p:spPr>
          <a:xfrm>
            <a:off x="10020300" y="14020800"/>
            <a:ext cx="4343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>
            <a:outerShdw blurRad="152400" dist="1143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10134600" y="14163675"/>
            <a:ext cx="10907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152400" dist="1143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level-3 · 弹窗与抽屉</a:t>
            </a:r>
          </a:p>
        </p:txBody>
      </p:sp>
      <p:sp>
        <p:nvSpPr>
          <p:cNvPr id="92" name="Rectangle"/>
          <p:cNvSpPr/>
          <p:nvPr/>
        </p:nvSpPr>
        <p:spPr>
          <a:xfrm>
            <a:off x="614363" y="11710988"/>
            <a:ext cx="14011275" cy="3009900"/>
          </a:xfrm>
          <a:prstGeom prst="roundRect">
            <a:avLst>
              <a:gd name="adj" fmla="val 363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350645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6916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03 / COMPONENTS · 基础组件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基础组件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8320904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组件按「尺寸 × 状态」两个维度穷举，每种组件都必须实现 default / hover / focus / disabled / loading 五态。所有交互控件高度统一为 28 / 34 / 40 三档，保证同一表单内基线对齐。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2982575" y="1733550"/>
            <a:ext cx="16459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24 COMPONENTS · 5 STATES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2190750"/>
            <a:ext cx="14020800" cy="2676525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876300" y="2457450"/>
            <a:ext cx="1032205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按钮 · Button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76300" y="2733675"/>
            <a:ext cx="5467493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全局每个视图只允许出现一个 primary 主按钮。危险操作必须配合二次确认，不允许直接触发删除。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876300" y="3152775"/>
            <a:ext cx="9829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变体 · Variants</a:t>
            </a:r>
          </a:p>
        </p:txBody>
      </p:sp>
      <p:sp>
        <p:nvSpPr>
          <p:cNvPr id="11" name="Rectangle"/>
          <p:cNvSpPr/>
          <p:nvPr/>
        </p:nvSpPr>
        <p:spPr>
          <a:xfrm>
            <a:off x="876300" y="3438525"/>
            <a:ext cx="923925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028700" y="35147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创建知识库</a:t>
            </a:r>
          </a:p>
        </p:txBody>
      </p:sp>
      <p:sp>
        <p:nvSpPr>
          <p:cNvPr id="13" name="Rectangle"/>
          <p:cNvSpPr/>
          <p:nvPr/>
        </p:nvSpPr>
        <p:spPr>
          <a:xfrm>
            <a:off x="1895475" y="3438525"/>
            <a:ext cx="8001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2047875" y="35147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重建索引</a:t>
            </a:r>
          </a:p>
        </p:txBody>
      </p:sp>
      <p:sp>
        <p:nvSpPr>
          <p:cNvPr id="15" name="Rectangle"/>
          <p:cNvSpPr/>
          <p:nvPr/>
        </p:nvSpPr>
        <p:spPr>
          <a:xfrm>
            <a:off x="1900238" y="3443288"/>
            <a:ext cx="7905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2905125" y="35147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latin typeface="Noto Sans SC"/>
                <a:ea typeface="Noto Sans SC"/>
                <a:cs typeface="Noto Sans SC"/>
              </a:rPr>
              <a:t>查看详情</a:t>
            </a:r>
          </a:p>
        </p:txBody>
      </p:sp>
      <p:sp>
        <p:nvSpPr>
          <p:cNvPr id="17" name="Rectangle"/>
          <p:cNvSpPr/>
          <p:nvPr/>
        </p:nvSpPr>
        <p:spPr>
          <a:xfrm>
            <a:off x="3609975" y="3438525"/>
            <a:ext cx="923925" cy="323850"/>
          </a:xfrm>
          <a:prstGeom prst="roundRect">
            <a:avLst>
              <a:gd name="adj" fmla="val 17647"/>
            </a:avLst>
          </a:pr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3762375" y="35147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删除知识库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476875" y="3152775"/>
            <a:ext cx="7772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尺寸 · Sizes</a:t>
            </a:r>
          </a:p>
        </p:txBody>
      </p:sp>
      <p:sp>
        <p:nvSpPr>
          <p:cNvPr id="20" name="Rectangle"/>
          <p:cNvSpPr/>
          <p:nvPr/>
        </p:nvSpPr>
        <p:spPr>
          <a:xfrm>
            <a:off x="5476875" y="3438525"/>
            <a:ext cx="1419225" cy="266700"/>
          </a:xfrm>
          <a:prstGeom prst="roundRect">
            <a:avLst>
              <a:gd name="adj" fmla="val 21428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5591175" y="3495675"/>
            <a:ext cx="118494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sm · 28px 表格内操作</a:t>
            </a:r>
          </a:p>
        </p:txBody>
      </p:sp>
      <p:sp>
        <p:nvSpPr>
          <p:cNvPr id="22" name="Rectangle"/>
          <p:cNvSpPr/>
          <p:nvPr/>
        </p:nvSpPr>
        <p:spPr>
          <a:xfrm>
            <a:off x="5476875" y="3800475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5629275" y="3876675"/>
            <a:ext cx="117844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md · 34px 默认操作</a:t>
            </a:r>
          </a:p>
        </p:txBody>
      </p:sp>
      <p:sp>
        <p:nvSpPr>
          <p:cNvPr id="24" name="Rectangle"/>
          <p:cNvSpPr/>
          <p:nvPr/>
        </p:nvSpPr>
        <p:spPr>
          <a:xfrm>
            <a:off x="5476875" y="4219575"/>
            <a:ext cx="2095500" cy="381000"/>
          </a:xfrm>
          <a:prstGeom prst="roundRect">
            <a:avLst>
              <a:gd name="adj" fmla="val 15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5667375" y="4314825"/>
            <a:ext cx="170954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lg · 40px 空状态与表单提交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0067925" y="3152775"/>
            <a:ext cx="8458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状态 · States</a:t>
            </a:r>
          </a:p>
        </p:txBody>
      </p:sp>
      <p:sp>
        <p:nvSpPr>
          <p:cNvPr id="27" name="Rectangle"/>
          <p:cNvSpPr/>
          <p:nvPr/>
        </p:nvSpPr>
        <p:spPr>
          <a:xfrm>
            <a:off x="10067925" y="3438525"/>
            <a:ext cx="790575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0220325" y="3524250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default</a:t>
            </a:r>
          </a:p>
        </p:txBody>
      </p:sp>
      <p:sp>
        <p:nvSpPr>
          <p:cNvPr id="29" name="Rectangle"/>
          <p:cNvSpPr/>
          <p:nvPr/>
        </p:nvSpPr>
        <p:spPr>
          <a:xfrm>
            <a:off x="10953750" y="3438525"/>
            <a:ext cx="647700" cy="323850"/>
          </a:xfrm>
          <a:prstGeom prst="roundRect">
            <a:avLst>
              <a:gd name="adj" fmla="val 17647"/>
            </a:avLst>
          </a:prstGeom>
          <a:solidFill>
            <a:srgbClr val="4149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106150" y="352425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hover</a:t>
            </a:r>
          </a:p>
        </p:txBody>
      </p:sp>
      <p:sp>
        <p:nvSpPr>
          <p:cNvPr id="31" name="Rectangle"/>
          <p:cNvSpPr/>
          <p:nvPr/>
        </p:nvSpPr>
        <p:spPr>
          <a:xfrm>
            <a:off x="11696700" y="3438525"/>
            <a:ext cx="790575" cy="323850"/>
          </a:xfrm>
          <a:prstGeom prst="roundRect">
            <a:avLst>
              <a:gd name="adj" fmla="val 17647"/>
            </a:avLst>
          </a:prstGeom>
          <a:solidFill>
            <a:srgbClr val="343B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1849100" y="3524250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pressed</a:t>
            </a:r>
          </a:p>
        </p:txBody>
      </p:sp>
      <p:sp>
        <p:nvSpPr>
          <p:cNvPr id="33" name="Rectangle"/>
          <p:cNvSpPr/>
          <p:nvPr/>
        </p:nvSpPr>
        <p:spPr>
          <a:xfrm>
            <a:off x="12582525" y="3438525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E0E3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2734925" y="3524250"/>
            <a:ext cx="5486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A6ACE9"/>
                </a:solidFill>
                <a:latin typeface="JetBrains Mono"/>
                <a:ea typeface="JetBrains Mono"/>
                <a:cs typeface="JetBrains Mono"/>
              </a:rPr>
              <a:t>disabled</a:t>
            </a:r>
          </a:p>
        </p:txBody>
      </p:sp>
      <p:sp>
        <p:nvSpPr>
          <p:cNvPr id="35" name="Rectangle"/>
          <p:cNvSpPr/>
          <p:nvPr/>
        </p:nvSpPr>
        <p:spPr>
          <a:xfrm>
            <a:off x="10067925" y="3857625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10235565" y="3968115"/>
            <a:ext cx="102870" cy="102870"/>
          </a:xfrm>
          <a:prstGeom prst="ellipse">
            <a:avLst/>
          </a:prstGeom>
          <a:noFill/>
          <a:ln w="15240">
            <a:solidFill>
              <a:srgbClr val="FFFFFF">
                <a:alpha val="35000"/>
              </a:srgbClr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10279288" y="3960403"/>
            <a:ext cx="66859" cy="66859"/>
          </a:xfrm>
          <a:custGeom>
            <a:avLst/>
            <a:gdLst/>
            <a:ahLst/>
            <a:cxnLst/>
            <a:rect l="0" t="0" r="r" b="b"/>
            <a:pathLst>
              <a:path w="66859" h="66859">
                <a:moveTo>
                  <a:pt x="51527" y="59147"/>
                </a:moveTo>
                <a:quadBezTo>
                  <a:pt x="51527" y="40998"/>
                  <a:pt x="38694" y="28165"/>
                </a:quadBezTo>
                <a:quadBezTo>
                  <a:pt x="25861" y="15332"/>
                  <a:pt x="7712" y="15332"/>
                </a:quadBezTo>
                <a:quadBezTo>
                  <a:pt x="4518" y="15424"/>
                  <a:pt x="2324" y="13100"/>
                </a:quadBezTo>
                <a:quadBezTo>
                  <a:pt x="0" y="10906"/>
                  <a:pt x="92" y="7712"/>
                </a:quadBezTo>
                <a:quadBezTo>
                  <a:pt x="0" y="4518"/>
                  <a:pt x="2324" y="2324"/>
                </a:quadBezTo>
                <a:quadBezTo>
                  <a:pt x="4518" y="0"/>
                  <a:pt x="7712" y="92"/>
                </a:quadBezTo>
                <a:quadBezTo>
                  <a:pt x="32173" y="92"/>
                  <a:pt x="49470" y="17389"/>
                </a:quadBezTo>
                <a:quadBezTo>
                  <a:pt x="66767" y="34686"/>
                  <a:pt x="66767" y="59147"/>
                </a:quadBezTo>
                <a:quadBezTo>
                  <a:pt x="66859" y="62341"/>
                  <a:pt x="64535" y="64535"/>
                </a:quadBezTo>
                <a:quadBezTo>
                  <a:pt x="62341" y="66859"/>
                  <a:pt x="59147" y="66767"/>
                </a:quadBezTo>
                <a:quadBezTo>
                  <a:pt x="55953" y="66859"/>
                  <a:pt x="53759" y="64535"/>
                </a:quadBezTo>
                <a:quadBezTo>
                  <a:pt x="51435" y="62341"/>
                  <a:pt x="51527" y="5914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429875" y="3943350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构建中</a:t>
            </a:r>
          </a:p>
        </p:txBody>
      </p:sp>
      <p:sp>
        <p:nvSpPr>
          <p:cNvPr id="39" name="Rectangle"/>
          <p:cNvSpPr/>
          <p:nvPr/>
        </p:nvSpPr>
        <p:spPr>
          <a:xfrm>
            <a:off x="614363" y="2195513"/>
            <a:ext cx="14011275" cy="2667000"/>
          </a:xfrm>
          <a:prstGeom prst="roundRect">
            <a:avLst>
              <a:gd name="adj" fmla="val 4107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609600" y="5057775"/>
            <a:ext cx="14020800" cy="4467225"/>
          </a:xfrm>
          <a:prstGeom prst="roundRect">
            <a:avLst>
              <a:gd name="adj" fmla="val 255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876300" y="5324475"/>
            <a:ext cx="122682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表单控件 · Input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876300" y="5600700"/>
            <a:ext cx="5321626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标签在控件上方，辅助说明在下方。聚焦态统一使用 1px 主色描边 + 2px 主色浅晕，不使用投影。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876300" y="601980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输入类 · Text Entry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876300" y="6343650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知识库名称</a:t>
            </a:r>
          </a:p>
        </p:txBody>
      </p:sp>
      <p:sp>
        <p:nvSpPr>
          <p:cNvPr id="45" name="Rectangle"/>
          <p:cNvSpPr/>
          <p:nvPr/>
        </p:nvSpPr>
        <p:spPr>
          <a:xfrm>
            <a:off x="876300" y="6600825"/>
            <a:ext cx="65913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990600" y="6677025"/>
            <a:ext cx="12382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例如：产品技术文档库</a:t>
            </a:r>
          </a:p>
        </p:txBody>
      </p:sp>
      <p:sp>
        <p:nvSpPr>
          <p:cNvPr id="47" name="Rectangle"/>
          <p:cNvSpPr/>
          <p:nvPr/>
        </p:nvSpPr>
        <p:spPr>
          <a:xfrm>
            <a:off x="881063" y="6605588"/>
            <a:ext cx="65817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876300" y="7096125"/>
            <a:ext cx="117014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检索关键词 · 聚焦态</a:t>
            </a:r>
          </a:p>
        </p:txBody>
      </p:sp>
      <p:sp>
        <p:nvSpPr>
          <p:cNvPr id="49" name="Rectangle"/>
          <p:cNvSpPr/>
          <p:nvPr/>
        </p:nvSpPr>
        <p:spPr>
          <a:xfrm>
            <a:off x="876300" y="7353300"/>
            <a:ext cx="65913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" dist="0" dir="0" algn="ctr" rotWithShape="0">
              <a:srgbClr val="4F5CD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Ellipse"/>
          <p:cNvSpPr/>
          <p:nvPr/>
        </p:nvSpPr>
        <p:spPr>
          <a:xfrm>
            <a:off x="1005185" y="7472660"/>
            <a:ext cx="80367" cy="80367"/>
          </a:xfrm>
          <a:prstGeom prst="ellipse">
            <a:avLst/>
          </a:prstGeom>
          <a:noFill/>
          <a:ln w="12502">
            <a:solidFill>
              <a:srgbClr val="4F5BD5"/>
            </a:solidFill>
            <a:miter lim="400000"/>
          </a:ln>
          <a:effectLst>
            <a:outerShdw blurRad="19050" dist="0" dir="0" algn="ctr" rotWithShape="0">
              <a:srgbClr val="4F5CD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1069403" y="7536878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" dist="0" dir="0" algn="ctr" rotWithShape="0">
              <a:srgbClr val="4F5CD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Box"/>
          <p:cNvSpPr txBox="1"/>
          <p:nvPr/>
        </p:nvSpPr>
        <p:spPr>
          <a:xfrm>
            <a:off x="1200150" y="7429500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" dist="0" dir="0" algn="ctr" rotWithShape="0">
                    <a:srgbClr val="4F5CD6">
                      <a:alpha val="15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索引参数调优</a:t>
            </a:r>
          </a:p>
        </p:txBody>
      </p:sp>
      <p:sp>
        <p:nvSpPr>
          <p:cNvPr id="53" name="Rectangle"/>
          <p:cNvSpPr/>
          <p:nvPr/>
        </p:nvSpPr>
        <p:spPr>
          <a:xfrm>
            <a:off x="885825" y="7362825"/>
            <a:ext cx="6572250" cy="304800"/>
          </a:xfrm>
          <a:prstGeom prst="roundRect">
            <a:avLst>
              <a:gd name="adj" fmla="val 15625"/>
            </a:avLst>
          </a:prstGeom>
          <a:noFill/>
          <a:ln w="19050">
            <a:solidFill>
              <a:srgbClr val="4F5BD5"/>
            </a:solidFill>
            <a:miter lim="400000"/>
          </a:ln>
          <a:effectLst>
            <a:outerShdw blurRad="19050" dist="0" dir="0" algn="ctr" rotWithShape="0">
              <a:srgbClr val="4F5CD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876300" y="7848600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知识库说明</a:t>
            </a:r>
          </a:p>
        </p:txBody>
      </p:sp>
      <p:sp>
        <p:nvSpPr>
          <p:cNvPr id="55" name="Rectangle"/>
          <p:cNvSpPr/>
          <p:nvPr/>
        </p:nvSpPr>
        <p:spPr>
          <a:xfrm>
            <a:off x="876300" y="8105775"/>
            <a:ext cx="6591300" cy="81915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990600" y="8220075"/>
            <a:ext cx="39624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描述这个知识库的用途与数据范围，便于团队协作时快速理解检索边界。</a:t>
            </a:r>
          </a:p>
        </p:txBody>
      </p:sp>
      <p:sp>
        <p:nvSpPr>
          <p:cNvPr id="57" name="Rectangle"/>
          <p:cNvSpPr/>
          <p:nvPr/>
        </p:nvSpPr>
        <p:spPr>
          <a:xfrm>
            <a:off x="881063" y="8110538"/>
            <a:ext cx="6581775" cy="809625"/>
          </a:xfrm>
          <a:prstGeom prst="roundRect">
            <a:avLst>
              <a:gd name="adj" fmla="val 6470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7772400" y="6019800"/>
            <a:ext cx="11658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选择类 · Selection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7772400" y="634365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嵌入模型</a:t>
            </a:r>
          </a:p>
        </p:txBody>
      </p:sp>
      <p:sp>
        <p:nvSpPr>
          <p:cNvPr id="60" name="Rectangle"/>
          <p:cNvSpPr/>
          <p:nvPr/>
        </p:nvSpPr>
        <p:spPr>
          <a:xfrm>
            <a:off x="7772400" y="6600825"/>
            <a:ext cx="65913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7886700" y="6677025"/>
            <a:ext cx="169739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text-embedding-v4 · 1024 维</a:t>
            </a:r>
          </a:p>
        </p:txBody>
      </p:sp>
      <p:sp>
        <p:nvSpPr>
          <p:cNvPr id="62" name="Path"/>
          <p:cNvSpPr/>
          <p:nvPr/>
        </p:nvSpPr>
        <p:spPr>
          <a:xfrm>
            <a:off x="14151683" y="6741233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7777163" y="6605588"/>
            <a:ext cx="65817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7772400" y="70961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索引选项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7772400" y="7429500"/>
            <a:ext cx="16097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构建完成后自动启用知识检索</a:t>
            </a:r>
          </a:p>
        </p:txBody>
      </p:sp>
      <p:sp>
        <p:nvSpPr>
          <p:cNvPr id="66" name="Rectangle"/>
          <p:cNvSpPr/>
          <p:nvPr/>
        </p:nvSpPr>
        <p:spPr>
          <a:xfrm>
            <a:off x="14001750" y="7410450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14182725" y="74390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7772400" y="7772400"/>
            <a:ext cx="14859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允许外部插件调用检索工具</a:t>
            </a:r>
          </a:p>
        </p:txBody>
      </p:sp>
      <p:sp>
        <p:nvSpPr>
          <p:cNvPr id="69" name="Rectangle"/>
          <p:cNvSpPr/>
          <p:nvPr/>
        </p:nvSpPr>
        <p:spPr>
          <a:xfrm>
            <a:off x="14001750" y="7753350"/>
            <a:ext cx="361950" cy="209550"/>
          </a:xfrm>
          <a:prstGeom prst="roundRect">
            <a:avLst>
              <a:gd name="adj" fmla="val 50000"/>
            </a:avLst>
          </a:prstGeom>
          <a:solidFill>
            <a:srgbClr val="CBD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14030325" y="77819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"/>
          <p:cNvSpPr/>
          <p:nvPr/>
        </p:nvSpPr>
        <p:spPr>
          <a:xfrm>
            <a:off x="7772400" y="81534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Path"/>
          <p:cNvSpPr/>
          <p:nvPr/>
        </p:nvSpPr>
        <p:spPr>
          <a:xfrm>
            <a:off x="7806117" y="8198414"/>
            <a:ext cx="85099" cy="65097"/>
          </a:xfrm>
          <a:custGeom>
            <a:avLst/>
            <a:gdLst/>
            <a:ahLst/>
            <a:cxnLst/>
            <a:rect l="0" t="0" r="r" b="b"/>
            <a:pathLst>
              <a:path w="85099" h="65097">
                <a:moveTo>
                  <a:pt x="13919" y="27366"/>
                </a:moveTo>
                <a:lnTo>
                  <a:pt x="31768" y="45215"/>
                </a:lnTo>
                <a:lnTo>
                  <a:pt x="70820" y="2839"/>
                </a:lnTo>
                <a:quadBezTo>
                  <a:pt x="73049" y="277"/>
                  <a:pt x="76444" y="236"/>
                </a:quadBezTo>
                <a:quadBezTo>
                  <a:pt x="79831" y="0"/>
                  <a:pt x="82261" y="2372"/>
                </a:quadBezTo>
                <a:quadBezTo>
                  <a:pt x="84823" y="4600"/>
                  <a:pt x="84863" y="7995"/>
                </a:quadBezTo>
                <a:quadBezTo>
                  <a:pt x="85099" y="11383"/>
                  <a:pt x="82728" y="13812"/>
                </a:quadBezTo>
                <a:lnTo>
                  <a:pt x="37960" y="62390"/>
                </a:lnTo>
                <a:quadBezTo>
                  <a:pt x="37904" y="62450"/>
                  <a:pt x="37847" y="62510"/>
                </a:quadBezTo>
                <a:quadBezTo>
                  <a:pt x="37790" y="62570"/>
                  <a:pt x="37731" y="62628"/>
                </a:quadBezTo>
                <a:quadBezTo>
                  <a:pt x="35400" y="65097"/>
                  <a:pt x="32006" y="64999"/>
                </a:quadBezTo>
                <a:quadBezTo>
                  <a:pt x="28612" y="65097"/>
                  <a:pt x="26282" y="62628"/>
                </a:quadBezTo>
                <a:lnTo>
                  <a:pt x="2469" y="38815"/>
                </a:lnTo>
                <a:quadBezTo>
                  <a:pt x="0" y="36485"/>
                  <a:pt x="98" y="33091"/>
                </a:quadBezTo>
                <a:quadBezTo>
                  <a:pt x="0" y="29696"/>
                  <a:pt x="2469" y="27366"/>
                </a:quadBezTo>
                <a:quadBezTo>
                  <a:pt x="4800" y="24897"/>
                  <a:pt x="8194" y="24994"/>
                </a:quadBezTo>
                <a:quadBezTo>
                  <a:pt x="11588" y="24897"/>
                  <a:pt x="13919" y="2736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8001000" y="8134350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解析文档中的表格</a:t>
            </a:r>
          </a:p>
        </p:txBody>
      </p:sp>
      <p:sp>
        <p:nvSpPr>
          <p:cNvPr id="74" name="Rectangle"/>
          <p:cNvSpPr/>
          <p:nvPr/>
        </p:nvSpPr>
        <p:spPr>
          <a:xfrm>
            <a:off x="7779068" y="8474393"/>
            <a:ext cx="139065" cy="139065"/>
          </a:xfrm>
          <a:prstGeom prst="roundRect">
            <a:avLst>
              <a:gd name="adj" fmla="val 24657"/>
            </a:avLst>
          </a:prstGeom>
          <a:noFill/>
          <a:ln w="1333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Box"/>
          <p:cNvSpPr txBox="1"/>
          <p:nvPr/>
        </p:nvSpPr>
        <p:spPr>
          <a:xfrm>
            <a:off x="8001000" y="8448675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保留页眉页脚文本</a:t>
            </a:r>
          </a:p>
        </p:txBody>
      </p:sp>
      <p:sp>
        <p:nvSpPr>
          <p:cNvPr id="76" name="Ellipse"/>
          <p:cNvSpPr/>
          <p:nvPr/>
        </p:nvSpPr>
        <p:spPr>
          <a:xfrm>
            <a:off x="7779068" y="8788718"/>
            <a:ext cx="139065" cy="139065"/>
          </a:xfrm>
          <a:prstGeom prst="ellipse">
            <a:avLst/>
          </a:prstGeom>
          <a:noFill/>
          <a:ln w="13335">
            <a:solidFill>
              <a:srgbClr val="4F5BD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7" name="Ellipse"/>
          <p:cNvSpPr/>
          <p:nvPr/>
        </p:nvSpPr>
        <p:spPr>
          <a:xfrm>
            <a:off x="7814310" y="8823960"/>
            <a:ext cx="68580" cy="68580"/>
          </a:xfrm>
          <a:prstGeom prst="ellipse">
            <a:avLst/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"/>
          <p:cNvSpPr txBox="1"/>
          <p:nvPr/>
        </p:nvSpPr>
        <p:spPr>
          <a:xfrm>
            <a:off x="8001000" y="8763000"/>
            <a:ext cx="136145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按段落切分 · 512 token</a:t>
            </a:r>
          </a:p>
        </p:txBody>
      </p:sp>
      <p:sp>
        <p:nvSpPr>
          <p:cNvPr id="79" name="Ellipse"/>
          <p:cNvSpPr/>
          <p:nvPr/>
        </p:nvSpPr>
        <p:spPr>
          <a:xfrm>
            <a:off x="7779068" y="9103043"/>
            <a:ext cx="139065" cy="139065"/>
          </a:xfrm>
          <a:prstGeom prst="ellipse">
            <a:avLst/>
          </a:prstGeom>
          <a:noFill/>
          <a:ln w="1333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8001000" y="9077325"/>
            <a:ext cx="1430179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按语义切分 · 1024 token</a:t>
            </a:r>
          </a:p>
        </p:txBody>
      </p:sp>
      <p:sp>
        <p:nvSpPr>
          <p:cNvPr id="81" name="Rectangle"/>
          <p:cNvSpPr/>
          <p:nvPr/>
        </p:nvSpPr>
        <p:spPr>
          <a:xfrm>
            <a:off x="614363" y="5062538"/>
            <a:ext cx="14011275" cy="4457700"/>
          </a:xfrm>
          <a:prstGeom prst="roundRect">
            <a:avLst>
              <a:gd name="adj" fmla="val 2457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"/>
          <p:cNvSpPr/>
          <p:nvPr/>
        </p:nvSpPr>
        <p:spPr>
          <a:xfrm>
            <a:off x="609600" y="9715500"/>
            <a:ext cx="14020800" cy="3181350"/>
          </a:xfrm>
          <a:prstGeom prst="roundRect">
            <a:avLst>
              <a:gd name="adj" fmla="val 359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876300" y="9982200"/>
            <a:ext cx="1524000" cy="219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标签、状态与切换控件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876300" y="10258425"/>
            <a:ext cx="612488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状态胶囊必须携带文字，颜色只作辅助；计数徽标超过两位显示 99+；图标按钮必须提供 tooltip 与可访问名称。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876300" y="10677525"/>
            <a:ext cx="1417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状态胶囊 · Status Pill</a:t>
            </a:r>
          </a:p>
        </p:txBody>
      </p:sp>
      <p:sp>
        <p:nvSpPr>
          <p:cNvPr id="86" name="Rectangle"/>
          <p:cNvSpPr/>
          <p:nvPr/>
        </p:nvSpPr>
        <p:spPr>
          <a:xfrm>
            <a:off x="876300" y="1096327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"/>
          <p:cNvSpPr/>
          <p:nvPr/>
        </p:nvSpPr>
        <p:spPr>
          <a:xfrm>
            <a:off x="971550" y="1104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1104900" y="11010900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E6E64"/>
                </a:solidFill>
                <a:latin typeface="Noto Sans SC"/>
                <a:ea typeface="Noto Sans SC"/>
                <a:cs typeface="Noto Sans SC"/>
              </a:rPr>
              <a:t>就绪</a:t>
            </a:r>
          </a:p>
        </p:txBody>
      </p:sp>
      <p:sp>
        <p:nvSpPr>
          <p:cNvPr id="89" name="Rectangle"/>
          <p:cNvSpPr/>
          <p:nvPr/>
        </p:nvSpPr>
        <p:spPr>
          <a:xfrm>
            <a:off x="881063" y="10968038"/>
            <a:ext cx="542925" cy="2381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"/>
          <p:cNvSpPr/>
          <p:nvPr/>
        </p:nvSpPr>
        <p:spPr>
          <a:xfrm>
            <a:off x="1524000" y="1096327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"/>
          <p:cNvSpPr/>
          <p:nvPr/>
        </p:nvSpPr>
        <p:spPr>
          <a:xfrm>
            <a:off x="1619250" y="1104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1752600" y="11010900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A6A38"/>
                </a:solidFill>
                <a:latin typeface="Noto Sans SC"/>
                <a:ea typeface="Noto Sans SC"/>
                <a:cs typeface="Noto Sans SC"/>
              </a:rPr>
              <a:t>构建中</a:t>
            </a:r>
          </a:p>
        </p:txBody>
      </p:sp>
      <p:sp>
        <p:nvSpPr>
          <p:cNvPr id="93" name="Rectangle"/>
          <p:cNvSpPr/>
          <p:nvPr/>
        </p:nvSpPr>
        <p:spPr>
          <a:xfrm>
            <a:off x="1528763" y="10968038"/>
            <a:ext cx="657225" cy="2381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0DCB4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4" name="Rectangle"/>
          <p:cNvSpPr/>
          <p:nvPr/>
        </p:nvSpPr>
        <p:spPr>
          <a:xfrm>
            <a:off x="2286000" y="1096327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FCEA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2381250" y="1104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2514600" y="11010900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E4257"/>
                </a:solidFill>
                <a:latin typeface="Noto Sans SC"/>
                <a:ea typeface="Noto Sans SC"/>
                <a:cs typeface="Noto Sans SC"/>
              </a:rPr>
              <a:t>失败</a:t>
            </a:r>
          </a:p>
        </p:txBody>
      </p:sp>
      <p:sp>
        <p:nvSpPr>
          <p:cNvPr id="97" name="Rectangle"/>
          <p:cNvSpPr/>
          <p:nvPr/>
        </p:nvSpPr>
        <p:spPr>
          <a:xfrm>
            <a:off x="2290763" y="10968038"/>
            <a:ext cx="542925" cy="2381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6D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"/>
          <p:cNvSpPr/>
          <p:nvPr/>
        </p:nvSpPr>
        <p:spPr>
          <a:xfrm>
            <a:off x="2933700" y="10963275"/>
            <a:ext cx="666750" cy="247650"/>
          </a:xfrm>
          <a:prstGeom prst="roundRect">
            <a:avLst>
              <a:gd name="adj" fmla="val 50000"/>
            </a:avLst>
          </a:prstGeom>
          <a:solidFill>
            <a:srgbClr val="F0F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"/>
          <p:cNvSpPr/>
          <p:nvPr/>
        </p:nvSpPr>
        <p:spPr>
          <a:xfrm>
            <a:off x="3028950" y="11049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8A93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"/>
          <p:cNvSpPr txBox="1"/>
          <p:nvPr/>
        </p:nvSpPr>
        <p:spPr>
          <a:xfrm>
            <a:off x="3162300" y="11010900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待构建</a:t>
            </a:r>
          </a:p>
        </p:txBody>
      </p:sp>
      <p:sp>
        <p:nvSpPr>
          <p:cNvPr id="101" name="Rectangle"/>
          <p:cNvSpPr/>
          <p:nvPr/>
        </p:nvSpPr>
        <p:spPr>
          <a:xfrm>
            <a:off x="2938463" y="10968038"/>
            <a:ext cx="657225" cy="2381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CE0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5476875" y="10677525"/>
            <a:ext cx="15316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标签与徽标 · Tag &amp; Badge</a:t>
            </a:r>
          </a:p>
        </p:txBody>
      </p:sp>
      <p:sp>
        <p:nvSpPr>
          <p:cNvPr id="103" name="Rectangle"/>
          <p:cNvSpPr/>
          <p:nvPr/>
        </p:nvSpPr>
        <p:spPr>
          <a:xfrm>
            <a:off x="5476875" y="10963275"/>
            <a:ext cx="771525" cy="247650"/>
          </a:xfrm>
          <a:prstGeom prst="roundRect">
            <a:avLst>
              <a:gd name="adj" fmla="val 23076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Box"/>
          <p:cNvSpPr txBox="1"/>
          <p:nvPr/>
        </p:nvSpPr>
        <p:spPr>
          <a:xfrm>
            <a:off x="5572125" y="11010900"/>
            <a:ext cx="5771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Markdown</a:t>
            </a:r>
          </a:p>
        </p:txBody>
      </p:sp>
      <p:sp>
        <p:nvSpPr>
          <p:cNvPr id="105" name="Rectangle"/>
          <p:cNvSpPr/>
          <p:nvPr/>
        </p:nvSpPr>
        <p:spPr>
          <a:xfrm>
            <a:off x="6343650" y="10963275"/>
            <a:ext cx="1028700" cy="247650"/>
          </a:xfrm>
          <a:prstGeom prst="roundRect">
            <a:avLst>
              <a:gd name="adj" fmla="val 23076"/>
            </a:avLst>
          </a:prstGeom>
          <a:solidFill>
            <a:srgbClr val="EEF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Box"/>
          <p:cNvSpPr txBox="1"/>
          <p:nvPr/>
        </p:nvSpPr>
        <p:spPr>
          <a:xfrm>
            <a:off x="6438900" y="11010900"/>
            <a:ext cx="8341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Noto Sans SC"/>
                <a:ea typeface="Noto Sans SC"/>
                <a:cs typeface="Noto Sans SC"/>
              </a:rPr>
              <a:t>PDF · 128 分片</a:t>
            </a:r>
          </a:p>
        </p:txBody>
      </p:sp>
      <p:sp>
        <p:nvSpPr>
          <p:cNvPr id="107" name="Rectangle"/>
          <p:cNvSpPr/>
          <p:nvPr/>
        </p:nvSpPr>
        <p:spPr>
          <a:xfrm>
            <a:off x="7467600" y="10963275"/>
            <a:ext cx="1076325" cy="247650"/>
          </a:xfrm>
          <a:prstGeom prst="roundRect">
            <a:avLst>
              <a:gd name="adj" fmla="val 23076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7562850" y="11010900"/>
            <a:ext cx="7256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product-docs</a:t>
            </a:r>
          </a:p>
        </p:txBody>
      </p:sp>
      <p:sp>
        <p:nvSpPr>
          <p:cNvPr id="109" name="Path"/>
          <p:cNvSpPr/>
          <p:nvPr/>
        </p:nvSpPr>
        <p:spPr>
          <a:xfrm>
            <a:off x="8377157" y="11053682"/>
            <a:ext cx="66836" cy="66836"/>
          </a:xfrm>
          <a:custGeom>
            <a:avLst/>
            <a:gdLst/>
            <a:ahLst/>
            <a:cxnLst/>
            <a:rect l="0" t="0" r="r" b="b"/>
            <a:pathLst>
              <a:path w="66836" h="66836">
                <a:moveTo>
                  <a:pt x="64803" y="11463"/>
                </a:moveTo>
                <a:lnTo>
                  <a:pt x="42847" y="33418"/>
                </a:lnTo>
                <a:lnTo>
                  <a:pt x="64803" y="55373"/>
                </a:lnTo>
                <a:quadBezTo>
                  <a:pt x="66836" y="57293"/>
                  <a:pt x="66755" y="60088"/>
                </a:quadBezTo>
                <a:quadBezTo>
                  <a:pt x="66836" y="62883"/>
                  <a:pt x="64803" y="64803"/>
                </a:quadBezTo>
                <a:quadBezTo>
                  <a:pt x="62883" y="66836"/>
                  <a:pt x="60088" y="66755"/>
                </a:quadBezTo>
                <a:quadBezTo>
                  <a:pt x="57293" y="66836"/>
                  <a:pt x="55373" y="64803"/>
                </a:quadBezTo>
                <a:lnTo>
                  <a:pt x="33418" y="42847"/>
                </a:lnTo>
                <a:lnTo>
                  <a:pt x="11463" y="64803"/>
                </a:lnTo>
                <a:quadBezTo>
                  <a:pt x="9543" y="66836"/>
                  <a:pt x="6748" y="66755"/>
                </a:quadBezTo>
                <a:quadBezTo>
                  <a:pt x="3953" y="66836"/>
                  <a:pt x="2033" y="64803"/>
                </a:quadBezTo>
                <a:quadBezTo>
                  <a:pt x="0" y="62883"/>
                  <a:pt x="80" y="60088"/>
                </a:quadBezTo>
                <a:quadBezTo>
                  <a:pt x="0" y="57293"/>
                  <a:pt x="2033" y="55373"/>
                </a:quadBezTo>
                <a:lnTo>
                  <a:pt x="23989" y="33418"/>
                </a:ln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lnTo>
                  <a:pt x="33418" y="23989"/>
                </a:lnTo>
                <a:lnTo>
                  <a:pt x="55373" y="2033"/>
                </a:lnTo>
                <a:quadBezTo>
                  <a:pt x="57293" y="0"/>
                  <a:pt x="60088" y="80"/>
                </a:quadBezTo>
                <a:quadBezTo>
                  <a:pt x="62883" y="0"/>
                  <a:pt x="64803" y="2033"/>
                </a:quadBezTo>
                <a:quadBezTo>
                  <a:pt x="66836" y="3953"/>
                  <a:pt x="66755" y="6748"/>
                </a:quadBezTo>
                <a:quadBezTo>
                  <a:pt x="66836" y="9543"/>
                  <a:pt x="64803" y="11463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"/>
          <p:cNvSpPr/>
          <p:nvPr/>
        </p:nvSpPr>
        <p:spPr>
          <a:xfrm>
            <a:off x="8639175" y="10963275"/>
            <a:ext cx="266700" cy="190500"/>
          </a:xfrm>
          <a:prstGeom prst="roundRect">
            <a:avLst>
              <a:gd name="adj" fmla="val 50000"/>
            </a:avLst>
          </a:pr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"/>
          <p:cNvSpPr txBox="1"/>
          <p:nvPr/>
        </p:nvSpPr>
        <p:spPr>
          <a:xfrm>
            <a:off x="8705850" y="109918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112" name="Rectangle"/>
          <p:cNvSpPr/>
          <p:nvPr/>
        </p:nvSpPr>
        <p:spPr>
          <a:xfrm>
            <a:off x="9001125" y="10963275"/>
            <a:ext cx="323850" cy="1905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Box"/>
          <p:cNvSpPr txBox="1"/>
          <p:nvPr/>
        </p:nvSpPr>
        <p:spPr>
          <a:xfrm>
            <a:off x="9067800" y="109918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99+</a:t>
            </a:r>
          </a:p>
        </p:txBody>
      </p:sp>
      <p:sp>
        <p:nvSpPr>
          <p:cNvPr id="114" name="TextBox"/>
          <p:cNvSpPr txBox="1"/>
          <p:nvPr/>
        </p:nvSpPr>
        <p:spPr>
          <a:xfrm>
            <a:off x="10067925" y="10677525"/>
            <a:ext cx="233171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图标按钮与分段控件 · Icon &amp; Segmented</a:t>
            </a:r>
          </a:p>
        </p:txBody>
      </p:sp>
      <p:sp>
        <p:nvSpPr>
          <p:cNvPr id="115" name="Rectangle"/>
          <p:cNvSpPr/>
          <p:nvPr/>
        </p:nvSpPr>
        <p:spPr>
          <a:xfrm>
            <a:off x="10067925" y="109632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Ellipse"/>
          <p:cNvSpPr/>
          <p:nvPr/>
        </p:nvSpPr>
        <p:spPr>
          <a:xfrm>
            <a:off x="10179367" y="11074717"/>
            <a:ext cx="85725" cy="85725"/>
          </a:xfrm>
          <a:prstGeom prst="ellipse">
            <a:avLst/>
          </a:prstGeom>
          <a:noFill/>
          <a:ln w="14288">
            <a:solidFill>
              <a:srgbClr val="5B647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7" name="Path"/>
          <p:cNvSpPr/>
          <p:nvPr/>
        </p:nvSpPr>
        <p:spPr>
          <a:xfrm>
            <a:off x="10247385" y="11142735"/>
            <a:ext cx="43035" cy="43035"/>
          </a:xfrm>
          <a:custGeom>
            <a:avLst/>
            <a:gdLst/>
            <a:ahLst/>
            <a:cxnLst/>
            <a:rect l="0" t="0" r="r" b="b"/>
            <a:pathLst>
              <a:path w="43035" h="43035">
                <a:moveTo>
                  <a:pt x="12281" y="2179"/>
                </a:moveTo>
                <a:lnTo>
                  <a:pt x="40856" y="30754"/>
                </a:lnTo>
                <a:quadBezTo>
                  <a:pt x="43035" y="32810"/>
                  <a:pt x="42949" y="35805"/>
                </a:quadBezTo>
                <a:quadBezTo>
                  <a:pt x="43035" y="38800"/>
                  <a:pt x="40856" y="40856"/>
                </a:quadBezTo>
                <a:quadBezTo>
                  <a:pt x="38800" y="43035"/>
                  <a:pt x="35805" y="42949"/>
                </a:quadBezTo>
                <a:quadBezTo>
                  <a:pt x="32810" y="43035"/>
                  <a:pt x="30754" y="40856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Rectangle"/>
          <p:cNvSpPr/>
          <p:nvPr/>
        </p:nvSpPr>
        <p:spPr>
          <a:xfrm>
            <a:off x="10072688" y="10968038"/>
            <a:ext cx="3143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9" name="Rectangle"/>
          <p:cNvSpPr/>
          <p:nvPr/>
        </p:nvSpPr>
        <p:spPr>
          <a:xfrm>
            <a:off x="10467975" y="109632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Path"/>
          <p:cNvSpPr/>
          <p:nvPr/>
        </p:nvSpPr>
        <p:spPr>
          <a:xfrm>
            <a:off x="10578855" y="11074155"/>
            <a:ext cx="102090" cy="102090"/>
          </a:xfrm>
          <a:custGeom>
            <a:avLst/>
            <a:gdLst/>
            <a:ahLst/>
            <a:cxnLst/>
            <a:rect l="0" t="0" r="r" b="b"/>
            <a:pathLst>
              <a:path w="102090" h="102090">
                <a:moveTo>
                  <a:pt x="58189" y="7230"/>
                </a:moveTo>
                <a:lnTo>
                  <a:pt x="58189" y="43901"/>
                </a:lnTo>
                <a:lnTo>
                  <a:pt x="94860" y="43901"/>
                </a:lnTo>
                <a:quadBezTo>
                  <a:pt x="97855" y="43815"/>
                  <a:pt x="99911" y="45994"/>
                </a:quadBezTo>
                <a:quadBezTo>
                  <a:pt x="102090" y="48050"/>
                  <a:pt x="102004" y="51045"/>
                </a:quadBezTo>
                <a:quadBezTo>
                  <a:pt x="102090" y="54040"/>
                  <a:pt x="99911" y="56096"/>
                </a:quadBezTo>
                <a:quadBezTo>
                  <a:pt x="97855" y="58275"/>
                  <a:pt x="94860" y="58189"/>
                </a:quadBezTo>
                <a:lnTo>
                  <a:pt x="58189" y="58189"/>
                </a:lnTo>
                <a:lnTo>
                  <a:pt x="58189" y="94860"/>
                </a:lnTo>
                <a:quadBezTo>
                  <a:pt x="58275" y="97855"/>
                  <a:pt x="56096" y="99911"/>
                </a:quadBezTo>
                <a:quadBezTo>
                  <a:pt x="54040" y="102090"/>
                  <a:pt x="51045" y="102004"/>
                </a:quadBezTo>
                <a:quadBezTo>
                  <a:pt x="48050" y="102090"/>
                  <a:pt x="45994" y="99911"/>
                </a:quadBezTo>
                <a:quadBezTo>
                  <a:pt x="43815" y="97855"/>
                  <a:pt x="43901" y="94860"/>
                </a:quadBezTo>
                <a:lnTo>
                  <a:pt x="43901" y="58189"/>
                </a:lnTo>
                <a:lnTo>
                  <a:pt x="7230" y="58189"/>
                </a:lnTo>
                <a:quadBezTo>
                  <a:pt x="4235" y="58275"/>
                  <a:pt x="2179" y="56096"/>
                </a:quadBezTo>
                <a:quadBezTo>
                  <a:pt x="0" y="54040"/>
                  <a:pt x="86" y="51045"/>
                </a:quadBezTo>
                <a:quadBezTo>
                  <a:pt x="0" y="48050"/>
                  <a:pt x="2179" y="45994"/>
                </a:quadBezTo>
                <a:quadBezTo>
                  <a:pt x="4235" y="43815"/>
                  <a:pt x="7230" y="43901"/>
                </a:quadBezTo>
                <a:lnTo>
                  <a:pt x="43901" y="43901"/>
                </a:lnTo>
                <a:lnTo>
                  <a:pt x="43901" y="7230"/>
                </a:lnTo>
                <a:quadBezTo>
                  <a:pt x="43815" y="4235"/>
                  <a:pt x="45994" y="2179"/>
                </a:quadBezTo>
                <a:quadBezTo>
                  <a:pt x="48050" y="0"/>
                  <a:pt x="51045" y="86"/>
                </a:quadBezTo>
                <a:quadBezTo>
                  <a:pt x="54040" y="0"/>
                  <a:pt x="56096" y="2179"/>
                </a:quadBezTo>
                <a:quadBezTo>
                  <a:pt x="58275" y="4235"/>
                  <a:pt x="58189" y="7230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Rectangle"/>
          <p:cNvSpPr/>
          <p:nvPr/>
        </p:nvSpPr>
        <p:spPr>
          <a:xfrm>
            <a:off x="10472738" y="10968038"/>
            <a:ext cx="3143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10868025" y="109632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Path"/>
          <p:cNvSpPr/>
          <p:nvPr/>
        </p:nvSpPr>
        <p:spPr>
          <a:xfrm>
            <a:off x="10966982" y="11065092"/>
            <a:ext cx="119993" cy="122159"/>
          </a:xfrm>
          <a:custGeom>
            <a:avLst/>
            <a:gdLst/>
            <a:ahLst/>
            <a:cxnLst/>
            <a:rect l="0" t="0" r="r" b="b"/>
            <a:pathLst>
              <a:path w="119993" h="122159">
                <a:moveTo>
                  <a:pt x="119361" y="59798"/>
                </a:moveTo>
                <a:quadBezTo>
                  <a:pt x="119993" y="87228"/>
                  <a:pt x="98831" y="104693"/>
                </a:quadBezTo>
                <a:quadBezTo>
                  <a:pt x="77669" y="122159"/>
                  <a:pt x="50853" y="116341"/>
                </a:quadBezTo>
                <a:quadBezTo>
                  <a:pt x="24037" y="110522"/>
                  <a:pt x="12019" y="85858"/>
                </a:quadBezTo>
                <a:quadBezTo>
                  <a:pt x="0" y="61192"/>
                  <a:pt x="11947" y="36492"/>
                </a:quadBezTo>
                <a:quadBezTo>
                  <a:pt x="23893" y="11792"/>
                  <a:pt x="50692" y="5896"/>
                </a:quadBezTo>
                <a:quadBezTo>
                  <a:pt x="77491" y="0"/>
                  <a:pt x="98704" y="17404"/>
                </a:quadBezTo>
                <a:quadBezTo>
                  <a:pt x="101074" y="19237"/>
                  <a:pt x="101282" y="22225"/>
                </a:quadBezTo>
                <a:quadBezTo>
                  <a:pt x="101662" y="25197"/>
                  <a:pt x="99695" y="27458"/>
                </a:quadBezTo>
                <a:quadBezTo>
                  <a:pt x="97863" y="29828"/>
                  <a:pt x="94874" y="30036"/>
                </a:quadBezTo>
                <a:quadBezTo>
                  <a:pt x="91902" y="30415"/>
                  <a:pt x="89641" y="28449"/>
                </a:quadBezTo>
                <a:quadBezTo>
                  <a:pt x="73789" y="15444"/>
                  <a:pt x="53762" y="19850"/>
                </a:quadBezTo>
                <a:quadBezTo>
                  <a:pt x="33736" y="24256"/>
                  <a:pt x="24809" y="42713"/>
                </a:quadBezTo>
                <a:quadBezTo>
                  <a:pt x="15882" y="61169"/>
                  <a:pt x="24862" y="79599"/>
                </a:quadBezTo>
                <a:quadBezTo>
                  <a:pt x="33843" y="98030"/>
                  <a:pt x="53882" y="102378"/>
                </a:quadBezTo>
                <a:quadBezTo>
                  <a:pt x="73922" y="106726"/>
                  <a:pt x="89736" y="93674"/>
                </a:quadBezTo>
                <a:quadBezTo>
                  <a:pt x="105550" y="80623"/>
                  <a:pt x="105077" y="60127"/>
                </a:quadBezTo>
                <a:quadBezTo>
                  <a:pt x="104922" y="57135"/>
                  <a:pt x="107053" y="55029"/>
                </a:quadBezTo>
                <a:quadBezTo>
                  <a:pt x="109058" y="52804"/>
                  <a:pt x="112054" y="52821"/>
                </a:quadBezTo>
                <a:quadBezTo>
                  <a:pt x="115046" y="52666"/>
                  <a:pt x="117153" y="54796"/>
                </a:quadBezTo>
                <a:quadBezTo>
                  <a:pt x="119378" y="56802"/>
                  <a:pt x="119361" y="59798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Path"/>
          <p:cNvSpPr/>
          <p:nvPr/>
        </p:nvSpPr>
        <p:spPr>
          <a:xfrm>
            <a:off x="11051295" y="11064630"/>
            <a:ext cx="36367" cy="36367"/>
          </a:xfrm>
          <a:custGeom>
            <a:avLst/>
            <a:gdLst/>
            <a:ahLst/>
            <a:cxnLst/>
            <a:rect l="0" t="0" r="r" b="b"/>
            <a:pathLst>
              <a:path w="36367" h="36367">
                <a:moveTo>
                  <a:pt x="36281" y="7230"/>
                </a:moveTo>
                <a:lnTo>
                  <a:pt x="36281" y="29137"/>
                </a:lnTo>
                <a:quadBezTo>
                  <a:pt x="36367" y="32132"/>
                  <a:pt x="34189" y="34189"/>
                </a:quadBezTo>
                <a:quadBezTo>
                  <a:pt x="32132" y="36367"/>
                  <a:pt x="29137" y="36281"/>
                </a:quadBezTo>
                <a:lnTo>
                  <a:pt x="7230" y="36281"/>
                </a:lnTo>
                <a:quadBezTo>
                  <a:pt x="4235" y="36367"/>
                  <a:pt x="2179" y="34189"/>
                </a:quadBezTo>
                <a:quadBezTo>
                  <a:pt x="0" y="32132"/>
                  <a:pt x="86" y="29137"/>
                </a:quadBezTo>
                <a:quadBezTo>
                  <a:pt x="0" y="26143"/>
                  <a:pt x="2179" y="24086"/>
                </a:quadBezTo>
                <a:quadBezTo>
                  <a:pt x="4235" y="21907"/>
                  <a:pt x="7230" y="21994"/>
                </a:quadBezTo>
                <a:lnTo>
                  <a:pt x="21994" y="21994"/>
                </a:lnTo>
                <a:lnTo>
                  <a:pt x="21994" y="7230"/>
                </a:lnTo>
                <a:quadBezTo>
                  <a:pt x="21907" y="4235"/>
                  <a:pt x="24086" y="2179"/>
                </a:quadBezTo>
                <a:quadBezTo>
                  <a:pt x="26143" y="0"/>
                  <a:pt x="29137" y="86"/>
                </a:quadBezTo>
                <a:quadBezTo>
                  <a:pt x="32132" y="0"/>
                  <a:pt x="34189" y="2179"/>
                </a:quadBezTo>
                <a:quadBezTo>
                  <a:pt x="36367" y="4235"/>
                  <a:pt x="36281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Rectangle"/>
          <p:cNvSpPr/>
          <p:nvPr/>
        </p:nvSpPr>
        <p:spPr>
          <a:xfrm>
            <a:off x="11268075" y="109632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Path"/>
          <p:cNvSpPr/>
          <p:nvPr/>
        </p:nvSpPr>
        <p:spPr>
          <a:xfrm>
            <a:off x="11378955" y="11085585"/>
            <a:ext cx="102090" cy="14460"/>
          </a:xfrm>
          <a:custGeom>
            <a:avLst/>
            <a:gdLst/>
            <a:ahLst/>
            <a:cxnLst/>
            <a:rect l="0" t="0" r="r" b="b"/>
            <a:pathLst>
              <a:path w="102090" h="14460">
                <a:moveTo>
                  <a:pt x="7230" y="86"/>
                </a:moveTo>
                <a:lnTo>
                  <a:pt x="94860" y="86"/>
                </a:lnTo>
                <a:quadBezTo>
                  <a:pt x="97855" y="0"/>
                  <a:pt x="99911" y="2179"/>
                </a:quadBezTo>
                <a:quadBezTo>
                  <a:pt x="102090" y="4235"/>
                  <a:pt x="102004" y="7230"/>
                </a:quadBezTo>
                <a:quadBezTo>
                  <a:pt x="102090" y="10225"/>
                  <a:pt x="99911" y="12281"/>
                </a:quadBezTo>
                <a:quadBezTo>
                  <a:pt x="97855" y="14460"/>
                  <a:pt x="9486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Path"/>
          <p:cNvSpPr/>
          <p:nvPr/>
        </p:nvSpPr>
        <p:spPr>
          <a:xfrm>
            <a:off x="11408092" y="11068049"/>
            <a:ext cx="43815" cy="24765"/>
          </a:xfrm>
          <a:custGeom>
            <a:avLst/>
            <a:gdLst/>
            <a:ahLst/>
            <a:cxnLst/>
            <a:rect l="0" t="0" r="r" b="b"/>
            <a:pathLst>
              <a:path w="43815" h="24765">
                <a:moveTo>
                  <a:pt x="0" y="24765"/>
                </a:moveTo>
                <a:lnTo>
                  <a:pt x="0" y="15240"/>
                </a:lnTo>
                <a:quadBezTo>
                  <a:pt x="0" y="8906"/>
                  <a:pt x="4453" y="4453"/>
                </a:quadBezTo>
                <a:quadBezTo>
                  <a:pt x="8906" y="0"/>
                  <a:pt x="15240" y="0"/>
                </a:quadBezTo>
                <a:lnTo>
                  <a:pt x="28575" y="0"/>
                </a:lnTo>
                <a:quadBezTo>
                  <a:pt x="34909" y="0"/>
                  <a:pt x="39362" y="4453"/>
                </a:quadBezTo>
                <a:quadBezTo>
                  <a:pt x="43815" y="8906"/>
                  <a:pt x="43815" y="15240"/>
                </a:quadBezTo>
                <a:lnTo>
                  <a:pt x="43815" y="24765"/>
                </a:lnTo>
                <a:lnTo>
                  <a:pt x="30480" y="24765"/>
                </a:lnTo>
                <a:lnTo>
                  <a:pt x="30480" y="15240"/>
                </a:lnTo>
                <a:quadBezTo>
                  <a:pt x="30480" y="13335"/>
                  <a:pt x="28575" y="13335"/>
                </a:quadBezTo>
                <a:lnTo>
                  <a:pt x="15240" y="13335"/>
                </a:lnTo>
                <a:quadBezTo>
                  <a:pt x="13335" y="13335"/>
                  <a:pt x="13335" y="15240"/>
                </a:quadBezTo>
                <a:lnTo>
                  <a:pt x="13335" y="24765"/>
                </a:lnTo>
                <a:lnTo>
                  <a:pt x="0" y="24765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Path"/>
          <p:cNvSpPr/>
          <p:nvPr/>
        </p:nvSpPr>
        <p:spPr>
          <a:xfrm>
            <a:off x="11393558" y="11085900"/>
            <a:ext cx="72885" cy="96450"/>
          </a:xfrm>
          <a:custGeom>
            <a:avLst/>
            <a:gdLst/>
            <a:ahLst/>
            <a:cxnLst/>
            <a:rect l="0" t="0" r="r" b="b"/>
            <a:pathLst>
              <a:path w="72885" h="96450">
                <a:moveTo>
                  <a:pt x="13568" y="6483"/>
                </a:moveTo>
                <a:lnTo>
                  <a:pt x="18306" y="79439"/>
                </a:lnTo>
                <a:quadBezTo>
                  <a:pt x="19063" y="83115"/>
                  <a:pt x="23107" y="83115"/>
                </a:quadBezTo>
                <a:lnTo>
                  <a:pt x="49777" y="83115"/>
                </a:lnTo>
                <a:quadBezTo>
                  <a:pt x="53822" y="83115"/>
                  <a:pt x="54579" y="79439"/>
                </a:quadBezTo>
                <a:lnTo>
                  <a:pt x="59316" y="6483"/>
                </a:lnTo>
                <a:quadBezTo>
                  <a:pt x="59417" y="3688"/>
                  <a:pt x="61571" y="1905"/>
                </a:quadBezTo>
                <a:quadBezTo>
                  <a:pt x="63618" y="0"/>
                  <a:pt x="66402" y="261"/>
                </a:quadBezTo>
                <a:quadBezTo>
                  <a:pt x="69196" y="362"/>
                  <a:pt x="70980" y="2516"/>
                </a:quadBezTo>
                <a:quadBezTo>
                  <a:pt x="72885" y="4563"/>
                  <a:pt x="72623" y="7347"/>
                </a:quadBezTo>
                <a:lnTo>
                  <a:pt x="67839" y="81023"/>
                </a:lnTo>
                <a:lnTo>
                  <a:pt x="67784" y="81354"/>
                </a:lnTo>
                <a:quadBezTo>
                  <a:pt x="66665" y="88071"/>
                  <a:pt x="61517" y="92310"/>
                </a:quadBezTo>
                <a:quadBezTo>
                  <a:pt x="56490" y="96450"/>
                  <a:pt x="49777" y="96450"/>
                </a:quadBezTo>
                <a:lnTo>
                  <a:pt x="23107" y="96450"/>
                </a:lnTo>
                <a:quadBezTo>
                  <a:pt x="16395" y="96450"/>
                  <a:pt x="11368" y="92310"/>
                </a:quadBezTo>
                <a:quadBezTo>
                  <a:pt x="6220" y="88071"/>
                  <a:pt x="5101" y="81354"/>
                </a:quadBezTo>
                <a:lnTo>
                  <a:pt x="5046" y="81023"/>
                </a:lnTo>
                <a:lnTo>
                  <a:pt x="5024" y="80689"/>
                </a:lnTo>
                <a:lnTo>
                  <a:pt x="261" y="7347"/>
                </a:lnTo>
                <a:quadBezTo>
                  <a:pt x="0" y="4563"/>
                  <a:pt x="1905" y="2516"/>
                </a:quadBezTo>
                <a:quadBezTo>
                  <a:pt x="3688" y="362"/>
                  <a:pt x="6483" y="261"/>
                </a:quadBezTo>
                <a:quadBezTo>
                  <a:pt x="9267" y="0"/>
                  <a:pt x="11314" y="1905"/>
                </a:quadBezTo>
                <a:quadBezTo>
                  <a:pt x="13468" y="3688"/>
                  <a:pt x="13568" y="6483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"/>
          <p:cNvSpPr/>
          <p:nvPr/>
        </p:nvSpPr>
        <p:spPr>
          <a:xfrm>
            <a:off x="11272838" y="10968038"/>
            <a:ext cx="3143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Box"/>
          <p:cNvSpPr txBox="1"/>
          <p:nvPr/>
        </p:nvSpPr>
        <p:spPr>
          <a:xfrm>
            <a:off x="10067925" y="11420475"/>
            <a:ext cx="11734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分段控件 · Segmented</a:t>
            </a:r>
          </a:p>
        </p:txBody>
      </p:sp>
      <p:sp>
        <p:nvSpPr>
          <p:cNvPr id="131" name="Rectangle"/>
          <p:cNvSpPr/>
          <p:nvPr/>
        </p:nvSpPr>
        <p:spPr>
          <a:xfrm>
            <a:off x="10067925" y="11658600"/>
            <a:ext cx="1657350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Rectangle"/>
          <p:cNvSpPr/>
          <p:nvPr/>
        </p:nvSpPr>
        <p:spPr>
          <a:xfrm>
            <a:off x="10096500" y="11687175"/>
            <a:ext cx="514350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TextBox"/>
          <p:cNvSpPr txBox="1"/>
          <p:nvPr/>
        </p:nvSpPr>
        <p:spPr>
          <a:xfrm>
            <a:off x="10229850" y="11734800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9525" dist="9525" dir="5400000" algn="ctr" rotWithShape="0">
                    <a:srgbClr val="0F121A">
                      <a:alpha val="1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134" name="TextBox"/>
          <p:cNvSpPr txBox="1"/>
          <p:nvPr/>
        </p:nvSpPr>
        <p:spPr>
          <a:xfrm>
            <a:off x="10772775" y="11734800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索引</a:t>
            </a:r>
          </a:p>
        </p:txBody>
      </p:sp>
      <p:sp>
        <p:nvSpPr>
          <p:cNvPr id="135" name="TextBox"/>
          <p:cNvSpPr txBox="1"/>
          <p:nvPr/>
        </p:nvSpPr>
        <p:spPr>
          <a:xfrm>
            <a:off x="11315700" y="11734800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日志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10067925" y="12115800"/>
            <a:ext cx="7543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选项卡 · Tabs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10067925" y="12353925"/>
            <a:ext cx="638937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latin typeface="Noto Sans SC"/>
                <a:ea typeface="Noto Sans SC"/>
                <a:cs typeface="Noto Sans SC"/>
              </a:rPr>
              <a:t>文档 · 128</a:t>
            </a:r>
          </a:p>
        </p:txBody>
      </p:sp>
      <p:sp>
        <p:nvSpPr>
          <p:cNvPr id="138" name="Rectangle"/>
          <p:cNvSpPr/>
          <p:nvPr/>
        </p:nvSpPr>
        <p:spPr>
          <a:xfrm>
            <a:off x="10067925" y="12611100"/>
            <a:ext cx="647700" cy="190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"/>
          <p:cNvSpPr txBox="1"/>
          <p:nvPr/>
        </p:nvSpPr>
        <p:spPr>
          <a:xfrm>
            <a:off x="10944225" y="123539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索引配置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11668125" y="123539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构建日志</a:t>
            </a:r>
          </a:p>
        </p:txBody>
      </p:sp>
      <p:sp>
        <p:nvSpPr>
          <p:cNvPr id="141" name="Rectangle"/>
          <p:cNvSpPr/>
          <p:nvPr/>
        </p:nvSpPr>
        <p:spPr>
          <a:xfrm>
            <a:off x="614363" y="9720263"/>
            <a:ext cx="14011275" cy="3171825"/>
          </a:xfrm>
          <a:prstGeom prst="roundRect">
            <a:avLst>
              <a:gd name="adj" fmla="val 3453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5878175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6916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04 / COMPONENTS · 业务组件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2133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知识库核心模块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82677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由基础组件组合而成的业务模块，覆盖插件的四个关键任务：知识库识别、文档接入、索引构建、检索结果呈现。同一模块在列表页与会话内嵌视图中复用，只改变密度。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325475" y="1733550"/>
            <a:ext cx="13030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8 KNOWLEDGE MODULES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2190750"/>
            <a:ext cx="6915150" cy="3095625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838200" y="2419350"/>
            <a:ext cx="207679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知识库卡片 · Knowledge Base Card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838200" y="2752725"/>
            <a:ext cx="49149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卡片同时承载身份、状态与规模三类信息。状态胶囊固定在右上角，操作只在卡片被选中时出现。</a:t>
            </a:r>
          </a:p>
        </p:txBody>
      </p:sp>
      <p:sp>
        <p:nvSpPr>
          <p:cNvPr id="10" name="Rectangle"/>
          <p:cNvSpPr/>
          <p:nvPr/>
        </p:nvSpPr>
        <p:spPr>
          <a:xfrm>
            <a:off x="838200" y="3095625"/>
            <a:ext cx="6457950" cy="1962150"/>
          </a:xfrm>
          <a:prstGeom prst="roundRect">
            <a:avLst>
              <a:gd name="adj" fmla="val 4854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1028700" y="3286125"/>
            <a:ext cx="6076950" cy="158115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200150" y="3457575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EF0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87092" y="3535666"/>
            <a:ext cx="188066" cy="106708"/>
          </a:xfrm>
          <a:custGeom>
            <a:avLst/>
            <a:gdLst/>
            <a:ahLst/>
            <a:cxnLst/>
            <a:rect l="0" t="0" r="r" b="b"/>
            <a:pathLst>
              <a:path w="188066" h="106708">
                <a:moveTo>
                  <a:pt x="183344" y="46630"/>
                </a:moveTo>
                <a:quadBezTo>
                  <a:pt x="184345" y="47162"/>
                  <a:pt x="185146" y="47966"/>
                </a:quadBezTo>
                <a:quadBezTo>
                  <a:pt x="185949" y="48766"/>
                  <a:pt x="186481" y="49768"/>
                </a:quadBezTo>
                <a:quadBezTo>
                  <a:pt x="188066" y="52543"/>
                  <a:pt x="187048" y="55572"/>
                </a:quadBezTo>
                <a:quadBezTo>
                  <a:pt x="186206" y="58655"/>
                  <a:pt x="183344" y="60077"/>
                </a:quadBezTo>
                <a:lnTo>
                  <a:pt x="97619" y="105797"/>
                </a:lnTo>
                <a:quadBezTo>
                  <a:pt x="95941" y="106708"/>
                  <a:pt x="94033" y="106694"/>
                </a:quadBezTo>
                <a:quadBezTo>
                  <a:pt x="92124" y="106708"/>
                  <a:pt x="90447" y="105797"/>
                </a:quadBezTo>
                <a:lnTo>
                  <a:pt x="4722" y="60077"/>
                </a:lnTo>
                <a:quadBezTo>
                  <a:pt x="3720" y="59545"/>
                  <a:pt x="2920" y="58742"/>
                </a:quadBezTo>
                <a:quadBezTo>
                  <a:pt x="2116" y="57941"/>
                  <a:pt x="1584" y="56940"/>
                </a:quadBezTo>
                <a:quadBezTo>
                  <a:pt x="0" y="54164"/>
                  <a:pt x="1018" y="51135"/>
                </a:quadBezTo>
                <a:quadBezTo>
                  <a:pt x="1860" y="48052"/>
                  <a:pt x="4722" y="46630"/>
                </a:quadBezTo>
                <a:lnTo>
                  <a:pt x="90447" y="910"/>
                </a:lnTo>
                <a:quadBezTo>
                  <a:pt x="92124" y="0"/>
                  <a:pt x="94033" y="14"/>
                </a:quadBezTo>
                <a:quadBezTo>
                  <a:pt x="95941" y="0"/>
                  <a:pt x="97619" y="910"/>
                </a:quadBezTo>
                <a:lnTo>
                  <a:pt x="183344" y="46630"/>
                </a:lnTo>
                <a:close/>
                <a:moveTo>
                  <a:pt x="94033" y="16270"/>
                </a:moveTo>
                <a:lnTo>
                  <a:pt x="24500" y="53354"/>
                </a:lnTo>
                <a:lnTo>
                  <a:pt x="94033" y="90438"/>
                </a:lnTo>
                <a:lnTo>
                  <a:pt x="163565" y="53354"/>
                </a:lnTo>
                <a:lnTo>
                  <a:pt x="94033" y="1627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291814" y="3635637"/>
            <a:ext cx="178622" cy="60077"/>
          </a:xfrm>
          <a:custGeom>
            <a:avLst/>
            <a:gdLst/>
            <a:ahLst/>
            <a:cxnLst/>
            <a:rect l="0" t="0" r="r" b="b"/>
            <a:pathLst>
              <a:path w="178622" h="60077">
                <a:moveTo>
                  <a:pt x="7172" y="0"/>
                </a:moveTo>
                <a:lnTo>
                  <a:pt x="89311" y="43808"/>
                </a:lnTo>
                <a:lnTo>
                  <a:pt x="171450" y="0"/>
                </a:lnTo>
                <a:lnTo>
                  <a:pt x="178622" y="13447"/>
                </a:lnTo>
                <a:lnTo>
                  <a:pt x="92897" y="59167"/>
                </a:lnTo>
                <a:quadBezTo>
                  <a:pt x="91219" y="60077"/>
                  <a:pt x="89311" y="60064"/>
                </a:quadBezTo>
                <a:quadBezTo>
                  <a:pt x="87402" y="60077"/>
                  <a:pt x="85725" y="59167"/>
                </a:quadBezTo>
                <a:lnTo>
                  <a:pt x="0" y="13447"/>
                </a:lnTo>
                <a:lnTo>
                  <a:pt x="7172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ath"/>
          <p:cNvSpPr/>
          <p:nvPr/>
        </p:nvSpPr>
        <p:spPr>
          <a:xfrm>
            <a:off x="1291814" y="3685167"/>
            <a:ext cx="178622" cy="60077"/>
          </a:xfrm>
          <a:custGeom>
            <a:avLst/>
            <a:gdLst/>
            <a:ahLst/>
            <a:cxnLst/>
            <a:rect l="0" t="0" r="r" b="b"/>
            <a:pathLst>
              <a:path w="178622" h="60077">
                <a:moveTo>
                  <a:pt x="7172" y="0"/>
                </a:moveTo>
                <a:lnTo>
                  <a:pt x="89311" y="43808"/>
                </a:lnTo>
                <a:lnTo>
                  <a:pt x="171450" y="0"/>
                </a:lnTo>
                <a:lnTo>
                  <a:pt x="178622" y="13447"/>
                </a:lnTo>
                <a:lnTo>
                  <a:pt x="92897" y="59167"/>
                </a:lnTo>
                <a:quadBezTo>
                  <a:pt x="91219" y="60077"/>
                  <a:pt x="89311" y="60064"/>
                </a:quadBezTo>
                <a:quadBezTo>
                  <a:pt x="87402" y="60077"/>
                  <a:pt x="85725" y="59167"/>
                </a:quadBezTo>
                <a:lnTo>
                  <a:pt x="0" y="13447"/>
                </a:lnTo>
                <a:lnTo>
                  <a:pt x="7172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676400" y="3457575"/>
            <a:ext cx="100012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产品技术文档库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676400" y="3705225"/>
            <a:ext cx="17602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kb_prod_2f8a · HNSW · cosine</a:t>
            </a:r>
          </a:p>
        </p:txBody>
      </p:sp>
      <p:sp>
        <p:nvSpPr>
          <p:cNvPr id="18" name="Rectangle"/>
          <p:cNvSpPr/>
          <p:nvPr/>
        </p:nvSpPr>
        <p:spPr>
          <a:xfrm>
            <a:off x="6381750" y="345757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6477000" y="35433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6610350" y="3505200"/>
            <a:ext cx="2286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E6E64"/>
                </a:solidFill>
                <a:latin typeface="Noto Sans SC"/>
                <a:ea typeface="Noto Sans SC"/>
                <a:cs typeface="Noto Sans SC"/>
              </a:rPr>
              <a:t>就绪</a:t>
            </a:r>
          </a:p>
        </p:txBody>
      </p:sp>
      <p:sp>
        <p:nvSpPr>
          <p:cNvPr id="21" name="Rectangle"/>
          <p:cNvSpPr/>
          <p:nvPr/>
        </p:nvSpPr>
        <p:spPr>
          <a:xfrm>
            <a:off x="6386513" y="3462338"/>
            <a:ext cx="542925" cy="2381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200150" y="3981450"/>
            <a:ext cx="28117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文档 128 · 分片 1,024 · 近 7 日命中 3,241 次</a:t>
            </a:r>
          </a:p>
        </p:txBody>
      </p:sp>
      <p:sp>
        <p:nvSpPr>
          <p:cNvPr id="23" name="Rectangle"/>
          <p:cNvSpPr/>
          <p:nvPr/>
        </p:nvSpPr>
        <p:spPr>
          <a:xfrm>
            <a:off x="1200150" y="4267200"/>
            <a:ext cx="5734050" cy="9525"/>
          </a:xfrm>
          <a:prstGeom prst="rect">
            <a:avLst/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200150" y="4476750"/>
            <a:ext cx="1266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更新于 2026-09-14 10:28</a:t>
            </a:r>
          </a:p>
        </p:txBody>
      </p:sp>
      <p:sp>
        <p:nvSpPr>
          <p:cNvPr id="25" name="Rectangle"/>
          <p:cNvSpPr/>
          <p:nvPr/>
        </p:nvSpPr>
        <p:spPr>
          <a:xfrm>
            <a:off x="5524500" y="4410075"/>
            <a:ext cx="6858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5638800" y="44767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重建索引</a:t>
            </a:r>
          </a:p>
        </p:txBody>
      </p:sp>
      <p:sp>
        <p:nvSpPr>
          <p:cNvPr id="27" name="Rectangle"/>
          <p:cNvSpPr/>
          <p:nvPr/>
        </p:nvSpPr>
        <p:spPr>
          <a:xfrm>
            <a:off x="5529263" y="4414838"/>
            <a:ext cx="676275" cy="276225"/>
          </a:xfrm>
          <a:prstGeom prst="roundRect">
            <a:avLst>
              <a:gd name="adj" fmla="val 18965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6381750" y="44767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Noto Sans SC"/>
                <a:ea typeface="Noto Sans SC"/>
                <a:cs typeface="Noto Sans SC"/>
              </a:rPr>
              <a:t>查看详情</a:t>
            </a:r>
          </a:p>
        </p:txBody>
      </p:sp>
      <p:sp>
        <p:nvSpPr>
          <p:cNvPr id="29" name="Rectangle"/>
          <p:cNvSpPr/>
          <p:nvPr/>
        </p:nvSpPr>
        <p:spPr>
          <a:xfrm>
            <a:off x="1033463" y="3290888"/>
            <a:ext cx="6067425" cy="1571625"/>
          </a:xfrm>
          <a:prstGeom prst="roundRect">
            <a:avLst>
              <a:gd name="adj" fmla="val 5757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614363" y="2195513"/>
            <a:ext cx="6905625" cy="3086100"/>
          </a:xfrm>
          <a:prstGeom prst="roundRect">
            <a:avLst>
              <a:gd name="adj" fmla="val 354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7715250" y="2190750"/>
            <a:ext cx="6915150" cy="3114675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7943850" y="2419350"/>
            <a:ext cx="2147992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文档接入 · Upload &amp; Document Row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7943850" y="2752725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上传区在读屏器中必须可被键盘触达；单文件上传在行内显示进度与取消入口，不做全局遮罩。</a:t>
            </a:r>
          </a:p>
        </p:txBody>
      </p:sp>
      <p:sp>
        <p:nvSpPr>
          <p:cNvPr id="34" name="Rectangle"/>
          <p:cNvSpPr/>
          <p:nvPr/>
        </p:nvSpPr>
        <p:spPr>
          <a:xfrm>
            <a:off x="7943850" y="3095625"/>
            <a:ext cx="6457950" cy="1981200"/>
          </a:xfrm>
          <a:prstGeom prst="roundRect">
            <a:avLst>
              <a:gd name="adj" fmla="val 4807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8134350" y="3286125"/>
            <a:ext cx="607695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Path"/>
          <p:cNvSpPr/>
          <p:nvPr/>
        </p:nvSpPr>
        <p:spPr>
          <a:xfrm>
            <a:off x="11120322" y="3519373"/>
            <a:ext cx="105005" cy="124055"/>
          </a:xfrm>
          <a:custGeom>
            <a:avLst/>
            <a:gdLst/>
            <a:ahLst/>
            <a:cxnLst/>
            <a:rect l="0" t="0" r="r" b="b"/>
            <a:pathLst>
              <a:path w="105005" h="124055">
                <a:moveTo>
                  <a:pt x="45767" y="2905"/>
                </a:moveTo>
                <a:quadBezTo>
                  <a:pt x="48509" y="0"/>
                  <a:pt x="52502" y="115"/>
                </a:quadBezTo>
                <a:quadBezTo>
                  <a:pt x="56495" y="0"/>
                  <a:pt x="59238" y="2905"/>
                </a:quadBezTo>
                <a:lnTo>
                  <a:pt x="102100" y="45767"/>
                </a:lnTo>
                <a:quadBezTo>
                  <a:pt x="105005" y="48509"/>
                  <a:pt x="104890" y="52502"/>
                </a:quadBezTo>
                <a:quadBezTo>
                  <a:pt x="105005" y="56495"/>
                  <a:pt x="102100" y="59238"/>
                </a:quadBezTo>
                <a:quadBezTo>
                  <a:pt x="99358" y="62142"/>
                  <a:pt x="95365" y="62027"/>
                </a:quadBezTo>
                <a:quadBezTo>
                  <a:pt x="91372" y="62142"/>
                  <a:pt x="88630" y="59238"/>
                </a:quadBezTo>
                <a:lnTo>
                  <a:pt x="62027" y="32635"/>
                </a:lnTo>
                <a:lnTo>
                  <a:pt x="62027" y="114415"/>
                </a:lnTo>
                <a:quadBezTo>
                  <a:pt x="62142" y="118408"/>
                  <a:pt x="59238" y="121150"/>
                </a:quadBezTo>
                <a:quadBezTo>
                  <a:pt x="56495" y="124055"/>
                  <a:pt x="52502" y="123940"/>
                </a:quadBezTo>
                <a:quadBezTo>
                  <a:pt x="48509" y="124055"/>
                  <a:pt x="45767" y="121150"/>
                </a:quadBezTo>
                <a:quadBezTo>
                  <a:pt x="42862" y="118408"/>
                  <a:pt x="42977" y="114415"/>
                </a:quadBezTo>
                <a:lnTo>
                  <a:pt x="42977" y="32635"/>
                </a:lnTo>
                <a:lnTo>
                  <a:pt x="16375" y="59238"/>
                </a:lnTo>
                <a:quadBezTo>
                  <a:pt x="13633" y="62142"/>
                  <a:pt x="9640" y="62027"/>
                </a:quadBezTo>
                <a:quadBezTo>
                  <a:pt x="5647" y="62142"/>
                  <a:pt x="2905" y="59238"/>
                </a:quadBezTo>
                <a:quadBezTo>
                  <a:pt x="0" y="56495"/>
                  <a:pt x="115" y="52502"/>
                </a:quadBezTo>
                <a:quadBezTo>
                  <a:pt x="0" y="48509"/>
                  <a:pt x="2905" y="45767"/>
                </a:quadBezTo>
                <a:lnTo>
                  <a:pt x="45767" y="290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11083175" y="3624147"/>
            <a:ext cx="179300" cy="59170"/>
          </a:xfrm>
          <a:custGeom>
            <a:avLst/>
            <a:gdLst/>
            <a:ahLst/>
            <a:cxnLst/>
            <a:rect l="0" t="0" r="r" b="b"/>
            <a:pathLst>
              <a:path w="179300" h="59170">
                <a:moveTo>
                  <a:pt x="19165" y="9640"/>
                </a:moveTo>
                <a:lnTo>
                  <a:pt x="19165" y="28690"/>
                </a:lnTo>
                <a:quadBezTo>
                  <a:pt x="19165" y="33317"/>
                  <a:pt x="22566" y="36718"/>
                </a:quadBezTo>
                <a:quadBezTo>
                  <a:pt x="25968" y="40120"/>
                  <a:pt x="30595" y="40120"/>
                </a:quadBezTo>
                <a:lnTo>
                  <a:pt x="148705" y="40120"/>
                </a:lnTo>
                <a:quadBezTo>
                  <a:pt x="153332" y="40120"/>
                  <a:pt x="156733" y="36718"/>
                </a:quadBezTo>
                <a:quadBezTo>
                  <a:pt x="160135" y="33317"/>
                  <a:pt x="160135" y="28690"/>
                </a:quadBezTo>
                <a:lnTo>
                  <a:pt x="160135" y="9640"/>
                </a:lnTo>
                <a:quadBezTo>
                  <a:pt x="160020" y="5647"/>
                  <a:pt x="162925" y="2905"/>
                </a:quadBezTo>
                <a:quadBezTo>
                  <a:pt x="165667" y="0"/>
                  <a:pt x="169660" y="115"/>
                </a:quadBezTo>
                <a:quadBezTo>
                  <a:pt x="173653" y="0"/>
                  <a:pt x="176395" y="2905"/>
                </a:quadBezTo>
                <a:quadBezTo>
                  <a:pt x="179300" y="5647"/>
                  <a:pt x="179185" y="9640"/>
                </a:quadBezTo>
                <a:lnTo>
                  <a:pt x="179185" y="28690"/>
                </a:lnTo>
                <a:quadBezTo>
                  <a:pt x="179185" y="41208"/>
                  <a:pt x="170204" y="50189"/>
                </a:quadBezTo>
                <a:quadBezTo>
                  <a:pt x="161223" y="59170"/>
                  <a:pt x="148705" y="59170"/>
                </a:quadBezTo>
                <a:lnTo>
                  <a:pt x="30595" y="59170"/>
                </a:lnTo>
                <a:quadBezTo>
                  <a:pt x="18077" y="59170"/>
                  <a:pt x="9096" y="50189"/>
                </a:quadBezTo>
                <a:quadBezTo>
                  <a:pt x="115" y="41208"/>
                  <a:pt x="115" y="28690"/>
                </a:quadBezTo>
                <a:lnTo>
                  <a:pt x="115" y="9640"/>
                </a:ln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quadBezTo>
                  <a:pt x="19280" y="5647"/>
                  <a:pt x="19165" y="9640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248900" y="3790950"/>
            <a:ext cx="18573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拖拽文件到此处，或点击选择文件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9686925" y="4048125"/>
            <a:ext cx="29628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支持 Markdown / PDF / DOCX / TXT，单文件不超过 50 MB</a:t>
            </a:r>
          </a:p>
        </p:txBody>
      </p:sp>
      <p:sp>
        <p:nvSpPr>
          <p:cNvPr id="40" name="Rectangle"/>
          <p:cNvSpPr/>
          <p:nvPr/>
        </p:nvSpPr>
        <p:spPr>
          <a:xfrm>
            <a:off x="8139113" y="3290888"/>
            <a:ext cx="6067425" cy="1095375"/>
          </a:xfrm>
          <a:prstGeom prst="roundRect">
            <a:avLst>
              <a:gd name="adj" fmla="val 8260"/>
            </a:avLst>
          </a:prstGeom>
          <a:noFill/>
          <a:ln w="9525">
            <a:solidFill>
              <a:srgbClr val="A6ACE9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8134350" y="4505325"/>
            <a:ext cx="607695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Path"/>
          <p:cNvSpPr/>
          <p:nvPr/>
        </p:nvSpPr>
        <p:spPr>
          <a:xfrm>
            <a:off x="8265795" y="4617715"/>
            <a:ext cx="118115" cy="156215"/>
          </a:xfrm>
          <a:custGeom>
            <a:avLst/>
            <a:gdLst/>
            <a:ahLst/>
            <a:cxnLst/>
            <a:rect l="0" t="0" r="r" b="b"/>
            <a:pathLst>
              <a:path w="118115" h="156215">
                <a:moveTo>
                  <a:pt x="25718" y="5"/>
                </a:moveTo>
                <a:lnTo>
                  <a:pt x="73342" y="5"/>
                </a:lnTo>
                <a:quadBezTo>
                  <a:pt x="74670" y="0"/>
                  <a:pt x="75894" y="513"/>
                </a:quadBezTo>
                <a:quadBezTo>
                  <a:pt x="77122" y="1016"/>
                  <a:pt x="78057" y="1958"/>
                </a:quadBezTo>
                <a:lnTo>
                  <a:pt x="116157" y="40058"/>
                </a:lnTo>
                <a:quadBezTo>
                  <a:pt x="117099" y="40993"/>
                  <a:pt x="117602" y="42221"/>
                </a:quadBezTo>
                <a:quadBezTo>
                  <a:pt x="118115" y="43445"/>
                  <a:pt x="118110" y="44772"/>
                </a:quadBezTo>
                <a:lnTo>
                  <a:pt x="118110" y="130497"/>
                </a:lnTo>
                <a:quadBezTo>
                  <a:pt x="118110" y="141117"/>
                  <a:pt x="110561" y="148666"/>
                </a:quadBezTo>
                <a:quadBezTo>
                  <a:pt x="103012" y="156215"/>
                  <a:pt x="92392" y="156215"/>
                </a:quadBezTo>
                <a:lnTo>
                  <a:pt x="25718" y="156215"/>
                </a:lnTo>
                <a:quadBezTo>
                  <a:pt x="15098" y="156215"/>
                  <a:pt x="7549" y="148666"/>
                </a:quadBezTo>
                <a:quadBezTo>
                  <a:pt x="0" y="141117"/>
                  <a:pt x="0" y="130497"/>
                </a:quadBezTo>
                <a:lnTo>
                  <a:pt x="0" y="25722"/>
                </a:lnTo>
                <a:quadBezTo>
                  <a:pt x="0" y="15103"/>
                  <a:pt x="7549" y="7554"/>
                </a:quadBezTo>
                <a:quadBezTo>
                  <a:pt x="15098" y="5"/>
                  <a:pt x="25718" y="5"/>
                </a:quadBezTo>
                <a:close/>
                <a:moveTo>
                  <a:pt x="25718" y="13340"/>
                </a:moveTo>
                <a:quadBezTo>
                  <a:pt x="20621" y="13340"/>
                  <a:pt x="16978" y="16983"/>
                </a:quadBezTo>
                <a:quadBezTo>
                  <a:pt x="13335" y="20626"/>
                  <a:pt x="13335" y="25722"/>
                </a:quadBezTo>
                <a:lnTo>
                  <a:pt x="13335" y="130497"/>
                </a:lnTo>
                <a:quadBezTo>
                  <a:pt x="13335" y="135594"/>
                  <a:pt x="16978" y="139237"/>
                </a:quadBezTo>
                <a:quadBezTo>
                  <a:pt x="20621" y="142880"/>
                  <a:pt x="25718" y="142880"/>
                </a:quadBezTo>
                <a:lnTo>
                  <a:pt x="92392" y="142880"/>
                </a:lnTo>
                <a:quadBezTo>
                  <a:pt x="97489" y="142880"/>
                  <a:pt x="101132" y="139237"/>
                </a:quadBezTo>
                <a:quadBezTo>
                  <a:pt x="104775" y="135594"/>
                  <a:pt x="104775" y="130497"/>
                </a:quadBezTo>
                <a:lnTo>
                  <a:pt x="104775" y="47534"/>
                </a:lnTo>
                <a:lnTo>
                  <a:pt x="70581" y="13340"/>
                </a:lnTo>
                <a:lnTo>
                  <a:pt x="25718" y="1334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Path"/>
          <p:cNvSpPr/>
          <p:nvPr/>
        </p:nvSpPr>
        <p:spPr>
          <a:xfrm>
            <a:off x="8332389" y="4624388"/>
            <a:ext cx="44848" cy="44848"/>
          </a:xfrm>
          <a:custGeom>
            <a:avLst/>
            <a:gdLst/>
            <a:ahLst/>
            <a:cxnLst/>
            <a:rect l="0" t="0" r="r" b="b"/>
            <a:pathLst>
              <a:path w="44848" h="44848">
                <a:moveTo>
                  <a:pt x="13415" y="0"/>
                </a:moveTo>
                <a:lnTo>
                  <a:pt x="13415" y="31432"/>
                </a:lnTo>
                <a:lnTo>
                  <a:pt x="44848" y="31432"/>
                </a:lnTo>
                <a:lnTo>
                  <a:pt x="44848" y="44767"/>
                </a:lnTo>
                <a:lnTo>
                  <a:pt x="6748" y="44767"/>
                </a:lnTo>
                <a:quadBezTo>
                  <a:pt x="3953" y="44848"/>
                  <a:pt x="2033" y="42815"/>
                </a:quadBezTo>
                <a:quadBezTo>
                  <a:pt x="0" y="40895"/>
                  <a:pt x="80" y="38100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8515350" y="4619625"/>
            <a:ext cx="122255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index-tuning-guide.pdf</a:t>
            </a:r>
          </a:p>
        </p:txBody>
      </p:sp>
      <p:sp>
        <p:nvSpPr>
          <p:cNvPr id="45" name="TextBox"/>
          <p:cNvSpPr txBox="1"/>
          <p:nvPr/>
        </p:nvSpPr>
        <p:spPr>
          <a:xfrm>
            <a:off x="12249150" y="4629150"/>
            <a:ext cx="37719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2.4 MB</a:t>
            </a:r>
          </a:p>
        </p:txBody>
      </p:sp>
      <p:sp>
        <p:nvSpPr>
          <p:cNvPr id="46" name="Rectangle"/>
          <p:cNvSpPr/>
          <p:nvPr/>
        </p:nvSpPr>
        <p:spPr>
          <a:xfrm>
            <a:off x="12725400" y="4676775"/>
            <a:ext cx="857250" cy="47625"/>
          </a:xfrm>
          <a:prstGeom prst="roundRect">
            <a:avLst>
              <a:gd name="adj" fmla="val 50000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12725400" y="4676775"/>
            <a:ext cx="581025" cy="47625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13677900" y="46291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68%</a:t>
            </a:r>
          </a:p>
        </p:txBody>
      </p:sp>
      <p:sp>
        <p:nvSpPr>
          <p:cNvPr id="49" name="Path"/>
          <p:cNvSpPr/>
          <p:nvPr/>
        </p:nvSpPr>
        <p:spPr>
          <a:xfrm>
            <a:off x="13998330" y="4654305"/>
            <a:ext cx="83040" cy="83040"/>
          </a:xfrm>
          <a:custGeom>
            <a:avLst/>
            <a:gdLst/>
            <a:ahLst/>
            <a:cxnLst/>
            <a:rect l="0" t="0" r="r" b="b"/>
            <a:pathLst>
              <a:path w="83040" h="83040">
                <a:moveTo>
                  <a:pt x="80861" y="12281"/>
                </a:moveTo>
                <a:lnTo>
                  <a:pt x="51623" y="41520"/>
                </a:lnTo>
                <a:lnTo>
                  <a:pt x="80861" y="70759"/>
                </a:lnTo>
                <a:quadBezTo>
                  <a:pt x="83040" y="72815"/>
                  <a:pt x="82954" y="75810"/>
                </a:quadBezTo>
                <a:quadBezTo>
                  <a:pt x="83040" y="78805"/>
                  <a:pt x="80861" y="80861"/>
                </a:quadBezTo>
                <a:quadBezTo>
                  <a:pt x="78805" y="83040"/>
                  <a:pt x="75810" y="82954"/>
                </a:quadBezTo>
                <a:quadBezTo>
                  <a:pt x="72815" y="83040"/>
                  <a:pt x="70759" y="80861"/>
                </a:quadBezTo>
                <a:lnTo>
                  <a:pt x="41520" y="51623"/>
                </a:lnTo>
                <a:lnTo>
                  <a:pt x="12281" y="80861"/>
                </a:lnTo>
                <a:quadBezTo>
                  <a:pt x="10225" y="83040"/>
                  <a:pt x="7230" y="82954"/>
                </a:quadBezTo>
                <a:quadBezTo>
                  <a:pt x="4235" y="83040"/>
                  <a:pt x="2179" y="80861"/>
                </a:quadBezTo>
                <a:quadBezTo>
                  <a:pt x="0" y="78805"/>
                  <a:pt x="86" y="75810"/>
                </a:quadBezTo>
                <a:quadBezTo>
                  <a:pt x="0" y="72815"/>
                  <a:pt x="2179" y="70759"/>
                </a:quadBezTo>
                <a:lnTo>
                  <a:pt x="31417" y="41520"/>
                </a:ln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lnTo>
                  <a:pt x="41520" y="31417"/>
                </a:lnTo>
                <a:lnTo>
                  <a:pt x="70759" y="2179"/>
                </a:lnTo>
                <a:quadBezTo>
                  <a:pt x="72815" y="0"/>
                  <a:pt x="75810" y="86"/>
                </a:quadBezTo>
                <a:quadBezTo>
                  <a:pt x="78805" y="0"/>
                  <a:pt x="80861" y="2179"/>
                </a:quadBezTo>
                <a:quadBezTo>
                  <a:pt x="83040" y="4235"/>
                  <a:pt x="82954" y="7230"/>
                </a:quadBezTo>
                <a:quadBezTo>
                  <a:pt x="83040" y="10225"/>
                  <a:pt x="80861" y="12281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8139113" y="4510088"/>
            <a:ext cx="6067425" cy="371475"/>
          </a:xfrm>
          <a:prstGeom prst="roundRect">
            <a:avLst>
              <a:gd name="adj" fmla="val 19230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"/>
          <p:cNvSpPr/>
          <p:nvPr/>
        </p:nvSpPr>
        <p:spPr>
          <a:xfrm>
            <a:off x="7720013" y="2195513"/>
            <a:ext cx="6905625" cy="3105150"/>
          </a:xfrm>
          <a:prstGeom prst="roundRect">
            <a:avLst>
              <a:gd name="adj" fmla="val 3527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609600" y="5495925"/>
            <a:ext cx="6915150" cy="3133725"/>
          </a:xfrm>
          <a:prstGeom prst="roundRect">
            <a:avLst>
              <a:gd name="adj" fmla="val 3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838200" y="5724525"/>
            <a:ext cx="1496549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索引构建 · Build Pipeline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838200" y="6057900"/>
            <a:ext cx="491558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四个阶段必须同时给出「名称 + 状态 + 进度」，禁止只显示无文字的进度条。构建日志默认折叠。</a:t>
            </a:r>
          </a:p>
        </p:txBody>
      </p:sp>
      <p:sp>
        <p:nvSpPr>
          <p:cNvPr id="55" name="Rectangle"/>
          <p:cNvSpPr/>
          <p:nvPr/>
        </p:nvSpPr>
        <p:spPr>
          <a:xfrm>
            <a:off x="838200" y="6400800"/>
            <a:ext cx="6457950" cy="2000250"/>
          </a:xfrm>
          <a:prstGeom prst="roundRect">
            <a:avLst>
              <a:gd name="adj" fmla="val 4761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Ellipse"/>
          <p:cNvSpPr/>
          <p:nvPr/>
        </p:nvSpPr>
        <p:spPr>
          <a:xfrm>
            <a:off x="1028700" y="6591300"/>
            <a:ext cx="190500" cy="190500"/>
          </a:xfrm>
          <a:prstGeom prst="ellipse">
            <a:avLst/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1076210" y="6652004"/>
            <a:ext cx="95621" cy="72761"/>
          </a:xfrm>
          <a:custGeom>
            <a:avLst/>
            <a:gdLst/>
            <a:ahLst/>
            <a:cxnLst/>
            <a:rect l="0" t="0" r="r" b="b"/>
            <a:pathLst>
              <a:path w="95621" h="72761">
                <a:moveTo>
                  <a:pt x="16375" y="29716"/>
                </a:moveTo>
                <a:lnTo>
                  <a:pt x="36056" y="49397"/>
                </a:lnTo>
                <a:lnTo>
                  <a:pt x="78860" y="3300"/>
                </a:lnTo>
                <a:quadBezTo>
                  <a:pt x="81493" y="296"/>
                  <a:pt x="85487" y="263"/>
                </a:quadBezTo>
                <a:quadBezTo>
                  <a:pt x="89473" y="0"/>
                  <a:pt x="92321" y="2801"/>
                </a:quadBezTo>
                <a:quadBezTo>
                  <a:pt x="95325" y="5434"/>
                  <a:pt x="95358" y="9429"/>
                </a:quadBezTo>
                <a:quadBezTo>
                  <a:pt x="95621" y="13415"/>
                  <a:pt x="92820" y="16262"/>
                </a:quadBezTo>
                <a:lnTo>
                  <a:pt x="43290" y="69602"/>
                </a:lnTo>
                <a:quadBezTo>
                  <a:pt x="43230" y="69667"/>
                  <a:pt x="43169" y="69730"/>
                </a:quadBezTo>
                <a:quadBezTo>
                  <a:pt x="43107" y="69794"/>
                  <a:pt x="43045" y="69856"/>
                </a:quadBezTo>
                <a:quadBezTo>
                  <a:pt x="40303" y="72761"/>
                  <a:pt x="36310" y="72646"/>
                </a:quadBezTo>
                <a:quadBezTo>
                  <a:pt x="32317" y="72761"/>
                  <a:pt x="29575" y="69856"/>
                </a:quadBezTo>
                <a:lnTo>
                  <a:pt x="2905" y="43186"/>
                </a:lnTo>
                <a:quadBezTo>
                  <a:pt x="0" y="40444"/>
                  <a:pt x="115" y="36451"/>
                </a:quadBezTo>
                <a:quadBezTo>
                  <a:pt x="0" y="32458"/>
                  <a:pt x="2905" y="29716"/>
                </a:quadBezTo>
                <a:quadBezTo>
                  <a:pt x="5647" y="26811"/>
                  <a:pt x="9640" y="26926"/>
                </a:quadBezTo>
                <a:quadBezTo>
                  <a:pt x="13633" y="26811"/>
                  <a:pt x="16375" y="2971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1028700" y="68580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解析文档</a:t>
            </a:r>
          </a:p>
        </p:txBody>
      </p:sp>
      <p:sp>
        <p:nvSpPr>
          <p:cNvPr id="59" name="Ellipse"/>
          <p:cNvSpPr/>
          <p:nvPr/>
        </p:nvSpPr>
        <p:spPr>
          <a:xfrm>
            <a:off x="2571750" y="6591300"/>
            <a:ext cx="190500" cy="190500"/>
          </a:xfrm>
          <a:prstGeom prst="ellipse">
            <a:avLst/>
          </a:prstGeom>
          <a:solidFill>
            <a:srgbClr val="1E9E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ath"/>
          <p:cNvSpPr/>
          <p:nvPr/>
        </p:nvSpPr>
        <p:spPr>
          <a:xfrm>
            <a:off x="2619260" y="6652004"/>
            <a:ext cx="95621" cy="72761"/>
          </a:xfrm>
          <a:custGeom>
            <a:avLst/>
            <a:gdLst/>
            <a:ahLst/>
            <a:cxnLst/>
            <a:rect l="0" t="0" r="r" b="b"/>
            <a:pathLst>
              <a:path w="95621" h="72761">
                <a:moveTo>
                  <a:pt x="16375" y="29716"/>
                </a:moveTo>
                <a:lnTo>
                  <a:pt x="36056" y="49397"/>
                </a:lnTo>
                <a:lnTo>
                  <a:pt x="78860" y="3300"/>
                </a:lnTo>
                <a:quadBezTo>
                  <a:pt x="81493" y="296"/>
                  <a:pt x="85487" y="263"/>
                </a:quadBezTo>
                <a:quadBezTo>
                  <a:pt x="89473" y="0"/>
                  <a:pt x="92321" y="2801"/>
                </a:quadBezTo>
                <a:quadBezTo>
                  <a:pt x="95325" y="5434"/>
                  <a:pt x="95358" y="9429"/>
                </a:quadBezTo>
                <a:quadBezTo>
                  <a:pt x="95621" y="13415"/>
                  <a:pt x="92820" y="16262"/>
                </a:quadBezTo>
                <a:lnTo>
                  <a:pt x="43290" y="69602"/>
                </a:lnTo>
                <a:quadBezTo>
                  <a:pt x="43230" y="69667"/>
                  <a:pt x="43169" y="69730"/>
                </a:quadBezTo>
                <a:quadBezTo>
                  <a:pt x="43107" y="69794"/>
                  <a:pt x="43045" y="69856"/>
                </a:quadBezTo>
                <a:quadBezTo>
                  <a:pt x="40303" y="72761"/>
                  <a:pt x="36310" y="72646"/>
                </a:quadBezTo>
                <a:quadBezTo>
                  <a:pt x="32317" y="72761"/>
                  <a:pt x="29575" y="69856"/>
                </a:quadBezTo>
                <a:lnTo>
                  <a:pt x="2905" y="43186"/>
                </a:lnTo>
                <a:quadBezTo>
                  <a:pt x="0" y="40444"/>
                  <a:pt x="115" y="36451"/>
                </a:quadBezTo>
                <a:quadBezTo>
                  <a:pt x="0" y="32458"/>
                  <a:pt x="2905" y="29716"/>
                </a:quadBezTo>
                <a:quadBezTo>
                  <a:pt x="5647" y="26811"/>
                  <a:pt x="9640" y="26926"/>
                </a:quadBezTo>
                <a:quadBezTo>
                  <a:pt x="13633" y="26811"/>
                  <a:pt x="16375" y="2971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2571750" y="6858000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切分与嵌入</a:t>
            </a:r>
          </a:p>
        </p:txBody>
      </p:sp>
      <p:sp>
        <p:nvSpPr>
          <p:cNvPr id="62" name="Ellipse"/>
          <p:cNvSpPr/>
          <p:nvPr/>
        </p:nvSpPr>
        <p:spPr>
          <a:xfrm>
            <a:off x="4114800" y="6591300"/>
            <a:ext cx="190500" cy="190500"/>
          </a:xfrm>
          <a:prstGeom prst="ellipse">
            <a:avLst/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Ellipse"/>
          <p:cNvSpPr/>
          <p:nvPr/>
        </p:nvSpPr>
        <p:spPr>
          <a:xfrm>
            <a:off x="4175760" y="6652260"/>
            <a:ext cx="68580" cy="685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4114800" y="6858000"/>
            <a:ext cx="9658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Noto Sans SC"/>
                <a:ea typeface="Noto Sans SC"/>
                <a:cs typeface="Noto Sans SC"/>
              </a:rPr>
              <a:t>写入索引 · 进行中</a:t>
            </a:r>
          </a:p>
        </p:txBody>
      </p:sp>
      <p:sp>
        <p:nvSpPr>
          <p:cNvPr id="65" name="Ellipse"/>
          <p:cNvSpPr/>
          <p:nvPr/>
        </p:nvSpPr>
        <p:spPr>
          <a:xfrm>
            <a:off x="5667375" y="6600825"/>
            <a:ext cx="171450" cy="171450"/>
          </a:xfrm>
          <a:prstGeom prst="ellipse">
            <a:avLst/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Ellipse"/>
          <p:cNvSpPr/>
          <p:nvPr/>
        </p:nvSpPr>
        <p:spPr>
          <a:xfrm>
            <a:off x="5667375" y="6600825"/>
            <a:ext cx="171450" cy="171450"/>
          </a:xfrm>
          <a:prstGeom prst="ellipse">
            <a:avLst/>
          </a:prstGeom>
          <a:noFill/>
          <a:ln w="1333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7" name="Ellipse"/>
          <p:cNvSpPr/>
          <p:nvPr/>
        </p:nvSpPr>
        <p:spPr>
          <a:xfrm>
            <a:off x="5724525" y="6657975"/>
            <a:ext cx="57150" cy="57150"/>
          </a:xfrm>
          <a:prstGeom prst="ellipse">
            <a:avLst/>
          </a:prstGeom>
          <a:solidFill>
            <a:srgbClr val="CBD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5657850" y="6858000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校验与发布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1028700" y="7172325"/>
            <a:ext cx="2093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正在向量化 86 / 128 分片 · 预计剩余 12s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6896100" y="7181850"/>
            <a:ext cx="205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67%</a:t>
            </a:r>
          </a:p>
        </p:txBody>
      </p:sp>
      <p:sp>
        <p:nvSpPr>
          <p:cNvPr id="71" name="Rectangle"/>
          <p:cNvSpPr/>
          <p:nvPr/>
        </p:nvSpPr>
        <p:spPr>
          <a:xfrm>
            <a:off x="1028700" y="7410450"/>
            <a:ext cx="6076950" cy="76200"/>
          </a:xfrm>
          <a:prstGeom prst="roundRect">
            <a:avLst>
              <a:gd name="adj" fmla="val 50000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"/>
          <p:cNvSpPr/>
          <p:nvPr/>
        </p:nvSpPr>
        <p:spPr>
          <a:xfrm>
            <a:off x="1028700" y="7410450"/>
            <a:ext cx="4067175" cy="7620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"/>
          <p:cNvSpPr/>
          <p:nvPr/>
        </p:nvSpPr>
        <p:spPr>
          <a:xfrm>
            <a:off x="1028700" y="7639050"/>
            <a:ext cx="6076950" cy="571500"/>
          </a:xfrm>
          <a:prstGeom prst="roundRect">
            <a:avLst>
              <a:gd name="adj" fmla="val 13333"/>
            </a:avLst>
          </a:prstGeom>
          <a:solidFill>
            <a:srgbClr val="13161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Box"/>
          <p:cNvSpPr txBox="1"/>
          <p:nvPr/>
        </p:nvSpPr>
        <p:spPr>
          <a:xfrm>
            <a:off x="1143000" y="7753350"/>
            <a:ext cx="282892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6FD6A8"/>
                </a:solidFill>
                <a:latin typeface="JetBrains Mono"/>
                <a:ea typeface="JetBrains Mono"/>
                <a:cs typeface="JetBrains Mono"/>
              </a:rPr>
              <a:t>[10:28:04] embed batch 86/128 ok · 512 chunks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1143000" y="7953375"/>
            <a:ext cx="257746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A1A1AA"/>
                </a:solidFill>
                <a:latin typeface="JetBrains Mono"/>
                <a:ea typeface="JetBrains Mono"/>
                <a:cs typeface="JetBrains Mono"/>
              </a:rPr>
              <a:t>[10:28:11] hnsw insert 512 vectors · 41ms</a:t>
            </a:r>
          </a:p>
        </p:txBody>
      </p:sp>
      <p:sp>
        <p:nvSpPr>
          <p:cNvPr id="76" name="Rectangle"/>
          <p:cNvSpPr/>
          <p:nvPr/>
        </p:nvSpPr>
        <p:spPr>
          <a:xfrm>
            <a:off x="614363" y="5500688"/>
            <a:ext cx="6905625" cy="3124200"/>
          </a:xfrm>
          <a:prstGeom prst="roundRect">
            <a:avLst>
              <a:gd name="adj" fmla="val 3506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"/>
          <p:cNvSpPr/>
          <p:nvPr/>
        </p:nvSpPr>
        <p:spPr>
          <a:xfrm>
            <a:off x="7715250" y="5495925"/>
            <a:ext cx="691515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"/>
          <p:cNvSpPr txBox="1"/>
          <p:nvPr/>
        </p:nvSpPr>
        <p:spPr>
          <a:xfrm>
            <a:off x="7943850" y="5724525"/>
            <a:ext cx="246981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检索结果与工具调用 · Retrieval &amp; Tool Call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7943850" y="6057900"/>
            <a:ext cx="5486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结果卡片必须可回溯到具体文档与段落；工具调用块在会话中默认折叠为一行摘要，展开显示参数与命中数。</a:t>
            </a:r>
          </a:p>
        </p:txBody>
      </p:sp>
      <p:sp>
        <p:nvSpPr>
          <p:cNvPr id="80" name="Rectangle"/>
          <p:cNvSpPr/>
          <p:nvPr/>
        </p:nvSpPr>
        <p:spPr>
          <a:xfrm>
            <a:off x="7943850" y="6400800"/>
            <a:ext cx="6457950" cy="2105025"/>
          </a:xfrm>
          <a:prstGeom prst="roundRect">
            <a:avLst>
              <a:gd name="adj" fmla="val 4524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8134350" y="6591300"/>
            <a:ext cx="60769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"/>
          <p:cNvSpPr txBox="1"/>
          <p:nvPr/>
        </p:nvSpPr>
        <p:spPr>
          <a:xfrm>
            <a:off x="8267700" y="6753225"/>
            <a:ext cx="29032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zvec-architecture.md · 第 24 段 · P128–P171</a:t>
            </a:r>
          </a:p>
        </p:txBody>
      </p:sp>
      <p:sp>
        <p:nvSpPr>
          <p:cNvPr id="83" name="Rectangle"/>
          <p:cNvSpPr/>
          <p:nvPr/>
        </p:nvSpPr>
        <p:spPr>
          <a:xfrm>
            <a:off x="13296900" y="6724650"/>
            <a:ext cx="781050" cy="209550"/>
          </a:xfrm>
          <a:prstGeom prst="roundRect">
            <a:avLst>
              <a:gd name="adj" fmla="val 27272"/>
            </a:avLst>
          </a:prstGeom>
          <a:solidFill>
            <a:srgbClr val="E6F5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13373100" y="676275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latin typeface="JetBrains Mono"/>
                <a:ea typeface="JetBrains Mono"/>
                <a:cs typeface="JetBrains Mono"/>
              </a:rPr>
              <a:t>0.92 强相关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8267700" y="7010400"/>
            <a:ext cx="5759919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75"/>
              </a:lnSpc>
            </a:pPr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HNSW 图在构建阶段通过逐层插入维护邻居关系，efConstruction 决定候选集大小；将其提高到 200 可显著改善高维向量在高召回场景下的检索精度，代价是构建时间增长约 1.6 倍。</a:t>
            </a:r>
          </a:p>
        </p:txBody>
      </p:sp>
      <p:sp>
        <p:nvSpPr>
          <p:cNvPr id="86" name="Rectangle"/>
          <p:cNvSpPr/>
          <p:nvPr/>
        </p:nvSpPr>
        <p:spPr>
          <a:xfrm>
            <a:off x="8139113" y="6596063"/>
            <a:ext cx="606742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angle"/>
          <p:cNvSpPr/>
          <p:nvPr/>
        </p:nvSpPr>
        <p:spPr>
          <a:xfrm>
            <a:off x="8134350" y="7658100"/>
            <a:ext cx="607695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Rectangle"/>
          <p:cNvSpPr/>
          <p:nvPr/>
        </p:nvSpPr>
        <p:spPr>
          <a:xfrm>
            <a:off x="8282940" y="7816215"/>
            <a:ext cx="121920" cy="102870"/>
          </a:xfrm>
          <a:prstGeom prst="roundRect">
            <a:avLst>
              <a:gd name="adj" fmla="val 22222"/>
            </a:avLst>
          </a:prstGeom>
          <a:noFill/>
          <a:ln w="13335">
            <a:solidFill>
              <a:srgbClr val="4F5BD5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9" name="Path"/>
          <p:cNvSpPr/>
          <p:nvPr/>
        </p:nvSpPr>
        <p:spPr>
          <a:xfrm>
            <a:off x="8304522" y="7847322"/>
            <a:ext cx="34940" cy="48275"/>
          </a:xfrm>
          <a:custGeom>
            <a:avLst/>
            <a:gdLst/>
            <a:ahLst/>
            <a:cxnLst/>
            <a:rect l="0" t="0" r="r" b="b"/>
            <a:pathLst>
              <a:path w="34940" h="48275">
                <a:moveTo>
                  <a:pt x="11215" y="1832"/>
                </a:moveTo>
                <a:lnTo>
                  <a:pt x="32170" y="18977"/>
                </a:lnTo>
                <a:quadBezTo>
                  <a:pt x="34384" y="20685"/>
                  <a:pt x="34582" y="23474"/>
                </a:quadBezTo>
                <a:quadBezTo>
                  <a:pt x="34940" y="26247"/>
                  <a:pt x="33108" y="28360"/>
                </a:quadBezTo>
                <a:quadBezTo>
                  <a:pt x="32897" y="28617"/>
                  <a:pt x="32662" y="28852"/>
                </a:quadBezTo>
                <a:quadBezTo>
                  <a:pt x="32427" y="29087"/>
                  <a:pt x="32170" y="29298"/>
                </a:quadBezTo>
                <a:lnTo>
                  <a:pt x="11215" y="46443"/>
                </a:lnTo>
                <a:quadBezTo>
                  <a:pt x="9102" y="48275"/>
                  <a:pt x="6329" y="47917"/>
                </a:quadBezTo>
                <a:quadBezTo>
                  <a:pt x="3540" y="47719"/>
                  <a:pt x="1832" y="45505"/>
                </a:quadBezTo>
                <a:quadBezTo>
                  <a:pt x="0" y="43392"/>
                  <a:pt x="358" y="40619"/>
                </a:quadBezTo>
                <a:quadBezTo>
                  <a:pt x="556" y="37830"/>
                  <a:pt x="2770" y="36122"/>
                </a:quadBezTo>
                <a:lnTo>
                  <a:pt x="17418" y="24138"/>
                </a:lnTo>
                <a:lnTo>
                  <a:pt x="2770" y="12153"/>
                </a:lnTo>
                <a:quadBezTo>
                  <a:pt x="556" y="10445"/>
                  <a:pt x="358" y="7656"/>
                </a:quadBezTo>
                <a:quadBezTo>
                  <a:pt x="0" y="4883"/>
                  <a:pt x="1832" y="2770"/>
                </a:quadBezTo>
                <a:quadBezTo>
                  <a:pt x="3540" y="556"/>
                  <a:pt x="6329" y="358"/>
                </a:quadBezTo>
                <a:quadBezTo>
                  <a:pt x="9102" y="0"/>
                  <a:pt x="11215" y="1832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Path"/>
          <p:cNvSpPr/>
          <p:nvPr/>
        </p:nvSpPr>
        <p:spPr>
          <a:xfrm>
            <a:off x="8340962" y="7883762"/>
            <a:ext cx="40166" cy="13496"/>
          </a:xfrm>
          <a:custGeom>
            <a:avLst/>
            <a:gdLst/>
            <a:ahLst/>
            <a:cxnLst/>
            <a:rect l="0" t="0" r="r" b="b"/>
            <a:pathLst>
              <a:path w="40166" h="13496">
                <a:moveTo>
                  <a:pt x="6748" y="80"/>
                </a:moveTo>
                <a:lnTo>
                  <a:pt x="33418" y="80"/>
                </a:lnTo>
                <a:quadBezTo>
                  <a:pt x="36213" y="0"/>
                  <a:pt x="38133" y="2033"/>
                </a:quadBezTo>
                <a:quadBezTo>
                  <a:pt x="40166" y="3953"/>
                  <a:pt x="40085" y="6748"/>
                </a:quadBezTo>
                <a:quadBezTo>
                  <a:pt x="40166" y="9543"/>
                  <a:pt x="38133" y="11463"/>
                </a:quadBezTo>
                <a:quadBezTo>
                  <a:pt x="36213" y="13496"/>
                  <a:pt x="33418" y="13415"/>
                </a:quadBezTo>
                <a:lnTo>
                  <a:pt x="6748" y="13415"/>
                </a:lnTo>
                <a:quadBezTo>
                  <a:pt x="3953" y="13496"/>
                  <a:pt x="2033" y="11463"/>
                </a:quadBez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8496300" y="7791450"/>
            <a:ext cx="8915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dsh_kb_search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13192125" y="7800975"/>
            <a:ext cx="8801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9E8F"/>
                </a:solidFill>
                <a:latin typeface="JetBrains Mono"/>
                <a:ea typeface="JetBrains Mono"/>
                <a:cs typeface="JetBrains Mono"/>
              </a:rPr>
              <a:t>5 条命中 · 38ms</a:t>
            </a:r>
          </a:p>
        </p:txBody>
      </p:sp>
      <p:sp>
        <p:nvSpPr>
          <p:cNvPr id="93" name="TextBox"/>
          <p:cNvSpPr txBox="1"/>
          <p:nvPr/>
        </p:nvSpPr>
        <p:spPr>
          <a:xfrm>
            <a:off x="8267699" y="8039100"/>
            <a:ext cx="36252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query: "HNSW 索引参数" · collection: kb_prod_2f8a · topk: 5</a:t>
            </a:r>
          </a:p>
        </p:txBody>
      </p:sp>
      <p:sp>
        <p:nvSpPr>
          <p:cNvPr id="94" name="Rectangle"/>
          <p:cNvSpPr/>
          <p:nvPr/>
        </p:nvSpPr>
        <p:spPr>
          <a:xfrm>
            <a:off x="8139113" y="7662863"/>
            <a:ext cx="6067425" cy="647700"/>
          </a:xfrm>
          <a:prstGeom prst="roundRect">
            <a:avLst>
              <a:gd name="adj" fmla="val 1102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7720013" y="5500688"/>
            <a:ext cx="6905625" cy="3228975"/>
          </a:xfrm>
          <a:prstGeom prst="roundRect">
            <a:avLst>
              <a:gd name="adj" fmla="val 3392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6" name="Rectangle"/>
          <p:cNvSpPr/>
          <p:nvPr/>
        </p:nvSpPr>
        <p:spPr>
          <a:xfrm>
            <a:off x="609600" y="8924925"/>
            <a:ext cx="6915150" cy="5276850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838200" y="9153525"/>
            <a:ext cx="1759677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切分策略 · Chunking Strategy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838200" y="94869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切分决定检索命中粒度：粒度太小丢上下文，太大稀释相关性。参数必须在配置阶段显式确认，并给出分片预览。</a:t>
            </a:r>
          </a:p>
        </p:txBody>
      </p:sp>
      <p:sp>
        <p:nvSpPr>
          <p:cNvPr id="99" name="Rectangle"/>
          <p:cNvSpPr/>
          <p:nvPr/>
        </p:nvSpPr>
        <p:spPr>
          <a:xfrm>
            <a:off x="838200" y="9829800"/>
            <a:ext cx="6457950" cy="4143375"/>
          </a:xfrm>
          <a:prstGeom prst="roundRect">
            <a:avLst>
              <a:gd name="adj" fmla="val 2298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"/>
          <p:cNvSpPr txBox="1"/>
          <p:nvPr/>
        </p:nvSpPr>
        <p:spPr>
          <a:xfrm>
            <a:off x="1028700" y="100203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切分方式</a:t>
            </a:r>
          </a:p>
        </p:txBody>
      </p:sp>
      <p:sp>
        <p:nvSpPr>
          <p:cNvPr id="101" name="Rectangle"/>
          <p:cNvSpPr/>
          <p:nvPr/>
        </p:nvSpPr>
        <p:spPr>
          <a:xfrm>
            <a:off x="1028700" y="10334625"/>
            <a:ext cx="2400300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"/>
          <p:cNvSpPr/>
          <p:nvPr/>
        </p:nvSpPr>
        <p:spPr>
          <a:xfrm>
            <a:off x="1057275" y="10363200"/>
            <a:ext cx="885825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TextBox"/>
          <p:cNvSpPr txBox="1"/>
          <p:nvPr/>
        </p:nvSpPr>
        <p:spPr>
          <a:xfrm>
            <a:off x="1190625" y="104108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9525" dist="9525" dir="5400000" algn="ctr" rotWithShape="0">
                    <a:srgbClr val="0F121A">
                      <a:alpha val="1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按标题层级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2105025" y="1041082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按段落</a:t>
            </a:r>
          </a:p>
        </p:txBody>
      </p:sp>
      <p:sp>
        <p:nvSpPr>
          <p:cNvPr id="105" name="TextBox"/>
          <p:cNvSpPr txBox="1"/>
          <p:nvPr/>
        </p:nvSpPr>
        <p:spPr>
          <a:xfrm>
            <a:off x="2771775" y="104108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latin typeface="Noto Sans SC"/>
                <a:ea typeface="Noto Sans SC"/>
                <a:cs typeface="Noto Sans SC"/>
              </a:rPr>
              <a:t>固定长度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1028700" y="108108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分片长度</a:t>
            </a:r>
          </a:p>
        </p:txBody>
      </p:sp>
      <p:sp>
        <p:nvSpPr>
          <p:cNvPr id="107" name="Rectangle"/>
          <p:cNvSpPr/>
          <p:nvPr/>
        </p:nvSpPr>
        <p:spPr>
          <a:xfrm>
            <a:off x="1028700" y="11020425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1143000" y="1110615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1024 token</a:t>
            </a:r>
          </a:p>
        </p:txBody>
      </p:sp>
      <p:sp>
        <p:nvSpPr>
          <p:cNvPr id="109" name="Rectangle"/>
          <p:cNvSpPr/>
          <p:nvPr/>
        </p:nvSpPr>
        <p:spPr>
          <a:xfrm>
            <a:off x="1033463" y="11025188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"/>
          <p:cNvSpPr txBox="1"/>
          <p:nvPr/>
        </p:nvSpPr>
        <p:spPr>
          <a:xfrm>
            <a:off x="4143375" y="108108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重叠长度</a:t>
            </a:r>
          </a:p>
        </p:txBody>
      </p:sp>
      <p:sp>
        <p:nvSpPr>
          <p:cNvPr id="111" name="Rectangle"/>
          <p:cNvSpPr/>
          <p:nvPr/>
        </p:nvSpPr>
        <p:spPr>
          <a:xfrm>
            <a:off x="4143375" y="11020425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"/>
          <p:cNvSpPr txBox="1"/>
          <p:nvPr/>
        </p:nvSpPr>
        <p:spPr>
          <a:xfrm>
            <a:off x="4257675" y="11106150"/>
            <a:ext cx="6172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128 token</a:t>
            </a:r>
          </a:p>
        </p:txBody>
      </p:sp>
      <p:sp>
        <p:nvSpPr>
          <p:cNvPr id="113" name="Rectangle"/>
          <p:cNvSpPr/>
          <p:nvPr/>
        </p:nvSpPr>
        <p:spPr>
          <a:xfrm>
            <a:off x="4148138" y="11025188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1028700" y="114966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特殊处理</a:t>
            </a:r>
          </a:p>
        </p:txBody>
      </p:sp>
      <p:sp>
        <p:nvSpPr>
          <p:cNvPr id="115" name="Rectangle"/>
          <p:cNvSpPr/>
          <p:nvPr/>
        </p:nvSpPr>
        <p:spPr>
          <a:xfrm>
            <a:off x="1028700" y="11820525"/>
            <a:ext cx="142875" cy="142875"/>
          </a:xfrm>
          <a:prstGeom prst="roundRect">
            <a:avLst>
              <a:gd name="adj" fmla="val 25000"/>
            </a:avLst>
          </a:prstGeom>
          <a:solidFill>
            <a:srgbClr val="4F5B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Path"/>
          <p:cNvSpPr/>
          <p:nvPr/>
        </p:nvSpPr>
        <p:spPr>
          <a:xfrm>
            <a:off x="1060309" y="11862726"/>
            <a:ext cx="79781" cy="61028"/>
          </a:xfrm>
          <a:custGeom>
            <a:avLst/>
            <a:gdLst/>
            <a:ahLst/>
            <a:cxnLst/>
            <a:rect l="0" t="0" r="r" b="b"/>
            <a:pathLst>
              <a:path w="79781" h="61028">
                <a:moveTo>
                  <a:pt x="13049" y="25655"/>
                </a:moveTo>
                <a:lnTo>
                  <a:pt x="29783" y="42389"/>
                </a:lnTo>
                <a:lnTo>
                  <a:pt x="66394" y="2661"/>
                </a:lnTo>
                <a:quadBezTo>
                  <a:pt x="68483" y="260"/>
                  <a:pt x="71666" y="221"/>
                </a:quadBezTo>
                <a:quadBezTo>
                  <a:pt x="74842" y="0"/>
                  <a:pt x="77119" y="2224"/>
                </a:quadBezTo>
                <a:quadBezTo>
                  <a:pt x="79521" y="4313"/>
                  <a:pt x="79559" y="7496"/>
                </a:quadBezTo>
                <a:quadBezTo>
                  <a:pt x="79781" y="10671"/>
                  <a:pt x="77557" y="12949"/>
                </a:quadBezTo>
                <a:lnTo>
                  <a:pt x="35588" y="58490"/>
                </a:lnTo>
                <a:quadBezTo>
                  <a:pt x="35535" y="58547"/>
                  <a:pt x="35481" y="58603"/>
                </a:quadBezTo>
                <a:quadBezTo>
                  <a:pt x="35428" y="58659"/>
                  <a:pt x="35373" y="58714"/>
                </a:quadBezTo>
                <a:quadBezTo>
                  <a:pt x="33188" y="61028"/>
                  <a:pt x="30006" y="60937"/>
                </a:quadBezTo>
                <a:quadBezTo>
                  <a:pt x="26824" y="61028"/>
                  <a:pt x="24639" y="58714"/>
                </a:quadBezTo>
                <a:lnTo>
                  <a:pt x="2315" y="36389"/>
                </a:lnTo>
                <a:quadBezTo>
                  <a:pt x="0" y="34204"/>
                  <a:pt x="92" y="31022"/>
                </a:quadBezTo>
                <a:quadBezTo>
                  <a:pt x="0" y="27840"/>
                  <a:pt x="2315" y="25655"/>
                </a:quadBezTo>
                <a:quadBezTo>
                  <a:pt x="4500" y="23341"/>
                  <a:pt x="7682" y="23432"/>
                </a:quadBezTo>
                <a:quadBezTo>
                  <a:pt x="10864" y="23341"/>
                  <a:pt x="13049" y="25655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"/>
          <p:cNvSpPr txBox="1"/>
          <p:nvPr/>
        </p:nvSpPr>
        <p:spPr>
          <a:xfrm>
            <a:off x="1238250" y="11811000"/>
            <a:ext cx="571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保留代码块</a:t>
            </a:r>
          </a:p>
        </p:txBody>
      </p:sp>
      <p:sp>
        <p:nvSpPr>
          <p:cNvPr id="118" name="Rectangle"/>
          <p:cNvSpPr/>
          <p:nvPr/>
        </p:nvSpPr>
        <p:spPr>
          <a:xfrm>
            <a:off x="2006501" y="11826776"/>
            <a:ext cx="130373" cy="130373"/>
          </a:xfrm>
          <a:prstGeom prst="roundRect">
            <a:avLst>
              <a:gd name="adj" fmla="val 24657"/>
            </a:avLst>
          </a:prstGeom>
          <a:noFill/>
          <a:ln w="12502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2209800" y="118110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表格按行拆分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1028700" y="12125325"/>
            <a:ext cx="9681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分片预览 · 前 2 片</a:t>
            </a:r>
          </a:p>
        </p:txBody>
      </p:sp>
      <p:sp>
        <p:nvSpPr>
          <p:cNvPr id="121" name="Rectangle"/>
          <p:cNvSpPr/>
          <p:nvPr/>
        </p:nvSpPr>
        <p:spPr>
          <a:xfrm>
            <a:off x="1028700" y="12439650"/>
            <a:ext cx="6076950" cy="7239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Box"/>
          <p:cNvSpPr txBox="1"/>
          <p:nvPr/>
        </p:nvSpPr>
        <p:spPr>
          <a:xfrm>
            <a:off x="1123950" y="12534900"/>
            <a:ext cx="26098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分片 #1 · 458 token · 来源 zvec-architecture.md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1123950" y="12706350"/>
            <a:ext cx="5861304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HNSW 图在构建阶段通过逐层插入维护邻居关系，efConstruction 决定候选集大小；将其提高可改善高维向量的召回上限。</a:t>
            </a:r>
          </a:p>
        </p:txBody>
      </p:sp>
      <p:sp>
        <p:nvSpPr>
          <p:cNvPr id="124" name="Rectangle"/>
          <p:cNvSpPr/>
          <p:nvPr/>
        </p:nvSpPr>
        <p:spPr>
          <a:xfrm>
            <a:off x="1033463" y="12444413"/>
            <a:ext cx="6067425" cy="714375"/>
          </a:xfrm>
          <a:prstGeom prst="roundRect">
            <a:avLst>
              <a:gd name="adj" fmla="val 7333"/>
            </a:avLst>
          </a:prstGeom>
          <a:noFill/>
          <a:ln w="9525">
            <a:solidFill>
              <a:srgbClr val="E9ECF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5" name="Rectangle"/>
          <p:cNvSpPr/>
          <p:nvPr/>
        </p:nvSpPr>
        <p:spPr>
          <a:xfrm>
            <a:off x="1028700" y="13239750"/>
            <a:ext cx="607695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"/>
          <p:cNvSpPr txBox="1"/>
          <p:nvPr/>
        </p:nvSpPr>
        <p:spPr>
          <a:xfrm>
            <a:off x="1123950" y="13335000"/>
            <a:ext cx="19812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分片 #2 · 476 token · 重叠 128 token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1123950" y="13506450"/>
            <a:ext cx="4816602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提高 efConstruction 到 200 后召回率提升约 4.2 个百分点，构建耗时增长约 1.6 倍，需要权衡。</a:t>
            </a:r>
          </a:p>
        </p:txBody>
      </p:sp>
      <p:sp>
        <p:nvSpPr>
          <p:cNvPr id="128" name="Rectangle"/>
          <p:cNvSpPr/>
          <p:nvPr/>
        </p:nvSpPr>
        <p:spPr>
          <a:xfrm>
            <a:off x="1033463" y="13244513"/>
            <a:ext cx="6067425" cy="533400"/>
          </a:xfrm>
          <a:prstGeom prst="roundRect">
            <a:avLst>
              <a:gd name="adj" fmla="val 9821"/>
            </a:avLst>
          </a:prstGeom>
          <a:noFill/>
          <a:ln w="9525">
            <a:solidFill>
              <a:srgbClr val="E9ECF2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9" name="Rectangle"/>
          <p:cNvSpPr/>
          <p:nvPr/>
        </p:nvSpPr>
        <p:spPr>
          <a:xfrm>
            <a:off x="614363" y="8929688"/>
            <a:ext cx="6905625" cy="5267325"/>
          </a:xfrm>
          <a:prstGeom prst="roundRect">
            <a:avLst>
              <a:gd name="adj" fmla="val 207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ectangle"/>
          <p:cNvSpPr/>
          <p:nvPr/>
        </p:nvSpPr>
        <p:spPr>
          <a:xfrm>
            <a:off x="7715250" y="8924925"/>
            <a:ext cx="6915150" cy="6343650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Box"/>
          <p:cNvSpPr txBox="1"/>
          <p:nvPr/>
        </p:nvSpPr>
        <p:spPr>
          <a:xfrm>
            <a:off x="7943850" y="9153525"/>
            <a:ext cx="219591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嵌入与索引策略 · Embedding &amp; Index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7943850" y="9486900"/>
            <a:ext cx="5486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9AA3B2"/>
                </a:solidFill>
                <a:latin typeface="Noto Sans SC"/>
                <a:ea typeface="Noto Sans SC"/>
                <a:cs typeface="Noto Sans SC"/>
              </a:rPr>
              <a:t>维度必须与嵌入模型对齐，距离度量必须与向量归一化方式一致。索引类型与量化器决定召回与存储的取舍。</a:t>
            </a:r>
          </a:p>
        </p:txBody>
      </p:sp>
      <p:sp>
        <p:nvSpPr>
          <p:cNvPr id="133" name="Rectangle"/>
          <p:cNvSpPr/>
          <p:nvPr/>
        </p:nvSpPr>
        <p:spPr>
          <a:xfrm>
            <a:off x="7943850" y="9829800"/>
            <a:ext cx="6457950" cy="5210175"/>
          </a:xfrm>
          <a:prstGeom prst="roundRect">
            <a:avLst>
              <a:gd name="adj" fmla="val 1828"/>
            </a:avLst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Box"/>
          <p:cNvSpPr txBox="1"/>
          <p:nvPr/>
        </p:nvSpPr>
        <p:spPr>
          <a:xfrm>
            <a:off x="8134350" y="100203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嵌入模型</a:t>
            </a:r>
          </a:p>
        </p:txBody>
      </p:sp>
      <p:sp>
        <p:nvSpPr>
          <p:cNvPr id="135" name="Rectangle"/>
          <p:cNvSpPr/>
          <p:nvPr/>
        </p:nvSpPr>
        <p:spPr>
          <a:xfrm>
            <a:off x="8134350" y="10334625"/>
            <a:ext cx="6076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Box"/>
          <p:cNvSpPr txBox="1"/>
          <p:nvPr/>
        </p:nvSpPr>
        <p:spPr>
          <a:xfrm>
            <a:off x="8248650" y="10420350"/>
            <a:ext cx="218953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text-embedding-v4 · 1024 维 · 支持稀疏</a:t>
            </a:r>
          </a:p>
        </p:txBody>
      </p:sp>
      <p:sp>
        <p:nvSpPr>
          <p:cNvPr id="137" name="Path"/>
          <p:cNvSpPr/>
          <p:nvPr/>
        </p:nvSpPr>
        <p:spPr>
          <a:xfrm>
            <a:off x="13999283" y="10475033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Rectangle"/>
          <p:cNvSpPr/>
          <p:nvPr/>
        </p:nvSpPr>
        <p:spPr>
          <a:xfrm>
            <a:off x="8139113" y="10339388"/>
            <a:ext cx="60674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Box"/>
          <p:cNvSpPr txBox="1"/>
          <p:nvPr/>
        </p:nvSpPr>
        <p:spPr>
          <a:xfrm>
            <a:off x="8134350" y="10810875"/>
            <a:ext cx="98991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向量维度 · 数据类型</a:t>
            </a:r>
          </a:p>
        </p:txBody>
      </p:sp>
      <p:sp>
        <p:nvSpPr>
          <p:cNvPr id="140" name="Rectangle"/>
          <p:cNvSpPr/>
          <p:nvPr/>
        </p:nvSpPr>
        <p:spPr>
          <a:xfrm>
            <a:off x="8134350" y="11020425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Box"/>
          <p:cNvSpPr txBox="1"/>
          <p:nvPr/>
        </p:nvSpPr>
        <p:spPr>
          <a:xfrm>
            <a:off x="8248650" y="1110615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1024 · VECTOR_FP32</a:t>
            </a:r>
          </a:p>
        </p:txBody>
      </p:sp>
      <p:sp>
        <p:nvSpPr>
          <p:cNvPr id="142" name="Rectangle"/>
          <p:cNvSpPr/>
          <p:nvPr/>
        </p:nvSpPr>
        <p:spPr>
          <a:xfrm>
            <a:off x="8139113" y="11025188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Box"/>
          <p:cNvSpPr txBox="1"/>
          <p:nvPr/>
        </p:nvSpPr>
        <p:spPr>
          <a:xfrm>
            <a:off x="11249025" y="108108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距离度量</a:t>
            </a:r>
          </a:p>
        </p:txBody>
      </p:sp>
      <p:sp>
        <p:nvSpPr>
          <p:cNvPr id="144" name="Rectangle"/>
          <p:cNvSpPr/>
          <p:nvPr/>
        </p:nvSpPr>
        <p:spPr>
          <a:xfrm>
            <a:off x="11249025" y="11020425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"/>
          <p:cNvSpPr txBox="1"/>
          <p:nvPr/>
        </p:nvSpPr>
        <p:spPr>
          <a:xfrm>
            <a:off x="11363325" y="1110615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cosine</a:t>
            </a:r>
          </a:p>
        </p:txBody>
      </p:sp>
      <p:sp>
        <p:nvSpPr>
          <p:cNvPr id="146" name="Path"/>
          <p:cNvSpPr/>
          <p:nvPr/>
        </p:nvSpPr>
        <p:spPr>
          <a:xfrm>
            <a:off x="13999283" y="11160833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Rectangle"/>
          <p:cNvSpPr/>
          <p:nvPr/>
        </p:nvSpPr>
        <p:spPr>
          <a:xfrm>
            <a:off x="11253788" y="11025188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Box"/>
          <p:cNvSpPr txBox="1"/>
          <p:nvPr/>
        </p:nvSpPr>
        <p:spPr>
          <a:xfrm>
            <a:off x="8134350" y="114966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索引类型</a:t>
            </a:r>
          </a:p>
        </p:txBody>
      </p:sp>
      <p:sp>
        <p:nvSpPr>
          <p:cNvPr id="149" name="Rectangle"/>
          <p:cNvSpPr/>
          <p:nvPr/>
        </p:nvSpPr>
        <p:spPr>
          <a:xfrm>
            <a:off x="8134350" y="11811000"/>
            <a:ext cx="1971675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Rectangle"/>
          <p:cNvSpPr/>
          <p:nvPr/>
        </p:nvSpPr>
        <p:spPr>
          <a:xfrm>
            <a:off x="8162925" y="11839575"/>
            <a:ext cx="571500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1" name="TextBox"/>
          <p:cNvSpPr txBox="1"/>
          <p:nvPr/>
        </p:nvSpPr>
        <p:spPr>
          <a:xfrm>
            <a:off x="8296275" y="11896725"/>
            <a:ext cx="2971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9525" dist="9525" dir="5400000" algn="ctr" rotWithShape="0">
                    <a:srgbClr val="0F121A">
                      <a:alpha val="10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HNSW</a:t>
            </a:r>
          </a:p>
        </p:txBody>
      </p:sp>
      <p:sp>
        <p:nvSpPr>
          <p:cNvPr id="152" name="TextBox"/>
          <p:cNvSpPr txBox="1"/>
          <p:nvPr/>
        </p:nvSpPr>
        <p:spPr>
          <a:xfrm>
            <a:off x="8896350" y="11896725"/>
            <a:ext cx="2228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IVF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9420225" y="11896725"/>
            <a:ext cx="5200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5B6472"/>
                </a:solidFill>
                <a:latin typeface="JetBrains Mono"/>
                <a:ea typeface="JetBrains Mono"/>
                <a:cs typeface="JetBrains Mono"/>
              </a:rPr>
              <a:t>DiskANN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8134350" y="12287250"/>
            <a:ext cx="76066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M · 每层邻居数</a:t>
            </a:r>
          </a:p>
        </p:txBody>
      </p:sp>
      <p:sp>
        <p:nvSpPr>
          <p:cNvPr id="155" name="Rectangle"/>
          <p:cNvSpPr/>
          <p:nvPr/>
        </p:nvSpPr>
        <p:spPr>
          <a:xfrm>
            <a:off x="8134350" y="12496800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Box"/>
          <p:cNvSpPr txBox="1"/>
          <p:nvPr/>
        </p:nvSpPr>
        <p:spPr>
          <a:xfrm>
            <a:off x="8248650" y="12582525"/>
            <a:ext cx="1371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32</a:t>
            </a:r>
          </a:p>
        </p:txBody>
      </p:sp>
      <p:sp>
        <p:nvSpPr>
          <p:cNvPr id="157" name="Rectangle"/>
          <p:cNvSpPr/>
          <p:nvPr/>
        </p:nvSpPr>
        <p:spPr>
          <a:xfrm>
            <a:off x="8139113" y="12501563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Box"/>
          <p:cNvSpPr txBox="1"/>
          <p:nvPr/>
        </p:nvSpPr>
        <p:spPr>
          <a:xfrm>
            <a:off x="11249025" y="12287250"/>
            <a:ext cx="11897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efConstruction · 候选集</a:t>
            </a:r>
          </a:p>
        </p:txBody>
      </p:sp>
      <p:sp>
        <p:nvSpPr>
          <p:cNvPr id="159" name="Rectangle"/>
          <p:cNvSpPr/>
          <p:nvPr/>
        </p:nvSpPr>
        <p:spPr>
          <a:xfrm>
            <a:off x="11249025" y="12496800"/>
            <a:ext cx="29622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Box"/>
          <p:cNvSpPr txBox="1"/>
          <p:nvPr/>
        </p:nvSpPr>
        <p:spPr>
          <a:xfrm>
            <a:off x="11363325" y="12582525"/>
            <a:ext cx="205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200</a:t>
            </a:r>
          </a:p>
        </p:txBody>
      </p:sp>
      <p:sp>
        <p:nvSpPr>
          <p:cNvPr id="161" name="Rectangle"/>
          <p:cNvSpPr/>
          <p:nvPr/>
        </p:nvSpPr>
        <p:spPr>
          <a:xfrm>
            <a:off x="11253788" y="12501563"/>
            <a:ext cx="295275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Box"/>
          <p:cNvSpPr txBox="1"/>
          <p:nvPr/>
        </p:nvSpPr>
        <p:spPr>
          <a:xfrm>
            <a:off x="8134350" y="12973050"/>
            <a:ext cx="9658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量化器 · 存储压缩</a:t>
            </a:r>
          </a:p>
        </p:txBody>
      </p:sp>
      <p:sp>
        <p:nvSpPr>
          <p:cNvPr id="163" name="Rectangle"/>
          <p:cNvSpPr/>
          <p:nvPr/>
        </p:nvSpPr>
        <p:spPr>
          <a:xfrm>
            <a:off x="8134350" y="13287375"/>
            <a:ext cx="6076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Box"/>
          <p:cNvSpPr txBox="1"/>
          <p:nvPr/>
        </p:nvSpPr>
        <p:spPr>
          <a:xfrm>
            <a:off x="8248650" y="13373100"/>
            <a:ext cx="22209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latin typeface="Noto Sans SC"/>
                <a:ea typeface="Noto Sans SC"/>
                <a:cs typeface="Noto Sans SC"/>
              </a:rPr>
              <a:t>PQ-INT8 · 存储压缩 4×，召回损失 &lt; 1.5%</a:t>
            </a:r>
          </a:p>
        </p:txBody>
      </p:sp>
      <p:sp>
        <p:nvSpPr>
          <p:cNvPr id="165" name="Path"/>
          <p:cNvSpPr/>
          <p:nvPr/>
        </p:nvSpPr>
        <p:spPr>
          <a:xfrm>
            <a:off x="13999283" y="13427783"/>
            <a:ext cx="81135" cy="47797"/>
          </a:xfrm>
          <a:custGeom>
            <a:avLst/>
            <a:gdLst/>
            <a:ahLst/>
            <a:cxnLst/>
            <a:rect l="0" t="0" r="r" b="b"/>
            <a:pathLst>
              <a:path w="81135" h="47797">
                <a:moveTo>
                  <a:pt x="12281" y="2179"/>
                </a:moveTo>
                <a:lnTo>
                  <a:pt x="40567" y="30465"/>
                </a:lnTo>
                <a:lnTo>
                  <a:pt x="68854" y="2179"/>
                </a:lnTo>
                <a:quadBezTo>
                  <a:pt x="70910" y="0"/>
                  <a:pt x="73905" y="86"/>
                </a:quadBezTo>
                <a:quadBezTo>
                  <a:pt x="76900" y="0"/>
                  <a:pt x="78956" y="2179"/>
                </a:quadBezTo>
                <a:quadBezTo>
                  <a:pt x="81135" y="4235"/>
                  <a:pt x="81049" y="7230"/>
                </a:quadBezTo>
                <a:quadBezTo>
                  <a:pt x="81135" y="10225"/>
                  <a:pt x="78956" y="12281"/>
                </a:quadBezTo>
                <a:lnTo>
                  <a:pt x="45619" y="45619"/>
                </a:lnTo>
                <a:quadBezTo>
                  <a:pt x="43562" y="47797"/>
                  <a:pt x="40567" y="47711"/>
                </a:quadBezTo>
                <a:quadBezTo>
                  <a:pt x="37573" y="47797"/>
                  <a:pt x="35516" y="45619"/>
                </a:quadBezTo>
                <a:lnTo>
                  <a:pt x="2179" y="12281"/>
                </a:ln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quadBezTo>
                  <a:pt x="10225" y="0"/>
                  <a:pt x="12281" y="2179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Rectangle"/>
          <p:cNvSpPr/>
          <p:nvPr/>
        </p:nvSpPr>
        <p:spPr>
          <a:xfrm>
            <a:off x="8139113" y="13292138"/>
            <a:ext cx="60674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Box"/>
          <p:cNvSpPr txBox="1"/>
          <p:nvPr/>
        </p:nvSpPr>
        <p:spPr>
          <a:xfrm>
            <a:off x="8134350" y="13763625"/>
            <a:ext cx="13205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latin typeface="Noto Sans SC"/>
                <a:ea typeface="Noto Sans SC"/>
                <a:cs typeface="Noto Sans SC"/>
              </a:rPr>
              <a:t>混合检索权重 · RRF 融合</a:t>
            </a:r>
          </a:p>
        </p:txBody>
      </p:sp>
      <p:sp>
        <p:nvSpPr>
          <p:cNvPr id="168" name="TextBox"/>
          <p:cNvSpPr txBox="1"/>
          <p:nvPr/>
        </p:nvSpPr>
        <p:spPr>
          <a:xfrm>
            <a:off x="8134350" y="14077950"/>
            <a:ext cx="97075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稠密向量 semantic</a:t>
            </a:r>
          </a:p>
        </p:txBody>
      </p:sp>
      <p:sp>
        <p:nvSpPr>
          <p:cNvPr id="169" name="TextBox"/>
          <p:cNvSpPr txBox="1"/>
          <p:nvPr/>
        </p:nvSpPr>
        <p:spPr>
          <a:xfrm>
            <a:off x="13935075" y="14087475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0.70</a:t>
            </a:r>
          </a:p>
        </p:txBody>
      </p:sp>
      <p:sp>
        <p:nvSpPr>
          <p:cNvPr id="170" name="TextBox"/>
          <p:cNvSpPr txBox="1"/>
          <p:nvPr/>
        </p:nvSpPr>
        <p:spPr>
          <a:xfrm>
            <a:off x="8134350" y="14392275"/>
            <a:ext cx="12586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全文检索 BM25 / n-gram</a:t>
            </a:r>
          </a:p>
        </p:txBody>
      </p:sp>
      <p:sp>
        <p:nvSpPr>
          <p:cNvPr id="171" name="TextBox"/>
          <p:cNvSpPr txBox="1"/>
          <p:nvPr/>
        </p:nvSpPr>
        <p:spPr>
          <a:xfrm>
            <a:off x="13935075" y="1440180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latin typeface="JetBrains Mono"/>
                <a:ea typeface="JetBrains Mono"/>
                <a:cs typeface="JetBrains Mono"/>
              </a:rPr>
              <a:t>0.30</a:t>
            </a:r>
          </a:p>
        </p:txBody>
      </p:sp>
      <p:sp>
        <p:nvSpPr>
          <p:cNvPr id="172" name="TextBox"/>
          <p:cNvSpPr txBox="1"/>
          <p:nvPr/>
        </p:nvSpPr>
        <p:spPr>
          <a:xfrm>
            <a:off x="8134349" y="14706600"/>
            <a:ext cx="335280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预估：128 文档 → 1,024 分片 · 构建约 42s · 向量存储 412 MB</a:t>
            </a:r>
          </a:p>
        </p:txBody>
      </p:sp>
      <p:sp>
        <p:nvSpPr>
          <p:cNvPr id="173" name="Rectangle"/>
          <p:cNvSpPr/>
          <p:nvPr/>
        </p:nvSpPr>
        <p:spPr>
          <a:xfrm>
            <a:off x="7720013" y="8929688"/>
            <a:ext cx="6905625" cy="6334125"/>
          </a:xfrm>
          <a:prstGeom prst="roundRect">
            <a:avLst>
              <a:gd name="adj" fmla="val 1729"/>
            </a:avLst>
          </a:prstGeom>
          <a:noFill/>
          <a:ln w="9525">
            <a:solidFill>
              <a:srgbClr val="E1E5EC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112520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05 / SCREENS · 应用界面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1524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知识库总览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7865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插件主视图。回答一个问题：现在有哪些知识库、各自什么状态。主导航固定 240px，主区是唯一的视觉重心，全局只有一个主按钮。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392150" y="148590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1440 × 900 · LIGHT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1943100"/>
            <a:ext cx="13716000" cy="8572500"/>
          </a:xfrm>
          <a:prstGeom prst="roundRect">
            <a:avLst>
              <a:gd name="adj" fmla="val 1555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609600" y="1943100"/>
            <a:ext cx="2286000" cy="857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800100" y="2152650"/>
            <a:ext cx="285750" cy="285750"/>
          </a:xfrm>
          <a:prstGeom prst="roundRect">
            <a:avLst>
              <a:gd name="adj" fmla="val 26666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868680" y="2272665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978217" y="222408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978217" y="233457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905310" y="2245478"/>
            <a:ext cx="75330" cy="100095"/>
          </a:xfrm>
          <a:custGeom>
            <a:avLst/>
            <a:gdLst/>
            <a:ahLst/>
            <a:cxnLst/>
            <a:rect l="0" t="0" r="r" b="b"/>
            <a:pathLst>
              <a:path w="75330" h="100095">
                <a:moveTo>
                  <a:pt x="3555" y="34521"/>
                </a:moveTo>
                <a:lnTo>
                  <a:pt x="66420" y="1183"/>
                </a:lnTo>
                <a:quadBezTo>
                  <a:pt x="68504" y="0"/>
                  <a:pt x="70774" y="769"/>
                </a:quadBezTo>
                <a:quadBezTo>
                  <a:pt x="73085" y="1406"/>
                  <a:pt x="74146" y="3555"/>
                </a:quadBezTo>
                <a:quadBezTo>
                  <a:pt x="75330" y="5639"/>
                  <a:pt x="74561" y="7909"/>
                </a:quadBezTo>
                <a:quadBezTo>
                  <a:pt x="73924" y="10220"/>
                  <a:pt x="71775" y="11281"/>
                </a:quadBezTo>
                <a:lnTo>
                  <a:pt x="8910" y="44619"/>
                </a:lnTo>
                <a:quadBezTo>
                  <a:pt x="6826" y="45802"/>
                  <a:pt x="4555" y="45033"/>
                </a:quadBezTo>
                <a:quadBezTo>
                  <a:pt x="2245" y="44396"/>
                  <a:pt x="1183" y="42247"/>
                </a:quadBezTo>
                <a:quadBezTo>
                  <a:pt x="0" y="40163"/>
                  <a:pt x="769" y="37893"/>
                </a:quadBezTo>
                <a:quadBezTo>
                  <a:pt x="1406" y="35582"/>
                  <a:pt x="3555" y="34521"/>
                </a:quadBezTo>
                <a:close/>
                <a:moveTo>
                  <a:pt x="8910" y="55476"/>
                </a:moveTo>
                <a:lnTo>
                  <a:pt x="71775" y="88813"/>
                </a:lnTo>
                <a:quadBezTo>
                  <a:pt x="73924" y="89875"/>
                  <a:pt x="74561" y="92185"/>
                </a:quadBezTo>
                <a:quadBezTo>
                  <a:pt x="75330" y="94456"/>
                  <a:pt x="74146" y="96540"/>
                </a:quadBezTo>
                <a:quadBezTo>
                  <a:pt x="73085" y="98689"/>
                  <a:pt x="70774" y="99326"/>
                </a:quadBezTo>
                <a:quadBezTo>
                  <a:pt x="68504" y="100095"/>
                  <a:pt x="66420" y="98911"/>
                </a:quadBezTo>
                <a:lnTo>
                  <a:pt x="3555" y="65574"/>
                </a:lnTo>
                <a:quadBezTo>
                  <a:pt x="1406" y="64512"/>
                  <a:pt x="769" y="62202"/>
                </a:quadBezTo>
                <a:quadBezTo>
                  <a:pt x="0" y="59932"/>
                  <a:pt x="1183" y="57847"/>
                </a:quadBezTo>
                <a:quadBezTo>
                  <a:pt x="2245" y="55698"/>
                  <a:pt x="4555" y="55061"/>
                </a:quadBezTo>
                <a:quadBezTo>
                  <a:pt x="6826" y="54293"/>
                  <a:pt x="8910" y="55476"/>
                </a:quad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181100" y="21336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知识库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81100" y="233362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zvec · local</a:t>
            </a:r>
          </a:p>
        </p:txBody>
      </p:sp>
      <p:sp>
        <p:nvSpPr>
          <p:cNvPr id="16" name="Rectangle"/>
          <p:cNvSpPr/>
          <p:nvPr/>
        </p:nvSpPr>
        <p:spPr>
          <a:xfrm>
            <a:off x="742950" y="2571750"/>
            <a:ext cx="2019300" cy="342900"/>
          </a:xfrm>
          <a:prstGeom prst="roundRect">
            <a:avLst>
              <a:gd name="adj" fmla="val 2222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859155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22020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859155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22020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085850" y="26574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概览</a:t>
            </a:r>
          </a:p>
        </p:txBody>
      </p:sp>
      <p:sp>
        <p:nvSpPr>
          <p:cNvPr id="22" name="Path"/>
          <p:cNvSpPr/>
          <p:nvPr/>
        </p:nvSpPr>
        <p:spPr>
          <a:xfrm>
            <a:off x="850492" y="3041799"/>
            <a:ext cx="127816" cy="71458"/>
          </a:xfrm>
          <a:custGeom>
            <a:avLst/>
            <a:gdLst/>
            <a:ahLst/>
            <a:cxnLst/>
            <a:rect l="0" t="0" r="r" b="b"/>
            <a:pathLst>
              <a:path w="127816" h="71458">
                <a:moveTo>
                  <a:pt x="123900" y="30228"/>
                </a:moveTo>
                <a:quadBezTo>
                  <a:pt x="124756" y="30669"/>
                  <a:pt x="125436" y="31351"/>
                </a:quadBezTo>
                <a:quadBezTo>
                  <a:pt x="126118" y="32031"/>
                  <a:pt x="126559" y="32887"/>
                </a:quadBezTo>
                <a:quadBezTo>
                  <a:pt x="127816" y="35158"/>
                  <a:pt x="126957" y="37609"/>
                </a:quadBezTo>
                <a:quadBezTo>
                  <a:pt x="126240" y="40104"/>
                  <a:pt x="123900" y="41229"/>
                </a:quadBezTo>
                <a:lnTo>
                  <a:pt x="66750" y="70757"/>
                </a:lnTo>
                <a:quadBezTo>
                  <a:pt x="65416" y="71458"/>
                  <a:pt x="63908" y="71448"/>
                </a:quadBezTo>
                <a:quadBezTo>
                  <a:pt x="62401" y="71458"/>
                  <a:pt x="61066" y="70757"/>
                </a:quadBezTo>
                <a:lnTo>
                  <a:pt x="3916" y="41229"/>
                </a:lnTo>
                <a:quadBezTo>
                  <a:pt x="3060" y="40789"/>
                  <a:pt x="2380" y="40107"/>
                </a:quadBezTo>
                <a:quadBezTo>
                  <a:pt x="1698" y="39427"/>
                  <a:pt x="1258" y="38571"/>
                </a:quadBezTo>
                <a:quadBezTo>
                  <a:pt x="0" y="36299"/>
                  <a:pt x="859" y="33849"/>
                </a:quadBezTo>
                <a:quadBezTo>
                  <a:pt x="1576" y="31353"/>
                  <a:pt x="3916" y="30228"/>
                </a:quadBezTo>
                <a:lnTo>
                  <a:pt x="61066" y="701"/>
                </a:lnTo>
                <a:quadBezTo>
                  <a:pt x="62401" y="0"/>
                  <a:pt x="63908" y="10"/>
                </a:quadBezTo>
                <a:quadBezTo>
                  <a:pt x="65416" y="0"/>
                  <a:pt x="66750" y="701"/>
                </a:quadBezTo>
                <a:lnTo>
                  <a:pt x="123900" y="30228"/>
                </a:lnTo>
                <a:close/>
                <a:moveTo>
                  <a:pt x="63908" y="13170"/>
                </a:moveTo>
                <a:lnTo>
                  <a:pt x="20246" y="35729"/>
                </a:lnTo>
                <a:lnTo>
                  <a:pt x="63908" y="58288"/>
                </a:lnTo>
                <a:lnTo>
                  <a:pt x="107570" y="35729"/>
                </a:lnTo>
                <a:lnTo>
                  <a:pt x="63908" y="1317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854408" y="3104412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854408" y="3132987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085850" y="301942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</a:t>
            </a:r>
          </a:p>
        </p:txBody>
      </p:sp>
      <p:sp>
        <p:nvSpPr>
          <p:cNvPr id="26" name="Path"/>
          <p:cNvSpPr/>
          <p:nvPr/>
        </p:nvSpPr>
        <p:spPr>
          <a:xfrm>
            <a:off x="870109" y="3405659"/>
            <a:ext cx="88587" cy="122877"/>
          </a:xfrm>
          <a:custGeom>
            <a:avLst/>
            <a:gdLst/>
            <a:ahLst/>
            <a:cxnLst/>
            <a:rect l="0" t="0" r="r" b="b"/>
            <a:pathLst>
              <a:path w="88587" h="122877">
                <a:moveTo>
                  <a:pt x="19526" y="5"/>
                </a:moveTo>
                <a:lnTo>
                  <a:pt x="57626" y="5"/>
                </a:lnTo>
                <a:quadBezTo>
                  <a:pt x="58859" y="0"/>
                  <a:pt x="59996" y="476"/>
                </a:quadBezTo>
                <a:quadBezTo>
                  <a:pt x="61136" y="943"/>
                  <a:pt x="62004" y="1818"/>
                </a:quadBezTo>
                <a:lnTo>
                  <a:pt x="86769" y="26583"/>
                </a:lnTo>
                <a:quadBezTo>
                  <a:pt x="87644" y="27451"/>
                  <a:pt x="88111" y="28592"/>
                </a:quadBezTo>
                <a:quadBezTo>
                  <a:pt x="88587" y="29728"/>
                  <a:pt x="88582" y="30961"/>
                </a:quadBezTo>
                <a:lnTo>
                  <a:pt x="88582" y="103351"/>
                </a:lnTo>
                <a:quadBezTo>
                  <a:pt x="88582" y="111630"/>
                  <a:pt x="82959" y="117254"/>
                </a:quadBezTo>
                <a:quadBezTo>
                  <a:pt x="77336" y="122877"/>
                  <a:pt x="69056" y="122877"/>
                </a:quadBezTo>
                <a:lnTo>
                  <a:pt x="19526" y="122877"/>
                </a:lnTo>
                <a:quadBezTo>
                  <a:pt x="11247" y="122877"/>
                  <a:pt x="5623" y="117254"/>
                </a:quadBezTo>
                <a:quadBezTo>
                  <a:pt x="0" y="111630"/>
                  <a:pt x="0" y="103351"/>
                </a:quadBezTo>
                <a:lnTo>
                  <a:pt x="0" y="19531"/>
                </a:lnTo>
                <a:quadBezTo>
                  <a:pt x="0" y="11251"/>
                  <a:pt x="5623" y="5628"/>
                </a:quadBezTo>
                <a:quadBezTo>
                  <a:pt x="11247" y="5"/>
                  <a:pt x="19526" y="5"/>
                </a:quadBezTo>
                <a:close/>
                <a:moveTo>
                  <a:pt x="19526" y="12387"/>
                </a:moveTo>
                <a:quadBezTo>
                  <a:pt x="16376" y="12387"/>
                  <a:pt x="14379" y="14384"/>
                </a:quadBezTo>
                <a:quadBezTo>
                  <a:pt x="12382" y="16380"/>
                  <a:pt x="12382" y="19531"/>
                </a:quadBezTo>
                <a:lnTo>
                  <a:pt x="12382" y="103351"/>
                </a:lnTo>
                <a:quadBezTo>
                  <a:pt x="12382" y="106501"/>
                  <a:pt x="14379" y="108498"/>
                </a:quadBezTo>
                <a:quadBezTo>
                  <a:pt x="16376" y="110495"/>
                  <a:pt x="19526" y="110495"/>
                </a:quadBezTo>
                <a:lnTo>
                  <a:pt x="69056" y="110495"/>
                </a:lnTo>
                <a:quadBezTo>
                  <a:pt x="72207" y="110495"/>
                  <a:pt x="74203" y="108498"/>
                </a:quadBezTo>
                <a:quadBezTo>
                  <a:pt x="76200" y="106501"/>
                  <a:pt x="76200" y="103351"/>
                </a:quadBezTo>
                <a:lnTo>
                  <a:pt x="76200" y="33525"/>
                </a:lnTo>
                <a:lnTo>
                  <a:pt x="55062" y="12387"/>
                </a:lnTo>
                <a:lnTo>
                  <a:pt x="19526" y="12387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921469" y="3411855"/>
            <a:ext cx="31031" cy="31031"/>
          </a:xfrm>
          <a:custGeom>
            <a:avLst/>
            <a:gdLst/>
            <a:ahLst/>
            <a:cxnLst/>
            <a:rect l="0" t="0" r="r" b="b"/>
            <a:pathLst>
              <a:path w="31031" h="31031">
                <a:moveTo>
                  <a:pt x="12457" y="0"/>
                </a:moveTo>
                <a:lnTo>
                  <a:pt x="12457" y="18574"/>
                </a:lnTo>
                <a:lnTo>
                  <a:pt x="31031" y="18574"/>
                </a:lnTo>
                <a:lnTo>
                  <a:pt x="31031" y="30956"/>
                </a:lnTo>
                <a:lnTo>
                  <a:pt x="6266" y="30956"/>
                </a:lnTo>
                <a:quadBezTo>
                  <a:pt x="3671" y="31031"/>
                  <a:pt x="1888" y="29143"/>
                </a:quadBezTo>
                <a:quadBezTo>
                  <a:pt x="0" y="27360"/>
                  <a:pt x="75" y="24765"/>
                </a:quadBezTo>
                <a:lnTo>
                  <a:pt x="75" y="0"/>
                </a:lnTo>
                <a:lnTo>
                  <a:pt x="12457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085850" y="33813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29" name="Ellipse"/>
          <p:cNvSpPr/>
          <p:nvPr/>
        </p:nvSpPr>
        <p:spPr>
          <a:xfrm>
            <a:off x="863917" y="3778568"/>
            <a:ext cx="85725" cy="85725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932417" y="3847067"/>
            <a:ext cx="42071" cy="42071"/>
          </a:xfrm>
          <a:custGeom>
            <a:avLst/>
            <a:gdLst/>
            <a:ahLst/>
            <a:cxnLst/>
            <a:rect l="0" t="0" r="r" b="b"/>
            <a:pathLst>
              <a:path w="42071" h="42071">
                <a:moveTo>
                  <a:pt x="11463" y="2033"/>
                </a:moveTo>
                <a:lnTo>
                  <a:pt x="40038" y="30608"/>
                </a:lnTo>
                <a:quadBezTo>
                  <a:pt x="42071" y="32528"/>
                  <a:pt x="41990" y="35323"/>
                </a:quadBezTo>
                <a:quadBezTo>
                  <a:pt x="42071" y="38118"/>
                  <a:pt x="40038" y="40038"/>
                </a:quadBezTo>
                <a:quadBezTo>
                  <a:pt x="38118" y="42071"/>
                  <a:pt x="35323" y="41990"/>
                </a:quadBezTo>
                <a:quadBezTo>
                  <a:pt x="32528" y="42071"/>
                  <a:pt x="30608" y="40038"/>
                </a:quadBez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085850" y="37433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检索测试</a:t>
            </a:r>
          </a:p>
        </p:txBody>
      </p:sp>
      <p:sp>
        <p:nvSpPr>
          <p:cNvPr id="32" name="Ellipse"/>
          <p:cNvSpPr/>
          <p:nvPr/>
        </p:nvSpPr>
        <p:spPr>
          <a:xfrm>
            <a:off x="857250" y="4133850"/>
            <a:ext cx="114300" cy="11430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Path"/>
          <p:cNvSpPr/>
          <p:nvPr/>
        </p:nvSpPr>
        <p:spPr>
          <a:xfrm>
            <a:off x="907652" y="4151867"/>
            <a:ext cx="36873" cy="61638"/>
          </a:xfrm>
          <a:custGeom>
            <a:avLst/>
            <a:gdLst/>
            <a:ahLst/>
            <a:cxnLst/>
            <a:rect l="0" t="0" r="r" b="b"/>
            <a:pathLst>
              <a:path w="36873" h="61638">
                <a:moveTo>
                  <a:pt x="13415" y="6748"/>
                </a:moveTo>
                <a:lnTo>
                  <a:pt x="13415" y="38019"/>
                </a:lnTo>
                <a:lnTo>
                  <a:pt x="32784" y="48510"/>
                </a:lnTo>
                <a:quadBezTo>
                  <a:pt x="35280" y="49771"/>
                  <a:pt x="35999" y="52473"/>
                </a:quadBezTo>
                <a:quadBezTo>
                  <a:pt x="36873" y="55129"/>
                  <a:pt x="35471" y="57549"/>
                </a:quadBezTo>
                <a:quadBezTo>
                  <a:pt x="34210" y="60045"/>
                  <a:pt x="31508" y="60764"/>
                </a:quadBezTo>
                <a:quadBezTo>
                  <a:pt x="28852" y="61638"/>
                  <a:pt x="26432" y="60236"/>
                </a:quadBezTo>
                <a:lnTo>
                  <a:pt x="3572" y="47853"/>
                </a:lnTo>
                <a:quadBezTo>
                  <a:pt x="1946" y="46992"/>
                  <a:pt x="1020" y="45402"/>
                </a:quadBezTo>
                <a:quadBezTo>
                  <a:pt x="63" y="43830"/>
                  <a:pt x="80" y="41990"/>
                </a:quadBezTo>
                <a:lnTo>
                  <a:pt x="80" y="6748"/>
                </a:ln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quadBezTo>
                  <a:pt x="13496" y="3953"/>
                  <a:pt x="13415" y="674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085850" y="41052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构建历史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838200" y="44672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设置</a:t>
            </a:r>
          </a:p>
        </p:txBody>
      </p:sp>
      <p:sp>
        <p:nvSpPr>
          <p:cNvPr id="36" name="Ellipse"/>
          <p:cNvSpPr/>
          <p:nvPr/>
        </p:nvSpPr>
        <p:spPr>
          <a:xfrm>
            <a:off x="1213485" y="4509135"/>
            <a:ext cx="87630" cy="8763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Ellipse"/>
          <p:cNvSpPr/>
          <p:nvPr/>
        </p:nvSpPr>
        <p:spPr>
          <a:xfrm>
            <a:off x="1240155" y="4535805"/>
            <a:ext cx="34290" cy="34290"/>
          </a:xfrm>
          <a:prstGeom prst="ellipse">
            <a:avLst/>
          </a:pr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Path"/>
          <p:cNvSpPr/>
          <p:nvPr/>
        </p:nvSpPr>
        <p:spPr>
          <a:xfrm>
            <a:off x="1187687" y="4483337"/>
            <a:ext cx="139226" cy="139226"/>
          </a:xfrm>
          <a:custGeom>
            <a:avLst/>
            <a:gdLst/>
            <a:ahLst/>
            <a:cxnLst/>
            <a:rect l="0" t="0" r="r" b="b"/>
            <a:pathLst>
              <a:path w="139226" h="139226">
                <a:moveTo>
                  <a:pt x="76280" y="6748"/>
                </a:moveTo>
                <a:lnTo>
                  <a:pt x="76280" y="25798"/>
                </a:lnTo>
                <a:quadBezTo>
                  <a:pt x="76361" y="28593"/>
                  <a:pt x="74328" y="30513"/>
                </a:quadBezTo>
                <a:quadBezTo>
                  <a:pt x="72408" y="32546"/>
                  <a:pt x="69613" y="32465"/>
                </a:quadBezTo>
                <a:quadBezTo>
                  <a:pt x="66818" y="32546"/>
                  <a:pt x="64898" y="30513"/>
                </a:quadBezTo>
                <a:quadBezTo>
                  <a:pt x="62865" y="28593"/>
                  <a:pt x="62945" y="25798"/>
                </a:quadBezTo>
                <a:lnTo>
                  <a:pt x="62945" y="6748"/>
                </a:lnTo>
                <a:quadBezTo>
                  <a:pt x="62865" y="3953"/>
                  <a:pt x="64898" y="2033"/>
                </a:quadBezTo>
                <a:quadBezTo>
                  <a:pt x="66818" y="0"/>
                  <a:pt x="69613" y="80"/>
                </a:quadBezTo>
                <a:quadBezTo>
                  <a:pt x="72408" y="0"/>
                  <a:pt x="74328" y="2033"/>
                </a:quadBezTo>
                <a:quadBezTo>
                  <a:pt x="76361" y="3953"/>
                  <a:pt x="76280" y="6748"/>
                </a:quadBezTo>
                <a:close/>
                <a:moveTo>
                  <a:pt x="6748" y="62945"/>
                </a:moveTo>
                <a:lnTo>
                  <a:pt x="25798" y="62945"/>
                </a:lnTo>
                <a:quadBezTo>
                  <a:pt x="28593" y="62865"/>
                  <a:pt x="30513" y="64898"/>
                </a:quadBezTo>
                <a:quadBezTo>
                  <a:pt x="32546" y="66818"/>
                  <a:pt x="32465" y="69613"/>
                </a:quadBezTo>
                <a:quadBezTo>
                  <a:pt x="32546" y="72408"/>
                  <a:pt x="30513" y="74328"/>
                </a:quadBezTo>
                <a:quadBezTo>
                  <a:pt x="28593" y="76361"/>
                  <a:pt x="25798" y="76280"/>
                </a:quadBezTo>
                <a:lnTo>
                  <a:pt x="6748" y="76280"/>
                </a:lnTo>
                <a:quadBezTo>
                  <a:pt x="3953" y="76361"/>
                  <a:pt x="2033" y="74328"/>
                </a:quadBezTo>
                <a:quadBezTo>
                  <a:pt x="0" y="72408"/>
                  <a:pt x="80" y="69613"/>
                </a:quadBezTo>
                <a:quadBezTo>
                  <a:pt x="0" y="66818"/>
                  <a:pt x="2033" y="64898"/>
                </a:quadBezTo>
                <a:quadBezTo>
                  <a:pt x="3953" y="62865"/>
                  <a:pt x="6748" y="62945"/>
                </a:quadBezTo>
                <a:close/>
                <a:moveTo>
                  <a:pt x="113428" y="62945"/>
                </a:moveTo>
                <a:lnTo>
                  <a:pt x="132478" y="62945"/>
                </a:lnTo>
                <a:quadBezTo>
                  <a:pt x="135273" y="62865"/>
                  <a:pt x="137193" y="64898"/>
                </a:quadBezTo>
                <a:quadBezTo>
                  <a:pt x="139226" y="66818"/>
                  <a:pt x="139145" y="69613"/>
                </a:quadBezTo>
                <a:quadBezTo>
                  <a:pt x="139226" y="72408"/>
                  <a:pt x="137193" y="74328"/>
                </a:quadBezTo>
                <a:quadBezTo>
                  <a:pt x="135273" y="76361"/>
                  <a:pt x="132478" y="76280"/>
                </a:quadBezTo>
                <a:lnTo>
                  <a:pt x="113428" y="76280"/>
                </a:lnTo>
                <a:quadBezTo>
                  <a:pt x="110633" y="76361"/>
                  <a:pt x="108713" y="74328"/>
                </a:quadBezTo>
                <a:quadBezTo>
                  <a:pt x="106680" y="72408"/>
                  <a:pt x="106760" y="69613"/>
                </a:quadBezTo>
                <a:quadBezTo>
                  <a:pt x="106680" y="66818"/>
                  <a:pt x="108713" y="64898"/>
                </a:quadBezTo>
                <a:quadBezTo>
                  <a:pt x="110633" y="62865"/>
                  <a:pt x="113428" y="62945"/>
                </a:quadBezTo>
                <a:close/>
                <a:moveTo>
                  <a:pt x="76280" y="113428"/>
                </a:moveTo>
                <a:lnTo>
                  <a:pt x="76280" y="132478"/>
                </a:lnTo>
                <a:quadBezTo>
                  <a:pt x="76361" y="135273"/>
                  <a:pt x="74328" y="137193"/>
                </a:quadBezTo>
                <a:quadBezTo>
                  <a:pt x="72408" y="139226"/>
                  <a:pt x="69613" y="139145"/>
                </a:quadBezTo>
                <a:quadBezTo>
                  <a:pt x="66818" y="139226"/>
                  <a:pt x="64898" y="137193"/>
                </a:quadBezTo>
                <a:quadBezTo>
                  <a:pt x="62865" y="135273"/>
                  <a:pt x="62945" y="132478"/>
                </a:quadBezTo>
                <a:lnTo>
                  <a:pt x="62945" y="113428"/>
                </a:lnTo>
                <a:quadBezTo>
                  <a:pt x="62865" y="110633"/>
                  <a:pt x="64898" y="108713"/>
                </a:quadBezTo>
                <a:quadBezTo>
                  <a:pt x="66818" y="106680"/>
                  <a:pt x="69613" y="106760"/>
                </a:quadBezTo>
                <a:quadBezTo>
                  <a:pt x="72408" y="106680"/>
                  <a:pt x="74328" y="108713"/>
                </a:quadBezTo>
                <a:quadBezTo>
                  <a:pt x="76361" y="110633"/>
                  <a:pt x="76280" y="11342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742950" y="9639300"/>
            <a:ext cx="2019300" cy="742950"/>
          </a:xfrm>
          <a:prstGeom prst="roundRect">
            <a:avLst>
              <a:gd name="adj" fmla="val 1282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857250" y="97536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本地索引占用</a:t>
            </a:r>
          </a:p>
        </p:txBody>
      </p:sp>
      <p:sp>
        <p:nvSpPr>
          <p:cNvPr id="41" name="Rectangle"/>
          <p:cNvSpPr/>
          <p:nvPr/>
        </p:nvSpPr>
        <p:spPr>
          <a:xfrm>
            <a:off x="857250" y="9991725"/>
            <a:ext cx="1790700" cy="5715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857250" y="9991725"/>
            <a:ext cx="371475" cy="571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857250" y="10125075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MB / 2 GB</a:t>
            </a:r>
          </a:p>
        </p:txBody>
      </p:sp>
      <p:sp>
        <p:nvSpPr>
          <p:cNvPr id="44" name="Rectangle"/>
          <p:cNvSpPr/>
          <p:nvPr/>
        </p:nvSpPr>
        <p:spPr>
          <a:xfrm>
            <a:off x="2895600" y="1943100"/>
            <a:ext cx="114300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24200" y="2105025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概览</a:t>
            </a:r>
          </a:p>
        </p:txBody>
      </p:sp>
      <p:sp>
        <p:nvSpPr>
          <p:cNvPr id="46" name="Rectangle"/>
          <p:cNvSpPr/>
          <p:nvPr/>
        </p:nvSpPr>
        <p:spPr>
          <a:xfrm>
            <a:off x="11449050" y="2057400"/>
            <a:ext cx="2286000" cy="304800"/>
          </a:xfrm>
          <a:prstGeom prst="roundRect">
            <a:avLst>
              <a:gd name="adj" fmla="val 2500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Ellipse"/>
          <p:cNvSpPr/>
          <p:nvPr/>
        </p:nvSpPr>
        <p:spPr>
          <a:xfrm>
            <a:off x="11568410" y="2167235"/>
            <a:ext cx="80367" cy="80367"/>
          </a:xfrm>
          <a:prstGeom prst="ellipse">
            <a:avLst/>
          </a:prstGeom>
          <a:noFill/>
          <a:ln w="12502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11632628" y="2231453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1763375" y="213360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搜索知识库或文档</a:t>
            </a:r>
          </a:p>
        </p:txBody>
      </p:sp>
      <p:sp>
        <p:nvSpPr>
          <p:cNvPr id="50" name="Ellipse"/>
          <p:cNvSpPr/>
          <p:nvPr/>
        </p:nvSpPr>
        <p:spPr>
          <a:xfrm>
            <a:off x="13849350" y="2066925"/>
            <a:ext cx="285750" cy="285750"/>
          </a:xfrm>
          <a:prstGeom prst="ellipse">
            <a:avLst/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Ellipse"/>
          <p:cNvSpPr/>
          <p:nvPr/>
        </p:nvSpPr>
        <p:spPr>
          <a:xfrm>
            <a:off x="13952220" y="2137410"/>
            <a:ext cx="80010" cy="80010"/>
          </a:xfrm>
          <a:prstGeom prst="ellipse">
            <a:avLst/>
          </a:prstGeom>
          <a:noFill/>
          <a:ln w="15240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13912123" y="2232660"/>
            <a:ext cx="160204" cy="74387"/>
          </a:xfrm>
          <a:custGeom>
            <a:avLst/>
            <a:gdLst/>
            <a:ahLst/>
            <a:cxnLst/>
            <a:rect l="0" t="0" r="r" b="b"/>
            <a:pathLst>
              <a:path w="160204" h="74387">
                <a:moveTo>
                  <a:pt x="92" y="66675"/>
                </a:moveTo>
                <a:quadBezTo>
                  <a:pt x="92" y="36535"/>
                  <a:pt x="24595" y="17551"/>
                </a:quadBezTo>
                <a:quadBezTo>
                  <a:pt x="47248" y="0"/>
                  <a:pt x="80102" y="0"/>
                </a:quadBezTo>
                <a:quadBezTo>
                  <a:pt x="112956" y="0"/>
                  <a:pt x="135609" y="17551"/>
                </a:quadBezTo>
                <a:quadBezTo>
                  <a:pt x="160112" y="36535"/>
                  <a:pt x="160112" y="66675"/>
                </a:quadBezTo>
                <a:quadBezTo>
                  <a:pt x="160204" y="69869"/>
                  <a:pt x="157880" y="72063"/>
                </a:quadBezTo>
                <a:quadBezTo>
                  <a:pt x="155686" y="74387"/>
                  <a:pt x="152492" y="74295"/>
                </a:quadBezTo>
                <a:quadBezTo>
                  <a:pt x="149298" y="74387"/>
                  <a:pt x="147104" y="72063"/>
                </a:quadBezTo>
                <a:quadBezTo>
                  <a:pt x="144780" y="69869"/>
                  <a:pt x="144872" y="66675"/>
                </a:quadBezTo>
                <a:quadBezTo>
                  <a:pt x="144872" y="44007"/>
                  <a:pt x="126275" y="29598"/>
                </a:quadBezTo>
                <a:quadBezTo>
                  <a:pt x="107743" y="15240"/>
                  <a:pt x="80102" y="15240"/>
                </a:quadBezTo>
                <a:quadBezTo>
                  <a:pt x="52461" y="15240"/>
                  <a:pt x="33929" y="29598"/>
                </a:quadBezTo>
                <a:quadBezTo>
                  <a:pt x="15332" y="44007"/>
                  <a:pt x="15332" y="66675"/>
                </a:quadBezTo>
                <a:quadBezTo>
                  <a:pt x="15424" y="69869"/>
                  <a:pt x="13100" y="72063"/>
                </a:quadBezTo>
                <a:quadBezTo>
                  <a:pt x="10906" y="74387"/>
                  <a:pt x="7712" y="74295"/>
                </a:quadBezTo>
                <a:quadBezTo>
                  <a:pt x="4518" y="74387"/>
                  <a:pt x="2324" y="72063"/>
                </a:quadBezTo>
                <a:quadBezTo>
                  <a:pt x="0" y="69869"/>
                  <a:pt x="92" y="66675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895600" y="2476500"/>
            <a:ext cx="11430000" cy="9525"/>
          </a:xfrm>
          <a:prstGeom prst="rect">
            <a:avLst/>
          </a:prstGeom>
          <a:solidFill>
            <a:srgbClr val="E9EC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3124200" y="2714625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8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知识库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3124200" y="3095625"/>
            <a:ext cx="516498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在工作区内管理本地知识库。上传文档并构建索引后，即可被 dsh_kb_search 工具检索、参与 RAG 生成。</a:t>
            </a:r>
          </a:p>
        </p:txBody>
      </p:sp>
      <p:sp>
        <p:nvSpPr>
          <p:cNvPr id="56" name="Rectangle"/>
          <p:cNvSpPr/>
          <p:nvPr/>
        </p:nvSpPr>
        <p:spPr>
          <a:xfrm>
            <a:off x="12134850" y="3171825"/>
            <a:ext cx="762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2268200" y="32480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导入配置</a:t>
            </a:r>
          </a:p>
        </p:txBody>
      </p:sp>
      <p:sp>
        <p:nvSpPr>
          <p:cNvPr id="58" name="Rectangle"/>
          <p:cNvSpPr/>
          <p:nvPr/>
        </p:nvSpPr>
        <p:spPr>
          <a:xfrm>
            <a:off x="12139613" y="3176588"/>
            <a:ext cx="7524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12992100" y="3171825"/>
            <a:ext cx="110490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Path"/>
          <p:cNvSpPr/>
          <p:nvPr/>
        </p:nvSpPr>
        <p:spPr>
          <a:xfrm>
            <a:off x="13148581" y="3290206"/>
            <a:ext cx="96613" cy="96613"/>
          </a:xfrm>
          <a:custGeom>
            <a:avLst/>
            <a:gdLst/>
            <a:ahLst/>
            <a:cxnLst/>
            <a:rect l="0" t="0" r="r" b="b"/>
            <a:pathLst>
              <a:path w="96613" h="96613">
                <a:moveTo>
                  <a:pt x="55450" y="7230"/>
                </a:moveTo>
                <a:lnTo>
                  <a:pt x="55450" y="41163"/>
                </a:lnTo>
                <a:lnTo>
                  <a:pt x="89383" y="41163"/>
                </a:lnTo>
                <a:quadBezTo>
                  <a:pt x="92378" y="41077"/>
                  <a:pt x="94434" y="43255"/>
                </a:quadBezTo>
                <a:quadBezTo>
                  <a:pt x="96613" y="45312"/>
                  <a:pt x="96527" y="48307"/>
                </a:quadBezTo>
                <a:quadBezTo>
                  <a:pt x="96613" y="51301"/>
                  <a:pt x="94434" y="53358"/>
                </a:quadBezTo>
                <a:quadBezTo>
                  <a:pt x="92378" y="55536"/>
                  <a:pt x="89383" y="55450"/>
                </a:quadBezTo>
                <a:lnTo>
                  <a:pt x="55450" y="55450"/>
                </a:lnTo>
                <a:lnTo>
                  <a:pt x="55450" y="89383"/>
                </a:lnTo>
                <a:quadBezTo>
                  <a:pt x="55536" y="92378"/>
                  <a:pt x="53358" y="94434"/>
                </a:quadBezTo>
                <a:quadBezTo>
                  <a:pt x="51301" y="96613"/>
                  <a:pt x="48307" y="96527"/>
                </a:quadBezTo>
                <a:quadBezTo>
                  <a:pt x="45312" y="96613"/>
                  <a:pt x="43255" y="94434"/>
                </a:quadBezTo>
                <a:quadBezTo>
                  <a:pt x="41077" y="92378"/>
                  <a:pt x="41163" y="89383"/>
                </a:quadBezTo>
                <a:lnTo>
                  <a:pt x="41163" y="55450"/>
                </a:lnTo>
                <a:lnTo>
                  <a:pt x="7230" y="55450"/>
                </a:lnTo>
                <a:quadBezTo>
                  <a:pt x="4235" y="55536"/>
                  <a:pt x="2179" y="53358"/>
                </a:quadBezTo>
                <a:quadBezTo>
                  <a:pt x="0" y="51301"/>
                  <a:pt x="86" y="48307"/>
                </a:quadBezTo>
                <a:quadBezTo>
                  <a:pt x="0" y="45312"/>
                  <a:pt x="2179" y="43255"/>
                </a:quadBezTo>
                <a:quadBezTo>
                  <a:pt x="4235" y="41077"/>
                  <a:pt x="7230" y="41163"/>
                </a:quadBezTo>
                <a:lnTo>
                  <a:pt x="41163" y="41163"/>
                </a:lnTo>
                <a:lnTo>
                  <a:pt x="41163" y="7230"/>
                </a:lnTo>
                <a:quadBezTo>
                  <a:pt x="41077" y="4235"/>
                  <a:pt x="43255" y="2179"/>
                </a:quadBezTo>
                <a:quadBezTo>
                  <a:pt x="45312" y="0"/>
                  <a:pt x="48307" y="86"/>
                </a:quadBezTo>
                <a:quadBezTo>
                  <a:pt x="51301" y="0"/>
                  <a:pt x="53358" y="2179"/>
                </a:quadBezTo>
                <a:quadBezTo>
                  <a:pt x="55536" y="4235"/>
                  <a:pt x="55450" y="72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13325475" y="324802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创建知识库</a:t>
            </a:r>
          </a:p>
        </p:txBody>
      </p:sp>
      <p:sp>
        <p:nvSpPr>
          <p:cNvPr id="62" name="Rectangle"/>
          <p:cNvSpPr/>
          <p:nvPr/>
        </p:nvSpPr>
        <p:spPr>
          <a:xfrm>
            <a:off x="3124200" y="3686175"/>
            <a:ext cx="2657475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3276600" y="3838575"/>
            <a:ext cx="123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6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3276600" y="4200525"/>
            <a:ext cx="153744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知识库总数 · 覆盖 3 个业务域</a:t>
            </a:r>
          </a:p>
        </p:txBody>
      </p:sp>
      <p:sp>
        <p:nvSpPr>
          <p:cNvPr id="65" name="Rectangle"/>
          <p:cNvSpPr/>
          <p:nvPr/>
        </p:nvSpPr>
        <p:spPr>
          <a:xfrm>
            <a:off x="3128963" y="3690938"/>
            <a:ext cx="2647950" cy="819150"/>
          </a:xfrm>
          <a:prstGeom prst="roundRect">
            <a:avLst>
              <a:gd name="adj" fmla="val 11046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5895975" y="3686175"/>
            <a:ext cx="2657475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6048375" y="3838575"/>
            <a:ext cx="4235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E9E8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5 / 1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6048375" y="4200525"/>
            <a:ext cx="78181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 / 构建中</a:t>
            </a:r>
          </a:p>
        </p:txBody>
      </p:sp>
      <p:sp>
        <p:nvSpPr>
          <p:cNvPr id="69" name="Rectangle"/>
          <p:cNvSpPr/>
          <p:nvPr/>
        </p:nvSpPr>
        <p:spPr>
          <a:xfrm>
            <a:off x="5900738" y="3690938"/>
            <a:ext cx="2647950" cy="819150"/>
          </a:xfrm>
          <a:prstGeom prst="roundRect">
            <a:avLst>
              <a:gd name="adj" fmla="val 11046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8667750" y="3686175"/>
            <a:ext cx="2657475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8820150" y="3838575"/>
            <a:ext cx="5626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1,284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8820150" y="4200525"/>
            <a:ext cx="127673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已入库文档 · 9,742 分片</a:t>
            </a:r>
          </a:p>
        </p:txBody>
      </p:sp>
      <p:sp>
        <p:nvSpPr>
          <p:cNvPr id="73" name="Rectangle"/>
          <p:cNvSpPr/>
          <p:nvPr/>
        </p:nvSpPr>
        <p:spPr>
          <a:xfrm>
            <a:off x="8672513" y="3690938"/>
            <a:ext cx="2647950" cy="819150"/>
          </a:xfrm>
          <a:prstGeom prst="roundRect">
            <a:avLst>
              <a:gd name="adj" fmla="val 11046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11439525" y="3686175"/>
            <a:ext cx="2657475" cy="828675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Box"/>
          <p:cNvSpPr txBox="1"/>
          <p:nvPr/>
        </p:nvSpPr>
        <p:spPr>
          <a:xfrm>
            <a:off x="11591925" y="3838575"/>
            <a:ext cx="5626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8,412</a:t>
            </a:r>
          </a:p>
        </p:txBody>
      </p:sp>
      <p:sp>
        <p:nvSpPr>
          <p:cNvPr id="76" name="TextBox"/>
          <p:cNvSpPr txBox="1"/>
          <p:nvPr/>
        </p:nvSpPr>
        <p:spPr>
          <a:xfrm>
            <a:off x="11591925" y="4200525"/>
            <a:ext cx="10290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近 7 日工具调用命中</a:t>
            </a:r>
          </a:p>
        </p:txBody>
      </p:sp>
      <p:sp>
        <p:nvSpPr>
          <p:cNvPr id="77" name="Rectangle"/>
          <p:cNvSpPr/>
          <p:nvPr/>
        </p:nvSpPr>
        <p:spPr>
          <a:xfrm>
            <a:off x="11444288" y="3690938"/>
            <a:ext cx="2647950" cy="819150"/>
          </a:xfrm>
          <a:prstGeom prst="roundRect">
            <a:avLst>
              <a:gd name="adj" fmla="val 11046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3124200" y="4705350"/>
            <a:ext cx="2286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Ellipse"/>
          <p:cNvSpPr/>
          <p:nvPr/>
        </p:nvSpPr>
        <p:spPr>
          <a:xfrm>
            <a:off x="3243560" y="4824710"/>
            <a:ext cx="80367" cy="80367"/>
          </a:xfrm>
          <a:prstGeom prst="ellipse">
            <a:avLst/>
          </a:prstGeom>
          <a:noFill/>
          <a:ln w="12502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Path"/>
          <p:cNvSpPr/>
          <p:nvPr/>
        </p:nvSpPr>
        <p:spPr>
          <a:xfrm>
            <a:off x="3307779" y="4888928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Box"/>
          <p:cNvSpPr txBox="1"/>
          <p:nvPr/>
        </p:nvSpPr>
        <p:spPr>
          <a:xfrm>
            <a:off x="3438525" y="4791075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搜索名称或集合标识</a:t>
            </a:r>
          </a:p>
        </p:txBody>
      </p:sp>
      <p:sp>
        <p:nvSpPr>
          <p:cNvPr id="82" name="Rectangle"/>
          <p:cNvSpPr/>
          <p:nvPr/>
        </p:nvSpPr>
        <p:spPr>
          <a:xfrm>
            <a:off x="3128963" y="4710113"/>
            <a:ext cx="2276475" cy="314325"/>
          </a:xfrm>
          <a:prstGeom prst="roundRect">
            <a:avLst>
              <a:gd name="adj" fmla="val 22727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Rectangle"/>
          <p:cNvSpPr/>
          <p:nvPr/>
        </p:nvSpPr>
        <p:spPr>
          <a:xfrm>
            <a:off x="5505450" y="4724400"/>
            <a:ext cx="695325" cy="2857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5619750" y="4791075"/>
            <a:ext cx="4594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全部 · 6</a:t>
            </a:r>
          </a:p>
        </p:txBody>
      </p:sp>
      <p:sp>
        <p:nvSpPr>
          <p:cNvPr id="85" name="Rectangle"/>
          <p:cNvSpPr/>
          <p:nvPr/>
        </p:nvSpPr>
        <p:spPr>
          <a:xfrm>
            <a:off x="6296025" y="4724400"/>
            <a:ext cx="809625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6410325" y="4791075"/>
            <a:ext cx="5718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 · 5</a:t>
            </a:r>
          </a:p>
        </p:txBody>
      </p:sp>
      <p:sp>
        <p:nvSpPr>
          <p:cNvPr id="87" name="Rectangle"/>
          <p:cNvSpPr/>
          <p:nvPr/>
        </p:nvSpPr>
        <p:spPr>
          <a:xfrm>
            <a:off x="6300788" y="4729163"/>
            <a:ext cx="8001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Rectangle"/>
          <p:cNvSpPr/>
          <p:nvPr/>
        </p:nvSpPr>
        <p:spPr>
          <a:xfrm>
            <a:off x="7200900" y="4724400"/>
            <a:ext cx="809625" cy="285750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Box"/>
          <p:cNvSpPr txBox="1"/>
          <p:nvPr/>
        </p:nvSpPr>
        <p:spPr>
          <a:xfrm>
            <a:off x="7315200" y="4791075"/>
            <a:ext cx="5737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8A6A38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构建中 · 1</a:t>
            </a:r>
          </a:p>
        </p:txBody>
      </p:sp>
      <p:sp>
        <p:nvSpPr>
          <p:cNvPr id="90" name="Rectangle"/>
          <p:cNvSpPr/>
          <p:nvPr/>
        </p:nvSpPr>
        <p:spPr>
          <a:xfrm>
            <a:off x="13401675" y="4705350"/>
            <a:ext cx="695325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Rectangle"/>
          <p:cNvSpPr/>
          <p:nvPr/>
        </p:nvSpPr>
        <p:spPr>
          <a:xfrm>
            <a:off x="13430250" y="4733925"/>
            <a:ext cx="304800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Rectangle"/>
          <p:cNvSpPr/>
          <p:nvPr/>
        </p:nvSpPr>
        <p:spPr>
          <a:xfrm>
            <a:off x="13533120" y="4817745"/>
            <a:ext cx="41910" cy="41910"/>
          </a:xfrm>
          <a:prstGeom prst="roundRect">
            <a:avLst>
              <a:gd name="adj" fmla="val 27272"/>
            </a:avLst>
          </a:prstGeom>
          <a:solidFill>
            <a:srgbClr val="4F5BD5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Rectangle"/>
          <p:cNvSpPr/>
          <p:nvPr/>
        </p:nvSpPr>
        <p:spPr>
          <a:xfrm>
            <a:off x="13590270" y="4817745"/>
            <a:ext cx="41910" cy="41910"/>
          </a:xfrm>
          <a:prstGeom prst="roundRect">
            <a:avLst>
              <a:gd name="adj" fmla="val 27272"/>
            </a:avLst>
          </a:prstGeom>
          <a:solidFill>
            <a:srgbClr val="4F5BD5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Rectangle"/>
          <p:cNvSpPr/>
          <p:nvPr/>
        </p:nvSpPr>
        <p:spPr>
          <a:xfrm>
            <a:off x="13533120" y="4874895"/>
            <a:ext cx="41910" cy="41910"/>
          </a:xfrm>
          <a:prstGeom prst="roundRect">
            <a:avLst>
              <a:gd name="adj" fmla="val 27272"/>
            </a:avLst>
          </a:prstGeom>
          <a:solidFill>
            <a:srgbClr val="4F5BD5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13590270" y="4874895"/>
            <a:ext cx="41910" cy="41910"/>
          </a:xfrm>
          <a:prstGeom prst="roundRect">
            <a:avLst>
              <a:gd name="adj" fmla="val 27272"/>
            </a:avLst>
          </a:prstGeom>
          <a:solidFill>
            <a:srgbClr val="4F5BD5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Path"/>
          <p:cNvSpPr/>
          <p:nvPr/>
        </p:nvSpPr>
        <p:spPr>
          <a:xfrm>
            <a:off x="13861170" y="4827660"/>
            <a:ext cx="109710" cy="79230"/>
          </a:xfrm>
          <a:custGeom>
            <a:avLst/>
            <a:gdLst/>
            <a:ahLst/>
            <a:cxnLst/>
            <a:rect l="0" t="0" r="r" b="b"/>
            <a:pathLst>
              <a:path w="109710" h="79230">
                <a:moveTo>
                  <a:pt x="7230" y="86"/>
                </a:moveTo>
                <a:lnTo>
                  <a:pt x="102480" y="86"/>
                </a:lnTo>
                <a:quadBezTo>
                  <a:pt x="105475" y="0"/>
                  <a:pt x="107531" y="2179"/>
                </a:quadBezTo>
                <a:quadBezTo>
                  <a:pt x="109710" y="4235"/>
                  <a:pt x="109624" y="7230"/>
                </a:quadBezTo>
                <a:quadBezTo>
                  <a:pt x="109710" y="10225"/>
                  <a:pt x="107531" y="12281"/>
                </a:quadBezTo>
                <a:quadBezTo>
                  <a:pt x="105475" y="14460"/>
                  <a:pt x="10248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  <a:moveTo>
                  <a:pt x="7230" y="32471"/>
                </a:moveTo>
                <a:lnTo>
                  <a:pt x="102480" y="32471"/>
                </a:lnTo>
                <a:quadBezTo>
                  <a:pt x="105475" y="32385"/>
                  <a:pt x="107531" y="34564"/>
                </a:quadBezTo>
                <a:quadBezTo>
                  <a:pt x="109710" y="36620"/>
                  <a:pt x="109624" y="39615"/>
                </a:quadBezTo>
                <a:quadBezTo>
                  <a:pt x="109710" y="42610"/>
                  <a:pt x="107531" y="44666"/>
                </a:quadBezTo>
                <a:quadBezTo>
                  <a:pt x="105475" y="46845"/>
                  <a:pt x="102480" y="46759"/>
                </a:quadBezTo>
                <a:lnTo>
                  <a:pt x="7230" y="46759"/>
                </a:lnTo>
                <a:quadBezTo>
                  <a:pt x="4235" y="46845"/>
                  <a:pt x="2179" y="44666"/>
                </a:quadBezTo>
                <a:quadBezTo>
                  <a:pt x="0" y="42610"/>
                  <a:pt x="86" y="39615"/>
                </a:quadBezTo>
                <a:quadBezTo>
                  <a:pt x="0" y="36620"/>
                  <a:pt x="2179" y="34564"/>
                </a:quadBezTo>
                <a:quadBezTo>
                  <a:pt x="4235" y="32385"/>
                  <a:pt x="7230" y="32471"/>
                </a:quadBezTo>
                <a:close/>
                <a:moveTo>
                  <a:pt x="7230" y="64856"/>
                </a:moveTo>
                <a:lnTo>
                  <a:pt x="102480" y="64856"/>
                </a:lnTo>
                <a:quadBezTo>
                  <a:pt x="105475" y="64770"/>
                  <a:pt x="107531" y="66949"/>
                </a:quadBezTo>
                <a:quadBezTo>
                  <a:pt x="109710" y="69005"/>
                  <a:pt x="109624" y="72000"/>
                </a:quadBezTo>
                <a:quadBezTo>
                  <a:pt x="109710" y="74995"/>
                  <a:pt x="107531" y="77051"/>
                </a:quadBezTo>
                <a:quadBezTo>
                  <a:pt x="105475" y="79230"/>
                  <a:pt x="102480" y="79144"/>
                </a:quadBezTo>
                <a:lnTo>
                  <a:pt x="7230" y="79144"/>
                </a:lnTo>
                <a:quadBezTo>
                  <a:pt x="4235" y="79230"/>
                  <a:pt x="2179" y="77051"/>
                </a:quadBezTo>
                <a:quadBezTo>
                  <a:pt x="0" y="74995"/>
                  <a:pt x="86" y="72000"/>
                </a:quadBezTo>
                <a:quadBezTo>
                  <a:pt x="0" y="69005"/>
                  <a:pt x="2179" y="66949"/>
                </a:quadBezTo>
                <a:quadBezTo>
                  <a:pt x="4235" y="64770"/>
                  <a:pt x="7230" y="6485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Rectangle"/>
          <p:cNvSpPr/>
          <p:nvPr/>
        </p:nvSpPr>
        <p:spPr>
          <a:xfrm>
            <a:off x="3124200" y="5219700"/>
            <a:ext cx="35528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Rectangle"/>
          <p:cNvSpPr/>
          <p:nvPr/>
        </p:nvSpPr>
        <p:spPr>
          <a:xfrm>
            <a:off x="3276600" y="53721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Path"/>
          <p:cNvSpPr/>
          <p:nvPr/>
        </p:nvSpPr>
        <p:spPr>
          <a:xfrm>
            <a:off x="3354539" y="5441143"/>
            <a:ext cx="167972" cy="96229"/>
          </a:xfrm>
          <a:custGeom>
            <a:avLst/>
            <a:gdLst/>
            <a:ahLst/>
            <a:cxnLst/>
            <a:rect l="0" t="0" r="r" b="b"/>
            <a:pathLst>
              <a:path w="167972" h="96229">
                <a:moveTo>
                  <a:pt x="163568" y="41822"/>
                </a:moveTo>
                <a:quadBezTo>
                  <a:pt x="164495" y="42319"/>
                  <a:pt x="165238" y="43063"/>
                </a:quadBezTo>
                <a:quadBezTo>
                  <a:pt x="165982" y="43805"/>
                  <a:pt x="166479" y="44732"/>
                </a:quadBezTo>
                <a:quadBezTo>
                  <a:pt x="167972" y="47329"/>
                  <a:pt x="167027" y="50172"/>
                </a:quadBezTo>
                <a:quadBezTo>
                  <a:pt x="166247" y="53065"/>
                  <a:pt x="163568" y="54407"/>
                </a:quadBezTo>
                <a:lnTo>
                  <a:pt x="87368" y="95364"/>
                </a:lnTo>
                <a:quadBezTo>
                  <a:pt x="85788" y="96229"/>
                  <a:pt x="83986" y="96216"/>
                </a:quadBezTo>
                <a:quadBezTo>
                  <a:pt x="82185" y="96229"/>
                  <a:pt x="80604" y="95364"/>
                </a:quadBezTo>
                <a:lnTo>
                  <a:pt x="4404" y="54407"/>
                </a:lnTo>
                <a:quadBezTo>
                  <a:pt x="3477" y="53911"/>
                  <a:pt x="2735" y="53166"/>
                </a:quadBezTo>
                <a:quadBezTo>
                  <a:pt x="1990" y="52424"/>
                  <a:pt x="1494" y="51497"/>
                </a:quadBezTo>
                <a:quadBezTo>
                  <a:pt x="0" y="48900"/>
                  <a:pt x="945" y="46057"/>
                </a:quadBezTo>
                <a:quadBezTo>
                  <a:pt x="1725" y="43164"/>
                  <a:pt x="4404" y="41822"/>
                </a:quadBezTo>
                <a:lnTo>
                  <a:pt x="80604" y="865"/>
                </a:lnTo>
                <a:quadBezTo>
                  <a:pt x="82185" y="0"/>
                  <a:pt x="83986" y="13"/>
                </a:quadBezTo>
                <a:quadBezTo>
                  <a:pt x="85788" y="0"/>
                  <a:pt x="87368" y="865"/>
                </a:quadBezTo>
                <a:lnTo>
                  <a:pt x="163568" y="41822"/>
                </a:lnTo>
                <a:close/>
                <a:moveTo>
                  <a:pt x="83986" y="15267"/>
                </a:moveTo>
                <a:lnTo>
                  <a:pt x="22875" y="48115"/>
                </a:lnTo>
                <a:lnTo>
                  <a:pt x="83986" y="80962"/>
                </a:lnTo>
                <a:lnTo>
                  <a:pt x="145097" y="48115"/>
                </a:lnTo>
                <a:lnTo>
                  <a:pt x="83986" y="1526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Path"/>
          <p:cNvSpPr/>
          <p:nvPr/>
        </p:nvSpPr>
        <p:spPr>
          <a:xfrm>
            <a:off x="3358943" y="5530590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Path"/>
          <p:cNvSpPr/>
          <p:nvPr/>
        </p:nvSpPr>
        <p:spPr>
          <a:xfrm>
            <a:off x="3358943" y="5575357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3695700" y="5372100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产品技术文档库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3695700" y="5591175"/>
            <a:ext cx="10858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kb_prod_2f8a · HNSW</a:t>
            </a:r>
          </a:p>
        </p:txBody>
      </p:sp>
      <p:sp>
        <p:nvSpPr>
          <p:cNvPr id="104" name="Rectangle"/>
          <p:cNvSpPr/>
          <p:nvPr/>
        </p:nvSpPr>
        <p:spPr>
          <a:xfrm>
            <a:off x="6143625" y="537210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TextBox"/>
          <p:cNvSpPr txBox="1"/>
          <p:nvPr/>
        </p:nvSpPr>
        <p:spPr>
          <a:xfrm>
            <a:off x="6229350" y="5410200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就绪</a:t>
            </a:r>
          </a:p>
        </p:txBody>
      </p:sp>
      <p:sp>
        <p:nvSpPr>
          <p:cNvPr id="106" name="Rectangle"/>
          <p:cNvSpPr/>
          <p:nvPr/>
        </p:nvSpPr>
        <p:spPr>
          <a:xfrm>
            <a:off x="6148388" y="5376863"/>
            <a:ext cx="371475" cy="2190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TextBox"/>
          <p:cNvSpPr txBox="1"/>
          <p:nvPr/>
        </p:nvSpPr>
        <p:spPr>
          <a:xfrm>
            <a:off x="3276600" y="5829300"/>
            <a:ext cx="18021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128 文档 · 1,024 分片 · 412 MB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3276600" y="6143625"/>
            <a:ext cx="5995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更新于 10:28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5991225" y="61436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查看详情</a:t>
            </a:r>
          </a:p>
        </p:txBody>
      </p:sp>
      <p:sp>
        <p:nvSpPr>
          <p:cNvPr id="110" name="Rectangle"/>
          <p:cNvSpPr/>
          <p:nvPr/>
        </p:nvSpPr>
        <p:spPr>
          <a:xfrm>
            <a:off x="3128963" y="5224463"/>
            <a:ext cx="3543300" cy="1276350"/>
          </a:xfrm>
          <a:prstGeom prst="roundRect">
            <a:avLst>
              <a:gd name="adj" fmla="val 7089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Rectangle"/>
          <p:cNvSpPr/>
          <p:nvPr/>
        </p:nvSpPr>
        <p:spPr>
          <a:xfrm>
            <a:off x="6829425" y="5219700"/>
            <a:ext cx="35528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Rectangle"/>
          <p:cNvSpPr/>
          <p:nvPr/>
        </p:nvSpPr>
        <p:spPr>
          <a:xfrm>
            <a:off x="6981825" y="53721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DF3E3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7059764" y="5441143"/>
            <a:ext cx="167972" cy="96229"/>
          </a:xfrm>
          <a:custGeom>
            <a:avLst/>
            <a:gdLst/>
            <a:ahLst/>
            <a:cxnLst/>
            <a:rect l="0" t="0" r="r" b="b"/>
            <a:pathLst>
              <a:path w="167972" h="96229">
                <a:moveTo>
                  <a:pt x="163568" y="41822"/>
                </a:moveTo>
                <a:quadBezTo>
                  <a:pt x="164495" y="42319"/>
                  <a:pt x="165238" y="43063"/>
                </a:quadBezTo>
                <a:quadBezTo>
                  <a:pt x="165982" y="43805"/>
                  <a:pt x="166479" y="44732"/>
                </a:quadBezTo>
                <a:quadBezTo>
                  <a:pt x="167972" y="47329"/>
                  <a:pt x="167027" y="50172"/>
                </a:quadBezTo>
                <a:quadBezTo>
                  <a:pt x="166247" y="53065"/>
                  <a:pt x="163568" y="54407"/>
                </a:quadBezTo>
                <a:lnTo>
                  <a:pt x="87368" y="95364"/>
                </a:lnTo>
                <a:quadBezTo>
                  <a:pt x="85788" y="96229"/>
                  <a:pt x="83986" y="96216"/>
                </a:quadBezTo>
                <a:quadBezTo>
                  <a:pt x="82185" y="96229"/>
                  <a:pt x="80604" y="95364"/>
                </a:quadBezTo>
                <a:lnTo>
                  <a:pt x="4404" y="54407"/>
                </a:lnTo>
                <a:quadBezTo>
                  <a:pt x="3477" y="53911"/>
                  <a:pt x="2735" y="53166"/>
                </a:quadBezTo>
                <a:quadBezTo>
                  <a:pt x="1990" y="52424"/>
                  <a:pt x="1494" y="51497"/>
                </a:quadBezTo>
                <a:quadBezTo>
                  <a:pt x="0" y="48900"/>
                  <a:pt x="945" y="46057"/>
                </a:quadBezTo>
                <a:quadBezTo>
                  <a:pt x="1725" y="43164"/>
                  <a:pt x="4404" y="41822"/>
                </a:quadBezTo>
                <a:lnTo>
                  <a:pt x="80604" y="865"/>
                </a:lnTo>
                <a:quadBezTo>
                  <a:pt x="82185" y="0"/>
                  <a:pt x="83986" y="13"/>
                </a:quadBezTo>
                <a:quadBezTo>
                  <a:pt x="85788" y="0"/>
                  <a:pt x="87368" y="865"/>
                </a:quadBezTo>
                <a:lnTo>
                  <a:pt x="163568" y="41822"/>
                </a:lnTo>
                <a:close/>
                <a:moveTo>
                  <a:pt x="83986" y="15267"/>
                </a:moveTo>
                <a:lnTo>
                  <a:pt x="22875" y="48115"/>
                </a:lnTo>
                <a:lnTo>
                  <a:pt x="83986" y="80962"/>
                </a:lnTo>
                <a:lnTo>
                  <a:pt x="145097" y="48115"/>
                </a:lnTo>
                <a:lnTo>
                  <a:pt x="83986" y="15267"/>
                </a:lnTo>
                <a:close/>
              </a:path>
            </a:pathLst>
          </a:custGeom>
          <a:solidFill>
            <a:srgbClr val="D98B1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Path"/>
          <p:cNvSpPr/>
          <p:nvPr/>
        </p:nvSpPr>
        <p:spPr>
          <a:xfrm>
            <a:off x="7064168" y="5530590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D98B1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5" name="Path"/>
          <p:cNvSpPr/>
          <p:nvPr/>
        </p:nvSpPr>
        <p:spPr>
          <a:xfrm>
            <a:off x="7064168" y="5575357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D98B1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extBox"/>
          <p:cNvSpPr txBox="1"/>
          <p:nvPr/>
        </p:nvSpPr>
        <p:spPr>
          <a:xfrm>
            <a:off x="7400925" y="5372100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索引参数调优知识库</a:t>
            </a:r>
          </a:p>
        </p:txBody>
      </p:sp>
      <p:sp>
        <p:nvSpPr>
          <p:cNvPr id="117" name="TextBox"/>
          <p:cNvSpPr txBox="1"/>
          <p:nvPr/>
        </p:nvSpPr>
        <p:spPr>
          <a:xfrm>
            <a:off x="7400925" y="5591175"/>
            <a:ext cx="11430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kb_tuning_9c31 · IVF</a:t>
            </a:r>
          </a:p>
        </p:txBody>
      </p:sp>
      <p:sp>
        <p:nvSpPr>
          <p:cNvPr id="118" name="Rectangle"/>
          <p:cNvSpPr/>
          <p:nvPr/>
        </p:nvSpPr>
        <p:spPr>
          <a:xfrm>
            <a:off x="9496425" y="5372100"/>
            <a:ext cx="733425" cy="228600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9582150" y="5410200"/>
            <a:ext cx="5557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A6A38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构建中 67%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6981825" y="5829300"/>
            <a:ext cx="15297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86 / 128 分片 · 剩余约 12s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6981825" y="6143625"/>
            <a:ext cx="59952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开始于 10:26</a:t>
            </a:r>
          </a:p>
        </p:txBody>
      </p:sp>
      <p:sp>
        <p:nvSpPr>
          <p:cNvPr id="122" name="TextBox"/>
          <p:cNvSpPr txBox="1"/>
          <p:nvPr/>
        </p:nvSpPr>
        <p:spPr>
          <a:xfrm>
            <a:off x="9696450" y="61436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查看进度</a:t>
            </a:r>
          </a:p>
        </p:txBody>
      </p:sp>
      <p:sp>
        <p:nvSpPr>
          <p:cNvPr id="123" name="Rectangle"/>
          <p:cNvSpPr/>
          <p:nvPr/>
        </p:nvSpPr>
        <p:spPr>
          <a:xfrm>
            <a:off x="6834188" y="5224463"/>
            <a:ext cx="3543300" cy="1276350"/>
          </a:xfrm>
          <a:prstGeom prst="roundRect">
            <a:avLst>
              <a:gd name="adj" fmla="val 7089"/>
            </a:avLst>
          </a:prstGeom>
          <a:noFill/>
          <a:ln w="9525">
            <a:solidFill>
              <a:srgbClr val="7A84E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4" name="Rectangle"/>
          <p:cNvSpPr/>
          <p:nvPr/>
        </p:nvSpPr>
        <p:spPr>
          <a:xfrm>
            <a:off x="10534650" y="5219700"/>
            <a:ext cx="35528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Rectangle"/>
          <p:cNvSpPr/>
          <p:nvPr/>
        </p:nvSpPr>
        <p:spPr>
          <a:xfrm>
            <a:off x="10687050" y="53721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Path"/>
          <p:cNvSpPr/>
          <p:nvPr/>
        </p:nvSpPr>
        <p:spPr>
          <a:xfrm>
            <a:off x="10764989" y="5441143"/>
            <a:ext cx="167972" cy="96229"/>
          </a:xfrm>
          <a:custGeom>
            <a:avLst/>
            <a:gdLst/>
            <a:ahLst/>
            <a:cxnLst/>
            <a:rect l="0" t="0" r="r" b="b"/>
            <a:pathLst>
              <a:path w="167972" h="96229">
                <a:moveTo>
                  <a:pt x="163568" y="41822"/>
                </a:moveTo>
                <a:quadBezTo>
                  <a:pt x="164495" y="42319"/>
                  <a:pt x="165238" y="43063"/>
                </a:quadBezTo>
                <a:quadBezTo>
                  <a:pt x="165982" y="43805"/>
                  <a:pt x="166479" y="44732"/>
                </a:quadBezTo>
                <a:quadBezTo>
                  <a:pt x="167972" y="47329"/>
                  <a:pt x="167027" y="50172"/>
                </a:quadBezTo>
                <a:quadBezTo>
                  <a:pt x="166247" y="53065"/>
                  <a:pt x="163568" y="54407"/>
                </a:quadBezTo>
                <a:lnTo>
                  <a:pt x="87368" y="95364"/>
                </a:lnTo>
                <a:quadBezTo>
                  <a:pt x="85788" y="96229"/>
                  <a:pt x="83986" y="96216"/>
                </a:quadBezTo>
                <a:quadBezTo>
                  <a:pt x="82185" y="96229"/>
                  <a:pt x="80604" y="95364"/>
                </a:quadBezTo>
                <a:lnTo>
                  <a:pt x="4404" y="54407"/>
                </a:lnTo>
                <a:quadBezTo>
                  <a:pt x="3477" y="53911"/>
                  <a:pt x="2735" y="53166"/>
                </a:quadBezTo>
                <a:quadBezTo>
                  <a:pt x="1990" y="52424"/>
                  <a:pt x="1494" y="51497"/>
                </a:quadBezTo>
                <a:quadBezTo>
                  <a:pt x="0" y="48900"/>
                  <a:pt x="945" y="46057"/>
                </a:quadBezTo>
                <a:quadBezTo>
                  <a:pt x="1725" y="43164"/>
                  <a:pt x="4404" y="41822"/>
                </a:quadBezTo>
                <a:lnTo>
                  <a:pt x="80604" y="865"/>
                </a:lnTo>
                <a:quadBezTo>
                  <a:pt x="82185" y="0"/>
                  <a:pt x="83986" y="13"/>
                </a:quadBezTo>
                <a:quadBezTo>
                  <a:pt x="85788" y="0"/>
                  <a:pt x="87368" y="865"/>
                </a:quadBezTo>
                <a:lnTo>
                  <a:pt x="163568" y="41822"/>
                </a:lnTo>
                <a:close/>
                <a:moveTo>
                  <a:pt x="83986" y="15267"/>
                </a:moveTo>
                <a:lnTo>
                  <a:pt x="22875" y="48115"/>
                </a:lnTo>
                <a:lnTo>
                  <a:pt x="83986" y="80962"/>
                </a:lnTo>
                <a:lnTo>
                  <a:pt x="145097" y="48115"/>
                </a:lnTo>
                <a:lnTo>
                  <a:pt x="83986" y="1526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Path"/>
          <p:cNvSpPr/>
          <p:nvPr/>
        </p:nvSpPr>
        <p:spPr>
          <a:xfrm>
            <a:off x="10769393" y="5530590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Path"/>
          <p:cNvSpPr/>
          <p:nvPr/>
        </p:nvSpPr>
        <p:spPr>
          <a:xfrm>
            <a:off x="10769393" y="5575357"/>
            <a:ext cx="159164" cy="54407"/>
          </a:xfrm>
          <a:custGeom>
            <a:avLst/>
            <a:gdLst/>
            <a:ahLst/>
            <a:cxnLst/>
            <a:rect l="0" t="0" r="r" b="b"/>
            <a:pathLst>
              <a:path w="159164" h="54407">
                <a:moveTo>
                  <a:pt x="6764" y="0"/>
                </a:moveTo>
                <a:lnTo>
                  <a:pt x="79582" y="39140"/>
                </a:lnTo>
                <a:lnTo>
                  <a:pt x="152400" y="0"/>
                </a:lnTo>
                <a:lnTo>
                  <a:pt x="159164" y="12585"/>
                </a:lnTo>
                <a:lnTo>
                  <a:pt x="82964" y="53542"/>
                </a:lnTo>
                <a:quadBezTo>
                  <a:pt x="81384" y="54407"/>
                  <a:pt x="79582" y="54394"/>
                </a:quadBezTo>
                <a:quadBezTo>
                  <a:pt x="77781" y="54407"/>
                  <a:pt x="76200" y="53542"/>
                </a:quadBezTo>
                <a:lnTo>
                  <a:pt x="0" y="12585"/>
                </a:lnTo>
                <a:lnTo>
                  <a:pt x="6764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TextBox"/>
          <p:cNvSpPr txBox="1"/>
          <p:nvPr/>
        </p:nvSpPr>
        <p:spPr>
          <a:xfrm>
            <a:off x="11106150" y="5372100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历史故障复盘库</a:t>
            </a:r>
          </a:p>
        </p:txBody>
      </p:sp>
      <p:sp>
        <p:nvSpPr>
          <p:cNvPr id="130" name="TextBox"/>
          <p:cNvSpPr txBox="1"/>
          <p:nvPr/>
        </p:nvSpPr>
        <p:spPr>
          <a:xfrm>
            <a:off x="11106150" y="5591175"/>
            <a:ext cx="14287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kb_postmortem_4d77 · HNSW</a:t>
            </a:r>
          </a:p>
        </p:txBody>
      </p:sp>
      <p:sp>
        <p:nvSpPr>
          <p:cNvPr id="131" name="Rectangle"/>
          <p:cNvSpPr/>
          <p:nvPr/>
        </p:nvSpPr>
        <p:spPr>
          <a:xfrm>
            <a:off x="13554075" y="5372100"/>
            <a:ext cx="381000" cy="22860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2" name="TextBox"/>
          <p:cNvSpPr txBox="1"/>
          <p:nvPr/>
        </p:nvSpPr>
        <p:spPr>
          <a:xfrm>
            <a:off x="13639800" y="5410200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就绪</a:t>
            </a:r>
          </a:p>
        </p:txBody>
      </p:sp>
      <p:sp>
        <p:nvSpPr>
          <p:cNvPr id="133" name="Rectangle"/>
          <p:cNvSpPr/>
          <p:nvPr/>
        </p:nvSpPr>
        <p:spPr>
          <a:xfrm>
            <a:off x="13558838" y="5376863"/>
            <a:ext cx="371475" cy="2190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4" name="TextBox"/>
          <p:cNvSpPr txBox="1"/>
          <p:nvPr/>
        </p:nvSpPr>
        <p:spPr>
          <a:xfrm>
            <a:off x="10687050" y="5829300"/>
            <a:ext cx="18021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文档 · 3,286 分片 · 1.2 GB</a:t>
            </a:r>
          </a:p>
        </p:txBody>
      </p:sp>
      <p:sp>
        <p:nvSpPr>
          <p:cNvPr id="135" name="TextBox"/>
          <p:cNvSpPr txBox="1"/>
          <p:nvPr/>
        </p:nvSpPr>
        <p:spPr>
          <a:xfrm>
            <a:off x="10687050" y="6143625"/>
            <a:ext cx="8325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更新于 昨天 18:04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13401675" y="61436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查看详情</a:t>
            </a:r>
          </a:p>
        </p:txBody>
      </p:sp>
      <p:sp>
        <p:nvSpPr>
          <p:cNvPr id="137" name="Rectangle"/>
          <p:cNvSpPr/>
          <p:nvPr/>
        </p:nvSpPr>
        <p:spPr>
          <a:xfrm>
            <a:off x="10539413" y="5224463"/>
            <a:ext cx="3543300" cy="1276350"/>
          </a:xfrm>
          <a:prstGeom prst="roundRect">
            <a:avLst>
              <a:gd name="adj" fmla="val 7089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8" name="Rectangle"/>
          <p:cNvSpPr/>
          <p:nvPr/>
        </p:nvSpPr>
        <p:spPr>
          <a:xfrm>
            <a:off x="3124200" y="6696075"/>
            <a:ext cx="10972800" cy="2371725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9" name="TextBox"/>
          <p:cNvSpPr txBox="1"/>
          <p:nvPr/>
        </p:nvSpPr>
        <p:spPr>
          <a:xfrm>
            <a:off x="3314700" y="6886575"/>
            <a:ext cx="800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最近构建记录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13449300" y="69056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查看全部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3314700" y="72294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时间</a:t>
            </a:r>
          </a:p>
        </p:txBody>
      </p:sp>
      <p:sp>
        <p:nvSpPr>
          <p:cNvPr id="142" name="TextBox"/>
          <p:cNvSpPr txBox="1"/>
          <p:nvPr/>
        </p:nvSpPr>
        <p:spPr>
          <a:xfrm>
            <a:off x="5181600" y="722947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</a:t>
            </a:r>
          </a:p>
        </p:txBody>
      </p:sp>
      <p:sp>
        <p:nvSpPr>
          <p:cNvPr id="143" name="TextBox"/>
          <p:cNvSpPr txBox="1"/>
          <p:nvPr/>
        </p:nvSpPr>
        <p:spPr>
          <a:xfrm>
            <a:off x="10515600" y="72294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分片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12192000" y="722947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状态</a:t>
            </a:r>
          </a:p>
        </p:txBody>
      </p:sp>
      <p:sp>
        <p:nvSpPr>
          <p:cNvPr id="145" name="Rectangle"/>
          <p:cNvSpPr/>
          <p:nvPr/>
        </p:nvSpPr>
        <p:spPr>
          <a:xfrm>
            <a:off x="3314700" y="7477125"/>
            <a:ext cx="105918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6" name="TextBox"/>
          <p:cNvSpPr txBox="1"/>
          <p:nvPr/>
        </p:nvSpPr>
        <p:spPr>
          <a:xfrm>
            <a:off x="3314700" y="7639050"/>
            <a:ext cx="640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今天 10:26</a:t>
            </a:r>
          </a:p>
        </p:txBody>
      </p:sp>
      <p:sp>
        <p:nvSpPr>
          <p:cNvPr id="147" name="TextBox"/>
          <p:cNvSpPr txBox="1"/>
          <p:nvPr/>
        </p:nvSpPr>
        <p:spPr>
          <a:xfrm>
            <a:off x="5181600" y="7629525"/>
            <a:ext cx="11144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索引参数调优知识库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10515600" y="7639050"/>
            <a:ext cx="205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128</a:t>
            </a:r>
          </a:p>
        </p:txBody>
      </p:sp>
      <p:sp>
        <p:nvSpPr>
          <p:cNvPr id="149" name="Rectangle"/>
          <p:cNvSpPr/>
          <p:nvPr/>
        </p:nvSpPr>
        <p:spPr>
          <a:xfrm>
            <a:off x="12192000" y="7600950"/>
            <a:ext cx="733425" cy="228600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0" name="TextBox"/>
          <p:cNvSpPr txBox="1"/>
          <p:nvPr/>
        </p:nvSpPr>
        <p:spPr>
          <a:xfrm>
            <a:off x="12277725" y="7639050"/>
            <a:ext cx="55572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A6A38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构建中 67%</a:t>
            </a:r>
          </a:p>
        </p:txBody>
      </p:sp>
      <p:sp>
        <p:nvSpPr>
          <p:cNvPr id="151" name="Rectangle"/>
          <p:cNvSpPr/>
          <p:nvPr/>
        </p:nvSpPr>
        <p:spPr>
          <a:xfrm>
            <a:off x="3314700" y="7943850"/>
            <a:ext cx="105918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TextBox"/>
          <p:cNvSpPr txBox="1"/>
          <p:nvPr/>
        </p:nvSpPr>
        <p:spPr>
          <a:xfrm>
            <a:off x="3314700" y="8105775"/>
            <a:ext cx="640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今天 09:14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5181600" y="8096250"/>
            <a:ext cx="8667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产品技术文档库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10515600" y="8105775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1,024</a:t>
            </a:r>
          </a:p>
        </p:txBody>
      </p:sp>
      <p:sp>
        <p:nvSpPr>
          <p:cNvPr id="155" name="Rectangle"/>
          <p:cNvSpPr/>
          <p:nvPr/>
        </p:nvSpPr>
        <p:spPr>
          <a:xfrm>
            <a:off x="12192000" y="8067675"/>
            <a:ext cx="809625" cy="22860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6" name="TextBox"/>
          <p:cNvSpPr txBox="1"/>
          <p:nvPr/>
        </p:nvSpPr>
        <p:spPr>
          <a:xfrm>
            <a:off x="12277725" y="8105775"/>
            <a:ext cx="6359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 · 42s</a:t>
            </a:r>
          </a:p>
        </p:txBody>
      </p:sp>
      <p:sp>
        <p:nvSpPr>
          <p:cNvPr id="157" name="Rectangle"/>
          <p:cNvSpPr/>
          <p:nvPr/>
        </p:nvSpPr>
        <p:spPr>
          <a:xfrm>
            <a:off x="3314700" y="8410575"/>
            <a:ext cx="105918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8" name="TextBox"/>
          <p:cNvSpPr txBox="1"/>
          <p:nvPr/>
        </p:nvSpPr>
        <p:spPr>
          <a:xfrm>
            <a:off x="3314700" y="8572500"/>
            <a:ext cx="640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昨天 18:04</a:t>
            </a:r>
          </a:p>
        </p:txBody>
      </p:sp>
      <p:sp>
        <p:nvSpPr>
          <p:cNvPr id="159" name="TextBox"/>
          <p:cNvSpPr txBox="1"/>
          <p:nvPr/>
        </p:nvSpPr>
        <p:spPr>
          <a:xfrm>
            <a:off x="5181600" y="8562975"/>
            <a:ext cx="8667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历史故障复盘库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10515600" y="85725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3,286</a:t>
            </a:r>
          </a:p>
        </p:txBody>
      </p:sp>
      <p:sp>
        <p:nvSpPr>
          <p:cNvPr id="161" name="Rectangle"/>
          <p:cNvSpPr/>
          <p:nvPr/>
        </p:nvSpPr>
        <p:spPr>
          <a:xfrm>
            <a:off x="12192000" y="85344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2" name="TextBox"/>
          <p:cNvSpPr txBox="1"/>
          <p:nvPr/>
        </p:nvSpPr>
        <p:spPr>
          <a:xfrm>
            <a:off x="12277725" y="8572500"/>
            <a:ext cx="8180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 · 2m 18s</a:t>
            </a:r>
          </a:p>
        </p:txBody>
      </p:sp>
      <p:sp>
        <p:nvSpPr>
          <p:cNvPr id="163" name="Rectangle"/>
          <p:cNvSpPr/>
          <p:nvPr/>
        </p:nvSpPr>
        <p:spPr>
          <a:xfrm>
            <a:off x="3128963" y="6700838"/>
            <a:ext cx="10963275" cy="2362200"/>
          </a:xfrm>
          <a:prstGeom prst="roundRect">
            <a:avLst>
              <a:gd name="adj" fmla="val 3830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4" name="Rectangle"/>
          <p:cNvSpPr/>
          <p:nvPr/>
        </p:nvSpPr>
        <p:spPr>
          <a:xfrm>
            <a:off x="614363" y="1947863"/>
            <a:ext cx="13706475" cy="8562975"/>
          </a:xfrm>
          <a:prstGeom prst="roundRect">
            <a:avLst>
              <a:gd name="adj" fmla="val 1501"/>
            </a:avLst>
          </a:prstGeom>
          <a:noFill/>
          <a:ln w="9525">
            <a:solidFill>
              <a:srgbClr val="DCE0E8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112520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148590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1440 × 900 · LIGHT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248400" y="60960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05 / SCREENS · 应用界面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248400" y="876300"/>
            <a:ext cx="3491179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知识库详情 · 文档与构建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6248400" y="1390650"/>
            <a:ext cx="72009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插件的主操作台。左侧承担文档管理（高频、需要扫视），右侧承担构建配置（低频、需要确认），两侧不共享滚动容器。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1943100"/>
            <a:ext cx="13716000" cy="8572500"/>
          </a:xfrm>
          <a:prstGeom prst="roundRect">
            <a:avLst>
              <a:gd name="adj" fmla="val 1555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609600" y="1943100"/>
            <a:ext cx="2286000" cy="857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800100" y="2152650"/>
            <a:ext cx="285750" cy="285750"/>
          </a:xfrm>
          <a:prstGeom prst="roundRect">
            <a:avLst>
              <a:gd name="adj" fmla="val 26666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868680" y="2272665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978217" y="222408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978217" y="233457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905310" y="2245478"/>
            <a:ext cx="75330" cy="100095"/>
          </a:xfrm>
          <a:custGeom>
            <a:avLst/>
            <a:gdLst/>
            <a:ahLst/>
            <a:cxnLst/>
            <a:rect l="0" t="0" r="r" b="b"/>
            <a:pathLst>
              <a:path w="75330" h="100095">
                <a:moveTo>
                  <a:pt x="3555" y="34521"/>
                </a:moveTo>
                <a:lnTo>
                  <a:pt x="66420" y="1183"/>
                </a:lnTo>
                <a:quadBezTo>
                  <a:pt x="68504" y="0"/>
                  <a:pt x="70774" y="769"/>
                </a:quadBezTo>
                <a:quadBezTo>
                  <a:pt x="73085" y="1406"/>
                  <a:pt x="74146" y="3555"/>
                </a:quadBezTo>
                <a:quadBezTo>
                  <a:pt x="75330" y="5639"/>
                  <a:pt x="74561" y="7909"/>
                </a:quadBezTo>
                <a:quadBezTo>
                  <a:pt x="73924" y="10220"/>
                  <a:pt x="71775" y="11281"/>
                </a:quadBezTo>
                <a:lnTo>
                  <a:pt x="8910" y="44619"/>
                </a:lnTo>
                <a:quadBezTo>
                  <a:pt x="6826" y="45802"/>
                  <a:pt x="4555" y="45033"/>
                </a:quadBezTo>
                <a:quadBezTo>
                  <a:pt x="2245" y="44396"/>
                  <a:pt x="1183" y="42247"/>
                </a:quadBezTo>
                <a:quadBezTo>
                  <a:pt x="0" y="40163"/>
                  <a:pt x="769" y="37893"/>
                </a:quadBezTo>
                <a:quadBezTo>
                  <a:pt x="1406" y="35582"/>
                  <a:pt x="3555" y="34521"/>
                </a:quadBezTo>
                <a:close/>
                <a:moveTo>
                  <a:pt x="8910" y="55476"/>
                </a:moveTo>
                <a:lnTo>
                  <a:pt x="71775" y="88813"/>
                </a:lnTo>
                <a:quadBezTo>
                  <a:pt x="73924" y="89875"/>
                  <a:pt x="74561" y="92185"/>
                </a:quadBezTo>
                <a:quadBezTo>
                  <a:pt x="75330" y="94456"/>
                  <a:pt x="74146" y="96540"/>
                </a:quadBezTo>
                <a:quadBezTo>
                  <a:pt x="73085" y="98689"/>
                  <a:pt x="70774" y="99326"/>
                </a:quadBezTo>
                <a:quadBezTo>
                  <a:pt x="68504" y="100095"/>
                  <a:pt x="66420" y="98911"/>
                </a:quadBezTo>
                <a:lnTo>
                  <a:pt x="3555" y="65574"/>
                </a:lnTo>
                <a:quadBezTo>
                  <a:pt x="1406" y="64512"/>
                  <a:pt x="769" y="62202"/>
                </a:quadBezTo>
                <a:quadBezTo>
                  <a:pt x="0" y="59932"/>
                  <a:pt x="1183" y="57847"/>
                </a:quadBezTo>
                <a:quadBezTo>
                  <a:pt x="2245" y="55698"/>
                  <a:pt x="4555" y="55061"/>
                </a:quadBezTo>
                <a:quadBezTo>
                  <a:pt x="6826" y="54293"/>
                  <a:pt x="8910" y="55476"/>
                </a:quad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181100" y="21336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知识库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81100" y="233362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zvec · local</a:t>
            </a:r>
          </a:p>
        </p:txBody>
      </p:sp>
      <p:sp>
        <p:nvSpPr>
          <p:cNvPr id="16" name="Rectangle"/>
          <p:cNvSpPr/>
          <p:nvPr/>
        </p:nvSpPr>
        <p:spPr>
          <a:xfrm>
            <a:off x="859155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922020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859155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922020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85850" y="26574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概览</a:t>
            </a:r>
          </a:p>
        </p:txBody>
      </p:sp>
      <p:sp>
        <p:nvSpPr>
          <p:cNvPr id="21" name="Path"/>
          <p:cNvSpPr/>
          <p:nvPr/>
        </p:nvSpPr>
        <p:spPr>
          <a:xfrm>
            <a:off x="850492" y="3041799"/>
            <a:ext cx="127816" cy="71458"/>
          </a:xfrm>
          <a:custGeom>
            <a:avLst/>
            <a:gdLst/>
            <a:ahLst/>
            <a:cxnLst/>
            <a:rect l="0" t="0" r="r" b="b"/>
            <a:pathLst>
              <a:path w="127816" h="71458">
                <a:moveTo>
                  <a:pt x="123900" y="30228"/>
                </a:moveTo>
                <a:quadBezTo>
                  <a:pt x="124756" y="30669"/>
                  <a:pt x="125436" y="31351"/>
                </a:quadBezTo>
                <a:quadBezTo>
                  <a:pt x="126118" y="32031"/>
                  <a:pt x="126559" y="32887"/>
                </a:quadBezTo>
                <a:quadBezTo>
                  <a:pt x="127816" y="35158"/>
                  <a:pt x="126957" y="37609"/>
                </a:quadBezTo>
                <a:quadBezTo>
                  <a:pt x="126240" y="40104"/>
                  <a:pt x="123900" y="41229"/>
                </a:quadBezTo>
                <a:lnTo>
                  <a:pt x="66750" y="70757"/>
                </a:lnTo>
                <a:quadBezTo>
                  <a:pt x="65416" y="71458"/>
                  <a:pt x="63908" y="71448"/>
                </a:quadBezTo>
                <a:quadBezTo>
                  <a:pt x="62401" y="71458"/>
                  <a:pt x="61066" y="70757"/>
                </a:quadBezTo>
                <a:lnTo>
                  <a:pt x="3916" y="41229"/>
                </a:lnTo>
                <a:quadBezTo>
                  <a:pt x="3060" y="40789"/>
                  <a:pt x="2380" y="40107"/>
                </a:quadBezTo>
                <a:quadBezTo>
                  <a:pt x="1698" y="39427"/>
                  <a:pt x="1258" y="38571"/>
                </a:quadBezTo>
                <a:quadBezTo>
                  <a:pt x="0" y="36299"/>
                  <a:pt x="859" y="33849"/>
                </a:quadBezTo>
                <a:quadBezTo>
                  <a:pt x="1576" y="31353"/>
                  <a:pt x="3916" y="30228"/>
                </a:quadBezTo>
                <a:lnTo>
                  <a:pt x="61066" y="701"/>
                </a:lnTo>
                <a:quadBezTo>
                  <a:pt x="62401" y="0"/>
                  <a:pt x="63908" y="10"/>
                </a:quadBezTo>
                <a:quadBezTo>
                  <a:pt x="65416" y="0"/>
                  <a:pt x="66750" y="701"/>
                </a:quadBezTo>
                <a:lnTo>
                  <a:pt x="123900" y="30228"/>
                </a:lnTo>
                <a:close/>
                <a:moveTo>
                  <a:pt x="63908" y="13170"/>
                </a:moveTo>
                <a:lnTo>
                  <a:pt x="20246" y="35729"/>
                </a:lnTo>
                <a:lnTo>
                  <a:pt x="63908" y="58288"/>
                </a:lnTo>
                <a:lnTo>
                  <a:pt x="107570" y="35729"/>
                </a:lnTo>
                <a:lnTo>
                  <a:pt x="63908" y="1317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854408" y="3104412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854408" y="3132987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085850" y="301942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</a:t>
            </a:r>
          </a:p>
        </p:txBody>
      </p:sp>
      <p:sp>
        <p:nvSpPr>
          <p:cNvPr id="25" name="Rectangle"/>
          <p:cNvSpPr/>
          <p:nvPr/>
        </p:nvSpPr>
        <p:spPr>
          <a:xfrm>
            <a:off x="742950" y="3295650"/>
            <a:ext cx="2019300" cy="342900"/>
          </a:xfrm>
          <a:prstGeom prst="roundRect">
            <a:avLst>
              <a:gd name="adj" fmla="val 2222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870109" y="3405659"/>
            <a:ext cx="88587" cy="122877"/>
          </a:xfrm>
          <a:custGeom>
            <a:avLst/>
            <a:gdLst/>
            <a:ahLst/>
            <a:cxnLst/>
            <a:rect l="0" t="0" r="r" b="b"/>
            <a:pathLst>
              <a:path w="88587" h="122877">
                <a:moveTo>
                  <a:pt x="19526" y="5"/>
                </a:moveTo>
                <a:lnTo>
                  <a:pt x="57626" y="5"/>
                </a:lnTo>
                <a:quadBezTo>
                  <a:pt x="58859" y="0"/>
                  <a:pt x="59996" y="476"/>
                </a:quadBezTo>
                <a:quadBezTo>
                  <a:pt x="61136" y="943"/>
                  <a:pt x="62004" y="1818"/>
                </a:quadBezTo>
                <a:lnTo>
                  <a:pt x="86769" y="26583"/>
                </a:lnTo>
                <a:quadBezTo>
                  <a:pt x="87644" y="27451"/>
                  <a:pt x="88111" y="28592"/>
                </a:quadBezTo>
                <a:quadBezTo>
                  <a:pt x="88587" y="29728"/>
                  <a:pt x="88582" y="30961"/>
                </a:quadBezTo>
                <a:lnTo>
                  <a:pt x="88582" y="103351"/>
                </a:lnTo>
                <a:quadBezTo>
                  <a:pt x="88582" y="111630"/>
                  <a:pt x="82959" y="117254"/>
                </a:quadBezTo>
                <a:quadBezTo>
                  <a:pt x="77336" y="122877"/>
                  <a:pt x="69056" y="122877"/>
                </a:quadBezTo>
                <a:lnTo>
                  <a:pt x="19526" y="122877"/>
                </a:lnTo>
                <a:quadBezTo>
                  <a:pt x="11247" y="122877"/>
                  <a:pt x="5623" y="117254"/>
                </a:quadBezTo>
                <a:quadBezTo>
                  <a:pt x="0" y="111630"/>
                  <a:pt x="0" y="103351"/>
                </a:quadBezTo>
                <a:lnTo>
                  <a:pt x="0" y="19531"/>
                </a:lnTo>
                <a:quadBezTo>
                  <a:pt x="0" y="11251"/>
                  <a:pt x="5623" y="5628"/>
                </a:quadBezTo>
                <a:quadBezTo>
                  <a:pt x="11247" y="5"/>
                  <a:pt x="19526" y="5"/>
                </a:quadBezTo>
                <a:close/>
                <a:moveTo>
                  <a:pt x="19526" y="12387"/>
                </a:moveTo>
                <a:quadBezTo>
                  <a:pt x="16376" y="12387"/>
                  <a:pt x="14379" y="14384"/>
                </a:quadBezTo>
                <a:quadBezTo>
                  <a:pt x="12382" y="16380"/>
                  <a:pt x="12382" y="19531"/>
                </a:quadBezTo>
                <a:lnTo>
                  <a:pt x="12382" y="103351"/>
                </a:lnTo>
                <a:quadBezTo>
                  <a:pt x="12382" y="106501"/>
                  <a:pt x="14379" y="108498"/>
                </a:quadBezTo>
                <a:quadBezTo>
                  <a:pt x="16376" y="110495"/>
                  <a:pt x="19526" y="110495"/>
                </a:quadBezTo>
                <a:lnTo>
                  <a:pt x="69056" y="110495"/>
                </a:lnTo>
                <a:quadBezTo>
                  <a:pt x="72207" y="110495"/>
                  <a:pt x="74203" y="108498"/>
                </a:quadBezTo>
                <a:quadBezTo>
                  <a:pt x="76200" y="106501"/>
                  <a:pt x="76200" y="103351"/>
                </a:quadBezTo>
                <a:lnTo>
                  <a:pt x="76200" y="33525"/>
                </a:lnTo>
                <a:lnTo>
                  <a:pt x="55062" y="12387"/>
                </a:lnTo>
                <a:lnTo>
                  <a:pt x="19526" y="12387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921469" y="3411855"/>
            <a:ext cx="31031" cy="31031"/>
          </a:xfrm>
          <a:custGeom>
            <a:avLst/>
            <a:gdLst/>
            <a:ahLst/>
            <a:cxnLst/>
            <a:rect l="0" t="0" r="r" b="b"/>
            <a:pathLst>
              <a:path w="31031" h="31031">
                <a:moveTo>
                  <a:pt x="12457" y="0"/>
                </a:moveTo>
                <a:lnTo>
                  <a:pt x="12457" y="18574"/>
                </a:lnTo>
                <a:lnTo>
                  <a:pt x="31031" y="18574"/>
                </a:lnTo>
                <a:lnTo>
                  <a:pt x="31031" y="30956"/>
                </a:lnTo>
                <a:lnTo>
                  <a:pt x="6266" y="30956"/>
                </a:lnTo>
                <a:quadBezTo>
                  <a:pt x="3671" y="31031"/>
                  <a:pt x="1888" y="29143"/>
                </a:quadBezTo>
                <a:quadBezTo>
                  <a:pt x="0" y="27360"/>
                  <a:pt x="75" y="24765"/>
                </a:quadBezTo>
                <a:lnTo>
                  <a:pt x="75" y="0"/>
                </a:lnTo>
                <a:lnTo>
                  <a:pt x="12457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085850" y="33813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29" name="Ellipse"/>
          <p:cNvSpPr/>
          <p:nvPr/>
        </p:nvSpPr>
        <p:spPr>
          <a:xfrm>
            <a:off x="863917" y="3778568"/>
            <a:ext cx="85725" cy="85725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932417" y="3847067"/>
            <a:ext cx="42071" cy="42071"/>
          </a:xfrm>
          <a:custGeom>
            <a:avLst/>
            <a:gdLst/>
            <a:ahLst/>
            <a:cxnLst/>
            <a:rect l="0" t="0" r="r" b="b"/>
            <a:pathLst>
              <a:path w="42071" h="42071">
                <a:moveTo>
                  <a:pt x="11463" y="2033"/>
                </a:moveTo>
                <a:lnTo>
                  <a:pt x="40038" y="30608"/>
                </a:lnTo>
                <a:quadBezTo>
                  <a:pt x="42071" y="32528"/>
                  <a:pt x="41990" y="35323"/>
                </a:quadBezTo>
                <a:quadBezTo>
                  <a:pt x="42071" y="38118"/>
                  <a:pt x="40038" y="40038"/>
                </a:quadBezTo>
                <a:quadBezTo>
                  <a:pt x="38118" y="42071"/>
                  <a:pt x="35323" y="41990"/>
                </a:quadBezTo>
                <a:quadBezTo>
                  <a:pt x="32528" y="42071"/>
                  <a:pt x="30608" y="40038"/>
                </a:quadBez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085850" y="37433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检索测试</a:t>
            </a:r>
          </a:p>
        </p:txBody>
      </p:sp>
      <p:sp>
        <p:nvSpPr>
          <p:cNvPr id="32" name="Ellipse"/>
          <p:cNvSpPr/>
          <p:nvPr/>
        </p:nvSpPr>
        <p:spPr>
          <a:xfrm>
            <a:off x="857250" y="4133850"/>
            <a:ext cx="114300" cy="11430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Path"/>
          <p:cNvSpPr/>
          <p:nvPr/>
        </p:nvSpPr>
        <p:spPr>
          <a:xfrm>
            <a:off x="907652" y="4151867"/>
            <a:ext cx="36873" cy="61638"/>
          </a:xfrm>
          <a:custGeom>
            <a:avLst/>
            <a:gdLst/>
            <a:ahLst/>
            <a:cxnLst/>
            <a:rect l="0" t="0" r="r" b="b"/>
            <a:pathLst>
              <a:path w="36873" h="61638">
                <a:moveTo>
                  <a:pt x="13415" y="6748"/>
                </a:moveTo>
                <a:lnTo>
                  <a:pt x="13415" y="38019"/>
                </a:lnTo>
                <a:lnTo>
                  <a:pt x="32784" y="48510"/>
                </a:lnTo>
                <a:quadBezTo>
                  <a:pt x="35280" y="49771"/>
                  <a:pt x="35999" y="52473"/>
                </a:quadBezTo>
                <a:quadBezTo>
                  <a:pt x="36873" y="55129"/>
                  <a:pt x="35471" y="57549"/>
                </a:quadBezTo>
                <a:quadBezTo>
                  <a:pt x="34210" y="60045"/>
                  <a:pt x="31508" y="60764"/>
                </a:quadBezTo>
                <a:quadBezTo>
                  <a:pt x="28852" y="61638"/>
                  <a:pt x="26432" y="60236"/>
                </a:quadBezTo>
                <a:lnTo>
                  <a:pt x="3572" y="47853"/>
                </a:lnTo>
                <a:quadBezTo>
                  <a:pt x="1946" y="46992"/>
                  <a:pt x="1020" y="45402"/>
                </a:quadBezTo>
                <a:quadBezTo>
                  <a:pt x="63" y="43830"/>
                  <a:pt x="80" y="41990"/>
                </a:quadBezTo>
                <a:lnTo>
                  <a:pt x="80" y="6748"/>
                </a:ln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quadBezTo>
                  <a:pt x="13496" y="3953"/>
                  <a:pt x="13415" y="674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085850" y="41052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构建历史</a:t>
            </a:r>
          </a:p>
        </p:txBody>
      </p:sp>
      <p:sp>
        <p:nvSpPr>
          <p:cNvPr id="35" name="Ellipse"/>
          <p:cNvSpPr/>
          <p:nvPr/>
        </p:nvSpPr>
        <p:spPr>
          <a:xfrm>
            <a:off x="870585" y="4509135"/>
            <a:ext cx="87630" cy="8763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897255" y="4535805"/>
            <a:ext cx="34290" cy="34290"/>
          </a:xfrm>
          <a:prstGeom prst="ellipse">
            <a:avLst/>
          </a:pr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844787" y="4483337"/>
            <a:ext cx="139226" cy="139226"/>
          </a:xfrm>
          <a:custGeom>
            <a:avLst/>
            <a:gdLst/>
            <a:ahLst/>
            <a:cxnLst/>
            <a:rect l="0" t="0" r="r" b="b"/>
            <a:pathLst>
              <a:path w="139226" h="139226">
                <a:moveTo>
                  <a:pt x="76280" y="6748"/>
                </a:moveTo>
                <a:lnTo>
                  <a:pt x="76280" y="25798"/>
                </a:lnTo>
                <a:quadBezTo>
                  <a:pt x="76361" y="28593"/>
                  <a:pt x="74328" y="30513"/>
                </a:quadBezTo>
                <a:quadBezTo>
                  <a:pt x="72408" y="32546"/>
                  <a:pt x="69613" y="32465"/>
                </a:quadBezTo>
                <a:quadBezTo>
                  <a:pt x="66818" y="32546"/>
                  <a:pt x="64898" y="30513"/>
                </a:quadBezTo>
                <a:quadBezTo>
                  <a:pt x="62865" y="28593"/>
                  <a:pt x="62945" y="25798"/>
                </a:quadBezTo>
                <a:lnTo>
                  <a:pt x="62945" y="6748"/>
                </a:lnTo>
                <a:quadBezTo>
                  <a:pt x="62865" y="3953"/>
                  <a:pt x="64898" y="2033"/>
                </a:quadBezTo>
                <a:quadBezTo>
                  <a:pt x="66818" y="0"/>
                  <a:pt x="69613" y="80"/>
                </a:quadBezTo>
                <a:quadBezTo>
                  <a:pt x="72408" y="0"/>
                  <a:pt x="74328" y="2033"/>
                </a:quadBezTo>
                <a:quadBezTo>
                  <a:pt x="76361" y="3953"/>
                  <a:pt x="76280" y="6748"/>
                </a:quadBezTo>
                <a:close/>
                <a:moveTo>
                  <a:pt x="6748" y="62945"/>
                </a:moveTo>
                <a:lnTo>
                  <a:pt x="25798" y="62945"/>
                </a:lnTo>
                <a:quadBezTo>
                  <a:pt x="28593" y="62865"/>
                  <a:pt x="30513" y="64898"/>
                </a:quadBezTo>
                <a:quadBezTo>
                  <a:pt x="32546" y="66818"/>
                  <a:pt x="32465" y="69613"/>
                </a:quadBezTo>
                <a:quadBezTo>
                  <a:pt x="32546" y="72408"/>
                  <a:pt x="30513" y="74328"/>
                </a:quadBezTo>
                <a:quadBezTo>
                  <a:pt x="28593" y="76361"/>
                  <a:pt x="25798" y="76280"/>
                </a:quadBezTo>
                <a:lnTo>
                  <a:pt x="6748" y="76280"/>
                </a:lnTo>
                <a:quadBezTo>
                  <a:pt x="3953" y="76361"/>
                  <a:pt x="2033" y="74328"/>
                </a:quadBezTo>
                <a:quadBezTo>
                  <a:pt x="0" y="72408"/>
                  <a:pt x="80" y="69613"/>
                </a:quadBezTo>
                <a:quadBezTo>
                  <a:pt x="0" y="66818"/>
                  <a:pt x="2033" y="64898"/>
                </a:quadBezTo>
                <a:quadBezTo>
                  <a:pt x="3953" y="62865"/>
                  <a:pt x="6748" y="62945"/>
                </a:quadBezTo>
                <a:close/>
                <a:moveTo>
                  <a:pt x="113428" y="62945"/>
                </a:moveTo>
                <a:lnTo>
                  <a:pt x="132478" y="62945"/>
                </a:lnTo>
                <a:quadBezTo>
                  <a:pt x="135273" y="62865"/>
                  <a:pt x="137193" y="64898"/>
                </a:quadBezTo>
                <a:quadBezTo>
                  <a:pt x="139226" y="66818"/>
                  <a:pt x="139145" y="69613"/>
                </a:quadBezTo>
                <a:quadBezTo>
                  <a:pt x="139226" y="72408"/>
                  <a:pt x="137193" y="74328"/>
                </a:quadBezTo>
                <a:quadBezTo>
                  <a:pt x="135273" y="76361"/>
                  <a:pt x="132478" y="76280"/>
                </a:quadBezTo>
                <a:lnTo>
                  <a:pt x="113428" y="76280"/>
                </a:lnTo>
                <a:quadBezTo>
                  <a:pt x="110633" y="76361"/>
                  <a:pt x="108713" y="74328"/>
                </a:quadBezTo>
                <a:quadBezTo>
                  <a:pt x="106680" y="72408"/>
                  <a:pt x="106760" y="69613"/>
                </a:quadBezTo>
                <a:quadBezTo>
                  <a:pt x="106680" y="66818"/>
                  <a:pt x="108713" y="64898"/>
                </a:quadBezTo>
                <a:quadBezTo>
                  <a:pt x="110633" y="62865"/>
                  <a:pt x="113428" y="62945"/>
                </a:quadBezTo>
                <a:close/>
                <a:moveTo>
                  <a:pt x="76280" y="113428"/>
                </a:moveTo>
                <a:lnTo>
                  <a:pt x="76280" y="132478"/>
                </a:lnTo>
                <a:quadBezTo>
                  <a:pt x="76361" y="135273"/>
                  <a:pt x="74328" y="137193"/>
                </a:quadBezTo>
                <a:quadBezTo>
                  <a:pt x="72408" y="139226"/>
                  <a:pt x="69613" y="139145"/>
                </a:quadBezTo>
                <a:quadBezTo>
                  <a:pt x="66818" y="139226"/>
                  <a:pt x="64898" y="137193"/>
                </a:quadBezTo>
                <a:quadBezTo>
                  <a:pt x="62865" y="135273"/>
                  <a:pt x="62945" y="132478"/>
                </a:quadBezTo>
                <a:lnTo>
                  <a:pt x="62945" y="113428"/>
                </a:lnTo>
                <a:quadBezTo>
                  <a:pt x="62865" y="110633"/>
                  <a:pt x="64898" y="108713"/>
                </a:quadBezTo>
                <a:quadBezTo>
                  <a:pt x="66818" y="106680"/>
                  <a:pt x="69613" y="106760"/>
                </a:quadBezTo>
                <a:quadBezTo>
                  <a:pt x="72408" y="106680"/>
                  <a:pt x="74328" y="108713"/>
                </a:quadBezTo>
                <a:quadBezTo>
                  <a:pt x="76361" y="110633"/>
                  <a:pt x="76280" y="11342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85850" y="44672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设置</a:t>
            </a:r>
          </a:p>
        </p:txBody>
      </p:sp>
      <p:sp>
        <p:nvSpPr>
          <p:cNvPr id="39" name="Rectangle"/>
          <p:cNvSpPr/>
          <p:nvPr/>
        </p:nvSpPr>
        <p:spPr>
          <a:xfrm>
            <a:off x="742950" y="9639300"/>
            <a:ext cx="2019300" cy="742950"/>
          </a:xfrm>
          <a:prstGeom prst="roundRect">
            <a:avLst>
              <a:gd name="adj" fmla="val 1282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857250" y="97536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本地索引占用</a:t>
            </a:r>
          </a:p>
        </p:txBody>
      </p:sp>
      <p:sp>
        <p:nvSpPr>
          <p:cNvPr id="41" name="Rectangle"/>
          <p:cNvSpPr/>
          <p:nvPr/>
        </p:nvSpPr>
        <p:spPr>
          <a:xfrm>
            <a:off x="857250" y="9991725"/>
            <a:ext cx="1790700" cy="5715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857250" y="9991725"/>
            <a:ext cx="371475" cy="571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857250" y="10125075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MB / 2 GB</a:t>
            </a:r>
          </a:p>
        </p:txBody>
      </p:sp>
      <p:sp>
        <p:nvSpPr>
          <p:cNvPr id="44" name="Rectangle"/>
          <p:cNvSpPr/>
          <p:nvPr/>
        </p:nvSpPr>
        <p:spPr>
          <a:xfrm>
            <a:off x="2895600" y="1943100"/>
            <a:ext cx="114300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24200" y="2105025"/>
            <a:ext cx="100012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产品技术文档库</a:t>
            </a:r>
          </a:p>
        </p:txBody>
      </p:sp>
      <p:sp>
        <p:nvSpPr>
          <p:cNvPr id="46" name="Rectangle"/>
          <p:cNvSpPr/>
          <p:nvPr/>
        </p:nvSpPr>
        <p:spPr>
          <a:xfrm>
            <a:off x="11449050" y="2057400"/>
            <a:ext cx="2286000" cy="304800"/>
          </a:xfrm>
          <a:prstGeom prst="roundRect">
            <a:avLst>
              <a:gd name="adj" fmla="val 2500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Ellipse"/>
          <p:cNvSpPr/>
          <p:nvPr/>
        </p:nvSpPr>
        <p:spPr>
          <a:xfrm>
            <a:off x="11568410" y="2167235"/>
            <a:ext cx="80367" cy="80367"/>
          </a:xfrm>
          <a:prstGeom prst="ellipse">
            <a:avLst/>
          </a:prstGeom>
          <a:noFill/>
          <a:ln w="12502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11632628" y="2231453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1763375" y="213360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搜索知识库或文档</a:t>
            </a:r>
          </a:p>
        </p:txBody>
      </p:sp>
      <p:sp>
        <p:nvSpPr>
          <p:cNvPr id="50" name="Ellipse"/>
          <p:cNvSpPr/>
          <p:nvPr/>
        </p:nvSpPr>
        <p:spPr>
          <a:xfrm>
            <a:off x="13849350" y="2066925"/>
            <a:ext cx="285750" cy="285750"/>
          </a:xfrm>
          <a:prstGeom prst="ellipse">
            <a:avLst/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Ellipse"/>
          <p:cNvSpPr/>
          <p:nvPr/>
        </p:nvSpPr>
        <p:spPr>
          <a:xfrm>
            <a:off x="13952220" y="2137410"/>
            <a:ext cx="80010" cy="80010"/>
          </a:xfrm>
          <a:prstGeom prst="ellipse">
            <a:avLst/>
          </a:prstGeom>
          <a:noFill/>
          <a:ln w="15240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13912123" y="2232660"/>
            <a:ext cx="160204" cy="74387"/>
          </a:xfrm>
          <a:custGeom>
            <a:avLst/>
            <a:gdLst/>
            <a:ahLst/>
            <a:cxnLst/>
            <a:rect l="0" t="0" r="r" b="b"/>
            <a:pathLst>
              <a:path w="160204" h="74387">
                <a:moveTo>
                  <a:pt x="92" y="66675"/>
                </a:moveTo>
                <a:quadBezTo>
                  <a:pt x="92" y="36535"/>
                  <a:pt x="24595" y="17551"/>
                </a:quadBezTo>
                <a:quadBezTo>
                  <a:pt x="47248" y="0"/>
                  <a:pt x="80102" y="0"/>
                </a:quadBezTo>
                <a:quadBezTo>
                  <a:pt x="112956" y="0"/>
                  <a:pt x="135609" y="17551"/>
                </a:quadBezTo>
                <a:quadBezTo>
                  <a:pt x="160112" y="36535"/>
                  <a:pt x="160112" y="66675"/>
                </a:quadBezTo>
                <a:quadBezTo>
                  <a:pt x="160204" y="69869"/>
                  <a:pt x="157880" y="72063"/>
                </a:quadBezTo>
                <a:quadBezTo>
                  <a:pt x="155686" y="74387"/>
                  <a:pt x="152492" y="74295"/>
                </a:quadBezTo>
                <a:quadBezTo>
                  <a:pt x="149298" y="74387"/>
                  <a:pt x="147104" y="72063"/>
                </a:quadBezTo>
                <a:quadBezTo>
                  <a:pt x="144780" y="69869"/>
                  <a:pt x="144872" y="66675"/>
                </a:quadBezTo>
                <a:quadBezTo>
                  <a:pt x="144872" y="44007"/>
                  <a:pt x="126275" y="29598"/>
                </a:quadBezTo>
                <a:quadBezTo>
                  <a:pt x="107743" y="15240"/>
                  <a:pt x="80102" y="15240"/>
                </a:quadBezTo>
                <a:quadBezTo>
                  <a:pt x="52461" y="15240"/>
                  <a:pt x="33929" y="29598"/>
                </a:quadBezTo>
                <a:quadBezTo>
                  <a:pt x="15332" y="44007"/>
                  <a:pt x="15332" y="66675"/>
                </a:quadBezTo>
                <a:quadBezTo>
                  <a:pt x="15424" y="69869"/>
                  <a:pt x="13100" y="72063"/>
                </a:quadBezTo>
                <a:quadBezTo>
                  <a:pt x="10906" y="74387"/>
                  <a:pt x="7712" y="74295"/>
                </a:quadBezTo>
                <a:quadBezTo>
                  <a:pt x="4518" y="74387"/>
                  <a:pt x="2324" y="72063"/>
                </a:quadBezTo>
                <a:quadBezTo>
                  <a:pt x="0" y="69869"/>
                  <a:pt x="92" y="66675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895600" y="2476500"/>
            <a:ext cx="11430000" cy="9525"/>
          </a:xfrm>
          <a:prstGeom prst="rect">
            <a:avLst/>
          </a:prstGeom>
          <a:solidFill>
            <a:srgbClr val="E9EC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3124200" y="2714625"/>
            <a:ext cx="12902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  /  产品技术文档库</a:t>
            </a:r>
          </a:p>
        </p:txBody>
      </p:sp>
      <p:sp>
        <p:nvSpPr>
          <p:cNvPr id="55" name="Rectangle"/>
          <p:cNvSpPr/>
          <p:nvPr/>
        </p:nvSpPr>
        <p:spPr>
          <a:xfrm>
            <a:off x="3124200" y="3067050"/>
            <a:ext cx="10972800" cy="83820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3314700" y="3267075"/>
            <a:ext cx="438150" cy="438150"/>
          </a:xfrm>
          <a:prstGeom prst="roundRect">
            <a:avLst>
              <a:gd name="adj" fmla="val 23913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Path"/>
          <p:cNvSpPr/>
          <p:nvPr/>
        </p:nvSpPr>
        <p:spPr>
          <a:xfrm>
            <a:off x="3428673" y="3362783"/>
            <a:ext cx="210205" cy="122909"/>
          </a:xfrm>
          <a:custGeom>
            <a:avLst/>
            <a:gdLst/>
            <a:ahLst/>
            <a:cxnLst/>
            <a:rect l="0" t="0" r="r" b="b"/>
            <a:pathLst>
              <a:path w="210205" h="122909">
                <a:moveTo>
                  <a:pt x="204713" y="53526"/>
                </a:moveTo>
                <a:quadBezTo>
                  <a:pt x="205842" y="54145"/>
                  <a:pt x="206751" y="55056"/>
                </a:quadBezTo>
                <a:quadBezTo>
                  <a:pt x="207662" y="55965"/>
                  <a:pt x="208281" y="57094"/>
                </a:quadBezTo>
                <a:quadBezTo>
                  <a:pt x="210205" y="60365"/>
                  <a:pt x="209042" y="63977"/>
                </a:quadBezTo>
                <a:quadBezTo>
                  <a:pt x="208090" y="67651"/>
                  <a:pt x="204713" y="69383"/>
                </a:quadBezTo>
                <a:lnTo>
                  <a:pt x="109463" y="121771"/>
                </a:lnTo>
                <a:quadBezTo>
                  <a:pt x="107431" y="122909"/>
                  <a:pt x="105102" y="122891"/>
                </a:quadBezTo>
                <a:quadBezTo>
                  <a:pt x="102774" y="122909"/>
                  <a:pt x="100742" y="121771"/>
                </a:quadBezTo>
                <a:lnTo>
                  <a:pt x="5492" y="69383"/>
                </a:lnTo>
                <a:quadBezTo>
                  <a:pt x="4363" y="68764"/>
                  <a:pt x="3454" y="67853"/>
                </a:quadBezTo>
                <a:quadBezTo>
                  <a:pt x="2542" y="66944"/>
                  <a:pt x="1924" y="65815"/>
                </a:quadBezTo>
                <a:quadBezTo>
                  <a:pt x="0" y="62544"/>
                  <a:pt x="1162" y="58932"/>
                </a:quadBezTo>
                <a:quadBezTo>
                  <a:pt x="2115" y="55258"/>
                  <a:pt x="5492" y="53526"/>
                </a:quadBezTo>
                <a:lnTo>
                  <a:pt x="100742" y="1138"/>
                </a:lnTo>
                <a:quadBezTo>
                  <a:pt x="102774" y="0"/>
                  <a:pt x="105102" y="18"/>
                </a:quadBezTo>
                <a:quadBezTo>
                  <a:pt x="107431" y="0"/>
                  <a:pt x="109463" y="1138"/>
                </a:quadBezTo>
                <a:lnTo>
                  <a:pt x="204713" y="53526"/>
                </a:lnTo>
                <a:close/>
                <a:moveTo>
                  <a:pt x="105102" y="19394"/>
                </a:moveTo>
                <a:lnTo>
                  <a:pt x="28629" y="61454"/>
                </a:lnTo>
                <a:lnTo>
                  <a:pt x="105102" y="103515"/>
                </a:lnTo>
                <a:lnTo>
                  <a:pt x="181576" y="61454"/>
                </a:lnTo>
                <a:lnTo>
                  <a:pt x="105102" y="1939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Path"/>
          <p:cNvSpPr/>
          <p:nvPr/>
        </p:nvSpPr>
        <p:spPr>
          <a:xfrm>
            <a:off x="3434164" y="3478221"/>
            <a:ext cx="199222" cy="69383"/>
          </a:xfrm>
          <a:custGeom>
            <a:avLst/>
            <a:gdLst/>
            <a:ahLst/>
            <a:cxnLst/>
            <a:rect l="0" t="0" r="r" b="b"/>
            <a:pathLst>
              <a:path w="199222" h="69383">
                <a:moveTo>
                  <a:pt x="8722" y="0"/>
                </a:moveTo>
                <a:lnTo>
                  <a:pt x="99611" y="49989"/>
                </a:lnTo>
                <a:lnTo>
                  <a:pt x="190500" y="0"/>
                </a:lnTo>
                <a:lnTo>
                  <a:pt x="199222" y="15857"/>
                </a:lnTo>
                <a:lnTo>
                  <a:pt x="103972" y="68245"/>
                </a:lnTo>
                <a:quadBezTo>
                  <a:pt x="101940" y="69383"/>
                  <a:pt x="99611" y="69365"/>
                </a:quadBezTo>
                <a:quadBezTo>
                  <a:pt x="97282" y="69383"/>
                  <a:pt x="95250" y="68245"/>
                </a:quadBezTo>
                <a:lnTo>
                  <a:pt x="0" y="15857"/>
                </a:lnTo>
                <a:lnTo>
                  <a:pt x="8722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Path"/>
          <p:cNvSpPr/>
          <p:nvPr/>
        </p:nvSpPr>
        <p:spPr>
          <a:xfrm>
            <a:off x="3434164" y="3540134"/>
            <a:ext cx="199222" cy="69383"/>
          </a:xfrm>
          <a:custGeom>
            <a:avLst/>
            <a:gdLst/>
            <a:ahLst/>
            <a:cxnLst/>
            <a:rect l="0" t="0" r="r" b="b"/>
            <a:pathLst>
              <a:path w="199222" h="69383">
                <a:moveTo>
                  <a:pt x="8722" y="0"/>
                </a:moveTo>
                <a:lnTo>
                  <a:pt x="99611" y="49989"/>
                </a:lnTo>
                <a:lnTo>
                  <a:pt x="190500" y="0"/>
                </a:lnTo>
                <a:lnTo>
                  <a:pt x="199222" y="15857"/>
                </a:lnTo>
                <a:lnTo>
                  <a:pt x="103972" y="68245"/>
                </a:lnTo>
                <a:quadBezTo>
                  <a:pt x="101940" y="69383"/>
                  <a:pt x="99611" y="69365"/>
                </a:quadBezTo>
                <a:quadBezTo>
                  <a:pt x="97282" y="69383"/>
                  <a:pt x="95250" y="68245"/>
                </a:quadBezTo>
                <a:lnTo>
                  <a:pt x="0" y="15857"/>
                </a:lnTo>
                <a:lnTo>
                  <a:pt x="8722" y="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3905250" y="325755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zh-CN" sz="15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产品技术文档库</a:t>
            </a:r>
          </a:p>
        </p:txBody>
      </p:sp>
      <p:sp>
        <p:nvSpPr>
          <p:cNvPr id="61" name="TextBox"/>
          <p:cNvSpPr txBox="1"/>
          <p:nvPr/>
        </p:nvSpPr>
        <p:spPr>
          <a:xfrm>
            <a:off x="3905250" y="3571875"/>
            <a:ext cx="444246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kb_prod_2f8a · HNSW · cosine · text-embedding-v4 · 128 文档 / 1,024 分片</a:t>
            </a:r>
          </a:p>
        </p:txBody>
      </p:sp>
      <p:sp>
        <p:nvSpPr>
          <p:cNvPr id="62" name="Rectangle"/>
          <p:cNvSpPr/>
          <p:nvPr/>
        </p:nvSpPr>
        <p:spPr>
          <a:xfrm>
            <a:off x="12268200" y="3324225"/>
            <a:ext cx="762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12401550" y="34004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重建索引</a:t>
            </a:r>
          </a:p>
        </p:txBody>
      </p:sp>
      <p:sp>
        <p:nvSpPr>
          <p:cNvPr id="64" name="Rectangle"/>
          <p:cNvSpPr/>
          <p:nvPr/>
        </p:nvSpPr>
        <p:spPr>
          <a:xfrm>
            <a:off x="12272963" y="3328988"/>
            <a:ext cx="7524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13125450" y="3324225"/>
            <a:ext cx="78105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Box"/>
          <p:cNvSpPr txBox="1"/>
          <p:nvPr/>
        </p:nvSpPr>
        <p:spPr>
          <a:xfrm>
            <a:off x="13258800" y="34004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上传文档</a:t>
            </a:r>
          </a:p>
        </p:txBody>
      </p:sp>
      <p:sp>
        <p:nvSpPr>
          <p:cNvPr id="67" name="Rectangle"/>
          <p:cNvSpPr/>
          <p:nvPr/>
        </p:nvSpPr>
        <p:spPr>
          <a:xfrm>
            <a:off x="3128963" y="3071813"/>
            <a:ext cx="10963275" cy="828675"/>
          </a:xfrm>
          <a:prstGeom prst="roundRect">
            <a:avLst>
              <a:gd name="adj" fmla="val 10919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3124200" y="4095750"/>
            <a:ext cx="638937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 · 128</a:t>
            </a:r>
          </a:p>
        </p:txBody>
      </p:sp>
      <p:sp>
        <p:nvSpPr>
          <p:cNvPr id="69" name="Rectangle"/>
          <p:cNvSpPr/>
          <p:nvPr/>
        </p:nvSpPr>
        <p:spPr>
          <a:xfrm>
            <a:off x="3124200" y="4352925"/>
            <a:ext cx="647700" cy="190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Box"/>
          <p:cNvSpPr txBox="1"/>
          <p:nvPr/>
        </p:nvSpPr>
        <p:spPr>
          <a:xfrm>
            <a:off x="4000500" y="409575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索引配置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4724400" y="409575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构建日志</a:t>
            </a:r>
          </a:p>
        </p:txBody>
      </p:sp>
      <p:sp>
        <p:nvSpPr>
          <p:cNvPr id="72" name="Rectangle"/>
          <p:cNvSpPr/>
          <p:nvPr/>
        </p:nvSpPr>
        <p:spPr>
          <a:xfrm>
            <a:off x="3124200" y="4562475"/>
            <a:ext cx="7543800" cy="5724525"/>
          </a:xfrm>
          <a:prstGeom prst="roundRect">
            <a:avLst>
              <a:gd name="adj" fmla="val 1663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3295650" y="47815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文档列表</a:t>
            </a:r>
          </a:p>
        </p:txBody>
      </p:sp>
      <p:sp>
        <p:nvSpPr>
          <p:cNvPr id="74" name="Rectangle"/>
          <p:cNvSpPr/>
          <p:nvPr/>
        </p:nvSpPr>
        <p:spPr>
          <a:xfrm>
            <a:off x="8591550" y="4733925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Ellipse"/>
          <p:cNvSpPr/>
          <p:nvPr/>
        </p:nvSpPr>
        <p:spPr>
          <a:xfrm>
            <a:off x="8690253" y="4832628"/>
            <a:ext cx="75009" cy="75009"/>
          </a:xfrm>
          <a:prstGeom prst="ellipse">
            <a:avLst/>
          </a:prstGeom>
          <a:noFill/>
          <a:ln w="11668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Path"/>
          <p:cNvSpPr/>
          <p:nvPr/>
        </p:nvSpPr>
        <p:spPr>
          <a:xfrm>
            <a:off x="8750190" y="4892565"/>
            <a:ext cx="36812" cy="36812"/>
          </a:xfrm>
          <a:custGeom>
            <a:avLst/>
            <a:gdLst/>
            <a:ahLst/>
            <a:cxnLst/>
            <a:rect l="0" t="0" r="r" b="b"/>
            <a:pathLst>
              <a:path w="36812" h="36812">
                <a:moveTo>
                  <a:pt x="10030" y="1779"/>
                </a:moveTo>
                <a:lnTo>
                  <a:pt x="35033" y="26782"/>
                </a:lnTo>
                <a:quadBezTo>
                  <a:pt x="36812" y="28462"/>
                  <a:pt x="36742" y="30908"/>
                </a:quadBezTo>
                <a:quadBezTo>
                  <a:pt x="36812" y="33353"/>
                  <a:pt x="35033" y="35033"/>
                </a:quadBezTo>
                <a:quadBezTo>
                  <a:pt x="33353" y="36812"/>
                  <a:pt x="30908" y="36742"/>
                </a:quadBezTo>
                <a:quadBezTo>
                  <a:pt x="28462" y="36812"/>
                  <a:pt x="26782" y="35033"/>
                </a:quadBezTo>
                <a:lnTo>
                  <a:pt x="1779" y="10030"/>
                </a:lnTo>
                <a:quadBezTo>
                  <a:pt x="0" y="8350"/>
                  <a:pt x="70" y="5904"/>
                </a:quadBezTo>
                <a:quadBezTo>
                  <a:pt x="0" y="3459"/>
                  <a:pt x="1779" y="1779"/>
                </a:quadBezTo>
                <a:quadBezTo>
                  <a:pt x="3459" y="0"/>
                  <a:pt x="5904" y="70"/>
                </a:quadBezTo>
                <a:quadBezTo>
                  <a:pt x="8350" y="0"/>
                  <a:pt x="10030" y="1779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8858250" y="48006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筛选文档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3295650" y="51530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文件名</a:t>
            </a:r>
          </a:p>
        </p:txBody>
      </p:sp>
      <p:sp>
        <p:nvSpPr>
          <p:cNvPr id="79" name="TextBox"/>
          <p:cNvSpPr txBox="1"/>
          <p:nvPr/>
        </p:nvSpPr>
        <p:spPr>
          <a:xfrm>
            <a:off x="7867650" y="515302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类型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8667750" y="515302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分片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9582150" y="5153025"/>
            <a:ext cx="2095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状态</a:t>
            </a:r>
          </a:p>
        </p:txBody>
      </p:sp>
      <p:sp>
        <p:nvSpPr>
          <p:cNvPr id="82" name="Path"/>
          <p:cNvSpPr/>
          <p:nvPr/>
        </p:nvSpPr>
        <p:spPr>
          <a:xfrm>
            <a:off x="3328988" y="55406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Path"/>
          <p:cNvSpPr/>
          <p:nvPr/>
        </p:nvSpPr>
        <p:spPr>
          <a:xfrm>
            <a:off x="3387962" y="55473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8"/>
                </a:lnTo>
                <a:lnTo>
                  <a:pt x="39133" y="25718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3581400" y="5524500"/>
            <a:ext cx="1218686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zvec-architecture.md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7867650" y="55435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MD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8667750" y="55435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42</a:t>
            </a:r>
          </a:p>
        </p:txBody>
      </p:sp>
      <p:sp>
        <p:nvSpPr>
          <p:cNvPr id="87" name="Rectangle"/>
          <p:cNvSpPr/>
          <p:nvPr/>
        </p:nvSpPr>
        <p:spPr>
          <a:xfrm>
            <a:off x="9582150" y="55054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9886950" y="55340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</a:t>
            </a:r>
          </a:p>
        </p:txBody>
      </p:sp>
      <p:sp>
        <p:nvSpPr>
          <p:cNvPr id="89" name="Rectangle"/>
          <p:cNvSpPr/>
          <p:nvPr/>
        </p:nvSpPr>
        <p:spPr>
          <a:xfrm>
            <a:off x="9586913" y="5510213"/>
            <a:ext cx="904875" cy="2000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Path"/>
          <p:cNvSpPr/>
          <p:nvPr/>
        </p:nvSpPr>
        <p:spPr>
          <a:xfrm>
            <a:off x="3328988" y="59597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Path"/>
          <p:cNvSpPr/>
          <p:nvPr/>
        </p:nvSpPr>
        <p:spPr>
          <a:xfrm>
            <a:off x="3387962" y="59664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3581400" y="5943600"/>
            <a:ext cx="1324432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index-tuning-guide.pdf</a:t>
            </a:r>
          </a:p>
        </p:txBody>
      </p:sp>
      <p:sp>
        <p:nvSpPr>
          <p:cNvPr id="93" name="TextBox"/>
          <p:cNvSpPr txBox="1"/>
          <p:nvPr/>
        </p:nvSpPr>
        <p:spPr>
          <a:xfrm>
            <a:off x="7867650" y="59626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PDF</a:t>
            </a:r>
          </a:p>
        </p:txBody>
      </p:sp>
      <p:sp>
        <p:nvSpPr>
          <p:cNvPr id="94" name="TextBox"/>
          <p:cNvSpPr txBox="1"/>
          <p:nvPr/>
        </p:nvSpPr>
        <p:spPr>
          <a:xfrm>
            <a:off x="8667750" y="59626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128</a:t>
            </a:r>
          </a:p>
        </p:txBody>
      </p:sp>
      <p:sp>
        <p:nvSpPr>
          <p:cNvPr id="95" name="Rectangle"/>
          <p:cNvSpPr/>
          <p:nvPr/>
        </p:nvSpPr>
        <p:spPr>
          <a:xfrm>
            <a:off x="9582150" y="59245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TextBox"/>
          <p:cNvSpPr txBox="1"/>
          <p:nvPr/>
        </p:nvSpPr>
        <p:spPr>
          <a:xfrm>
            <a:off x="9886950" y="59531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</a:t>
            </a:r>
          </a:p>
        </p:txBody>
      </p:sp>
      <p:sp>
        <p:nvSpPr>
          <p:cNvPr id="97" name="Rectangle"/>
          <p:cNvSpPr/>
          <p:nvPr/>
        </p:nvSpPr>
        <p:spPr>
          <a:xfrm>
            <a:off x="9586913" y="5929313"/>
            <a:ext cx="904875" cy="2000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Path"/>
          <p:cNvSpPr/>
          <p:nvPr/>
        </p:nvSpPr>
        <p:spPr>
          <a:xfrm>
            <a:off x="3328988" y="63788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3B7DE0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Path"/>
          <p:cNvSpPr/>
          <p:nvPr/>
        </p:nvSpPr>
        <p:spPr>
          <a:xfrm>
            <a:off x="3387962" y="63855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3B7DE0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TextBox"/>
          <p:cNvSpPr txBox="1"/>
          <p:nvPr/>
        </p:nvSpPr>
        <p:spPr>
          <a:xfrm>
            <a:off x="3581400" y="6362700"/>
            <a:ext cx="1673124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embedding-benchmark.docx</a:t>
            </a:r>
          </a:p>
        </p:txBody>
      </p:sp>
      <p:sp>
        <p:nvSpPr>
          <p:cNvPr id="101" name="TextBox"/>
          <p:cNvSpPr txBox="1"/>
          <p:nvPr/>
        </p:nvSpPr>
        <p:spPr>
          <a:xfrm>
            <a:off x="7867650" y="6381750"/>
            <a:ext cx="2514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DOCX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8667750" y="63817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86</a:t>
            </a:r>
          </a:p>
        </p:txBody>
      </p:sp>
      <p:sp>
        <p:nvSpPr>
          <p:cNvPr id="103" name="Rectangle"/>
          <p:cNvSpPr/>
          <p:nvPr/>
        </p:nvSpPr>
        <p:spPr>
          <a:xfrm>
            <a:off x="9582150" y="63436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Box"/>
          <p:cNvSpPr txBox="1"/>
          <p:nvPr/>
        </p:nvSpPr>
        <p:spPr>
          <a:xfrm>
            <a:off x="9886950" y="63722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8A6A38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构建中</a:t>
            </a:r>
          </a:p>
        </p:txBody>
      </p:sp>
      <p:sp>
        <p:nvSpPr>
          <p:cNvPr id="105" name="Path"/>
          <p:cNvSpPr/>
          <p:nvPr/>
        </p:nvSpPr>
        <p:spPr>
          <a:xfrm>
            <a:off x="3328988" y="67979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Path"/>
          <p:cNvSpPr/>
          <p:nvPr/>
        </p:nvSpPr>
        <p:spPr>
          <a:xfrm>
            <a:off x="3387962" y="68046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TextBox"/>
          <p:cNvSpPr txBox="1"/>
          <p:nvPr/>
        </p:nvSpPr>
        <p:spPr>
          <a:xfrm>
            <a:off x="3581400" y="6781800"/>
            <a:ext cx="96744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faq-collection.txt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7867650" y="68008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TXT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8667750" y="68008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24</a:t>
            </a:r>
          </a:p>
        </p:txBody>
      </p:sp>
      <p:sp>
        <p:nvSpPr>
          <p:cNvPr id="110" name="Rectangle"/>
          <p:cNvSpPr/>
          <p:nvPr/>
        </p:nvSpPr>
        <p:spPr>
          <a:xfrm>
            <a:off x="9582150" y="67627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F0F2F6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extBox"/>
          <p:cNvSpPr txBox="1"/>
          <p:nvPr/>
        </p:nvSpPr>
        <p:spPr>
          <a:xfrm>
            <a:off x="9886950" y="67913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待构建</a:t>
            </a:r>
          </a:p>
        </p:txBody>
      </p:sp>
      <p:sp>
        <p:nvSpPr>
          <p:cNvPr id="112" name="Path"/>
          <p:cNvSpPr/>
          <p:nvPr/>
        </p:nvSpPr>
        <p:spPr>
          <a:xfrm>
            <a:off x="3328988" y="72170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3387962" y="72237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3581400" y="7200900"/>
            <a:ext cx="116544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api-reference-v3.md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7867650" y="72199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MD</a:t>
            </a:r>
          </a:p>
        </p:txBody>
      </p:sp>
      <p:sp>
        <p:nvSpPr>
          <p:cNvPr id="116" name="TextBox"/>
          <p:cNvSpPr txBox="1"/>
          <p:nvPr/>
        </p:nvSpPr>
        <p:spPr>
          <a:xfrm>
            <a:off x="8667750" y="72199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312</a:t>
            </a:r>
          </a:p>
        </p:txBody>
      </p:sp>
      <p:sp>
        <p:nvSpPr>
          <p:cNvPr id="117" name="Rectangle"/>
          <p:cNvSpPr/>
          <p:nvPr/>
        </p:nvSpPr>
        <p:spPr>
          <a:xfrm>
            <a:off x="9582150" y="71818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" name="TextBox"/>
          <p:cNvSpPr txBox="1"/>
          <p:nvPr/>
        </p:nvSpPr>
        <p:spPr>
          <a:xfrm>
            <a:off x="9886950" y="72104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</a:t>
            </a:r>
          </a:p>
        </p:txBody>
      </p:sp>
      <p:sp>
        <p:nvSpPr>
          <p:cNvPr id="119" name="Rectangle"/>
          <p:cNvSpPr/>
          <p:nvPr/>
        </p:nvSpPr>
        <p:spPr>
          <a:xfrm>
            <a:off x="9586913" y="7186613"/>
            <a:ext cx="904875" cy="2000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Path"/>
          <p:cNvSpPr/>
          <p:nvPr/>
        </p:nvSpPr>
        <p:spPr>
          <a:xfrm>
            <a:off x="3328988" y="76361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Path"/>
          <p:cNvSpPr/>
          <p:nvPr/>
        </p:nvSpPr>
        <p:spPr>
          <a:xfrm>
            <a:off x="3387962" y="76428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DC2E4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TextBox"/>
          <p:cNvSpPr txBox="1"/>
          <p:nvPr/>
        </p:nvSpPr>
        <p:spPr>
          <a:xfrm>
            <a:off x="3581400" y="7620000"/>
            <a:ext cx="1463859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deployment-runbook.pdf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7867650" y="76390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PDF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8667750" y="76390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96</a:t>
            </a:r>
          </a:p>
        </p:txBody>
      </p:sp>
      <p:sp>
        <p:nvSpPr>
          <p:cNvPr id="125" name="Rectangle"/>
          <p:cNvSpPr/>
          <p:nvPr/>
        </p:nvSpPr>
        <p:spPr>
          <a:xfrm>
            <a:off x="9582150" y="76009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TextBox"/>
          <p:cNvSpPr txBox="1"/>
          <p:nvPr/>
        </p:nvSpPr>
        <p:spPr>
          <a:xfrm>
            <a:off x="9886950" y="76295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</a:t>
            </a:r>
          </a:p>
        </p:txBody>
      </p:sp>
      <p:sp>
        <p:nvSpPr>
          <p:cNvPr id="127" name="Rectangle"/>
          <p:cNvSpPr/>
          <p:nvPr/>
        </p:nvSpPr>
        <p:spPr>
          <a:xfrm>
            <a:off x="9586913" y="7605713"/>
            <a:ext cx="904875" cy="2000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Path"/>
          <p:cNvSpPr/>
          <p:nvPr/>
        </p:nvSpPr>
        <p:spPr>
          <a:xfrm>
            <a:off x="3328988" y="8055288"/>
            <a:ext cx="104780" cy="139070"/>
          </a:xfrm>
          <a:custGeom>
            <a:avLst/>
            <a:gdLst/>
            <a:ahLst/>
            <a:cxnLst/>
            <a:rect l="0" t="0" r="r" b="b"/>
            <a:pathLst>
              <a:path w="104780" h="139070">
                <a:moveTo>
                  <a:pt x="21908" y="5"/>
                </a:moveTo>
                <a:lnTo>
                  <a:pt x="65722" y="5"/>
                </a:lnTo>
                <a:quadBezTo>
                  <a:pt x="67050" y="0"/>
                  <a:pt x="68274" y="513"/>
                </a:quadBezTo>
                <a:quadBezTo>
                  <a:pt x="69502" y="1016"/>
                  <a:pt x="70437" y="1958"/>
                </a:quadBezTo>
                <a:lnTo>
                  <a:pt x="102822" y="34343"/>
                </a:lnTo>
                <a:quadBezTo>
                  <a:pt x="103764" y="35278"/>
                  <a:pt x="104267" y="36506"/>
                </a:quadBezTo>
                <a:quadBezTo>
                  <a:pt x="104780" y="37730"/>
                  <a:pt x="104775" y="39057"/>
                </a:quadBezTo>
                <a:lnTo>
                  <a:pt x="104775" y="117162"/>
                </a:lnTo>
                <a:quadBezTo>
                  <a:pt x="104775" y="126354"/>
                  <a:pt x="98417" y="132712"/>
                </a:quadBezTo>
                <a:quadBezTo>
                  <a:pt x="92059" y="139070"/>
                  <a:pt x="82867" y="139070"/>
                </a:quadBezTo>
                <a:lnTo>
                  <a:pt x="21908" y="139070"/>
                </a:lnTo>
                <a:quadBezTo>
                  <a:pt x="12716" y="139070"/>
                  <a:pt x="6358" y="132712"/>
                </a:quadBezTo>
                <a:quadBezTo>
                  <a:pt x="0" y="126354"/>
                  <a:pt x="0" y="117162"/>
                </a:quadBezTo>
                <a:lnTo>
                  <a:pt x="0" y="21912"/>
                </a:lnTo>
                <a:quadBezTo>
                  <a:pt x="0" y="12721"/>
                  <a:pt x="6358" y="6363"/>
                </a:quadBezTo>
                <a:quadBezTo>
                  <a:pt x="12716" y="5"/>
                  <a:pt x="21908" y="5"/>
                </a:quadBezTo>
                <a:close/>
                <a:moveTo>
                  <a:pt x="21908" y="13340"/>
                </a:moveTo>
                <a:quadBezTo>
                  <a:pt x="18240" y="13340"/>
                  <a:pt x="15787" y="15792"/>
                </a:quadBezTo>
                <a:quadBezTo>
                  <a:pt x="13335" y="18245"/>
                  <a:pt x="13335" y="21912"/>
                </a:quadBezTo>
                <a:lnTo>
                  <a:pt x="13335" y="117162"/>
                </a:lnTo>
                <a:quadBezTo>
                  <a:pt x="13335" y="120830"/>
                  <a:pt x="15787" y="123283"/>
                </a:quadBezTo>
                <a:quadBezTo>
                  <a:pt x="18240" y="125735"/>
                  <a:pt x="21908" y="125735"/>
                </a:quadBezTo>
                <a:lnTo>
                  <a:pt x="82867" y="125735"/>
                </a:lnTo>
                <a:quadBezTo>
                  <a:pt x="86535" y="125735"/>
                  <a:pt x="88988" y="123283"/>
                </a:quadBezTo>
                <a:quadBezTo>
                  <a:pt x="91440" y="120830"/>
                  <a:pt x="91440" y="117162"/>
                </a:quadBezTo>
                <a:lnTo>
                  <a:pt x="91440" y="41819"/>
                </a:lnTo>
                <a:lnTo>
                  <a:pt x="62961" y="13340"/>
                </a:lnTo>
                <a:lnTo>
                  <a:pt x="21908" y="13340"/>
                </a:ln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Path"/>
          <p:cNvSpPr/>
          <p:nvPr/>
        </p:nvSpPr>
        <p:spPr>
          <a:xfrm>
            <a:off x="3387962" y="8061960"/>
            <a:ext cx="39133" cy="39133"/>
          </a:xfrm>
          <a:custGeom>
            <a:avLst/>
            <a:gdLst/>
            <a:ahLst/>
            <a:cxnLst/>
            <a:rect l="0" t="0" r="r" b="b"/>
            <a:pathLst>
              <a:path w="39133" h="39133">
                <a:moveTo>
                  <a:pt x="13415" y="0"/>
                </a:moveTo>
                <a:lnTo>
                  <a:pt x="13415" y="25717"/>
                </a:lnTo>
                <a:lnTo>
                  <a:pt x="39133" y="25717"/>
                </a:lnTo>
                <a:lnTo>
                  <a:pt x="39133" y="39052"/>
                </a:lnTo>
                <a:lnTo>
                  <a:pt x="6748" y="39052"/>
                </a:lnTo>
                <a:quadBezTo>
                  <a:pt x="3953" y="39133"/>
                  <a:pt x="2033" y="37100"/>
                </a:quadBezTo>
                <a:quadBezTo>
                  <a:pt x="0" y="35180"/>
                  <a:pt x="80" y="32385"/>
                </a:quadBezTo>
                <a:lnTo>
                  <a:pt x="80" y="0"/>
                </a:lnTo>
                <a:lnTo>
                  <a:pt x="13415" y="0"/>
                </a:ln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0" name="TextBox"/>
          <p:cNvSpPr txBox="1"/>
          <p:nvPr/>
        </p:nvSpPr>
        <p:spPr>
          <a:xfrm>
            <a:off x="3581400" y="8039100"/>
            <a:ext cx="109201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changelog-2026.txt</a:t>
            </a:r>
          </a:p>
        </p:txBody>
      </p:sp>
      <p:sp>
        <p:nvSpPr>
          <p:cNvPr id="131" name="TextBox"/>
          <p:cNvSpPr txBox="1"/>
          <p:nvPr/>
        </p:nvSpPr>
        <p:spPr>
          <a:xfrm>
            <a:off x="7867650" y="80581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TXT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8667750" y="8058150"/>
            <a:ext cx="1257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18</a:t>
            </a:r>
          </a:p>
        </p:txBody>
      </p:sp>
      <p:sp>
        <p:nvSpPr>
          <p:cNvPr id="133" name="Rectangle"/>
          <p:cNvSpPr/>
          <p:nvPr/>
        </p:nvSpPr>
        <p:spPr>
          <a:xfrm>
            <a:off x="9582150" y="8020050"/>
            <a:ext cx="914400" cy="209550"/>
          </a:xfrm>
          <a:prstGeom prst="roundRect">
            <a:avLst>
              <a:gd name="adj" fmla="val 50000"/>
            </a:avLst>
          </a:prstGeom>
          <a:solidFill>
            <a:srgbClr val="E6F5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4" name="TextBox"/>
          <p:cNvSpPr txBox="1"/>
          <p:nvPr/>
        </p:nvSpPr>
        <p:spPr>
          <a:xfrm>
            <a:off x="9886950" y="8048625"/>
            <a:ext cx="3143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1E6E6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已就绪</a:t>
            </a:r>
          </a:p>
        </p:txBody>
      </p:sp>
      <p:sp>
        <p:nvSpPr>
          <p:cNvPr id="135" name="Rectangle"/>
          <p:cNvSpPr/>
          <p:nvPr/>
        </p:nvSpPr>
        <p:spPr>
          <a:xfrm>
            <a:off x="9586913" y="8024813"/>
            <a:ext cx="904875" cy="2000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7E2D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6" name="Rectangle"/>
          <p:cNvSpPr/>
          <p:nvPr/>
        </p:nvSpPr>
        <p:spPr>
          <a:xfrm>
            <a:off x="3128963" y="4567238"/>
            <a:ext cx="7534275" cy="5715000"/>
          </a:xfrm>
          <a:prstGeom prst="roundRect">
            <a:avLst>
              <a:gd name="adj" fmla="val 1583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7" name="Rectangle"/>
          <p:cNvSpPr/>
          <p:nvPr/>
        </p:nvSpPr>
        <p:spPr>
          <a:xfrm>
            <a:off x="10858500" y="4562475"/>
            <a:ext cx="3238500" cy="5724525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8" name="TextBox"/>
          <p:cNvSpPr txBox="1"/>
          <p:nvPr/>
        </p:nvSpPr>
        <p:spPr>
          <a:xfrm>
            <a:off x="11029950" y="4733925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构建配置</a:t>
            </a:r>
          </a:p>
        </p:txBody>
      </p:sp>
      <p:sp>
        <p:nvSpPr>
          <p:cNvPr id="139" name="TextBox"/>
          <p:cNvSpPr txBox="1"/>
          <p:nvPr/>
        </p:nvSpPr>
        <p:spPr>
          <a:xfrm>
            <a:off x="11029950" y="50768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切分策略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12811125" y="5076825"/>
            <a:ext cx="110665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按语义 · 1024 token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11029950" y="53911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嵌入模型</a:t>
            </a:r>
          </a:p>
        </p:txBody>
      </p:sp>
      <p:sp>
        <p:nvSpPr>
          <p:cNvPr id="142" name="TextBox"/>
          <p:cNvSpPr txBox="1"/>
          <p:nvPr/>
        </p:nvSpPr>
        <p:spPr>
          <a:xfrm>
            <a:off x="12753975" y="5400675"/>
            <a:ext cx="11658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text-embedding-v4</a:t>
            </a:r>
          </a:p>
        </p:txBody>
      </p:sp>
      <p:sp>
        <p:nvSpPr>
          <p:cNvPr id="143" name="TextBox"/>
          <p:cNvSpPr txBox="1"/>
          <p:nvPr/>
        </p:nvSpPr>
        <p:spPr>
          <a:xfrm>
            <a:off x="11029950" y="57054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索引类型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13030200" y="5715000"/>
            <a:ext cx="8915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HNSW · cosine</a:t>
            </a:r>
          </a:p>
        </p:txBody>
      </p:sp>
      <p:sp>
        <p:nvSpPr>
          <p:cNvPr id="145" name="Rectangle"/>
          <p:cNvSpPr/>
          <p:nvPr/>
        </p:nvSpPr>
        <p:spPr>
          <a:xfrm>
            <a:off x="11029950" y="6019800"/>
            <a:ext cx="28956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6" name="Rectangle"/>
          <p:cNvSpPr/>
          <p:nvPr/>
        </p:nvSpPr>
        <p:spPr>
          <a:xfrm>
            <a:off x="11029950" y="6181725"/>
            <a:ext cx="2895600" cy="381000"/>
          </a:xfrm>
          <a:prstGeom prst="roundRect">
            <a:avLst>
              <a:gd name="adj" fmla="val 15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7" name="TextBox"/>
          <p:cNvSpPr txBox="1"/>
          <p:nvPr/>
        </p:nvSpPr>
        <p:spPr>
          <a:xfrm>
            <a:off x="12106275" y="6286500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重建全部索引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11029950" y="6715125"/>
            <a:ext cx="27241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重建期间检索工具返回上一次快照，不会中断正在进行的会话。</a:t>
            </a:r>
          </a:p>
        </p:txBody>
      </p:sp>
      <p:sp>
        <p:nvSpPr>
          <p:cNvPr id="149" name="Rectangle"/>
          <p:cNvSpPr/>
          <p:nvPr/>
        </p:nvSpPr>
        <p:spPr>
          <a:xfrm>
            <a:off x="11029950" y="7210425"/>
            <a:ext cx="28956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0" name="TextBox"/>
          <p:cNvSpPr txBox="1"/>
          <p:nvPr/>
        </p:nvSpPr>
        <p:spPr>
          <a:xfrm>
            <a:off x="11029950" y="73723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上次构建</a:t>
            </a:r>
          </a:p>
        </p:txBody>
      </p:sp>
      <p:sp>
        <p:nvSpPr>
          <p:cNvPr id="151" name="TextBox"/>
          <p:cNvSpPr txBox="1"/>
          <p:nvPr/>
        </p:nvSpPr>
        <p:spPr>
          <a:xfrm>
            <a:off x="11029950" y="76866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完成时间</a:t>
            </a:r>
          </a:p>
        </p:txBody>
      </p:sp>
      <p:sp>
        <p:nvSpPr>
          <p:cNvPr id="152" name="TextBox"/>
          <p:cNvSpPr txBox="1"/>
          <p:nvPr/>
        </p:nvSpPr>
        <p:spPr>
          <a:xfrm>
            <a:off x="13277850" y="7696200"/>
            <a:ext cx="6400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今天 09:14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11029950" y="80010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处理规模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12573000" y="8010525"/>
            <a:ext cx="1348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128 文档 / 1,024 分片</a:t>
            </a:r>
          </a:p>
        </p:txBody>
      </p:sp>
      <p:sp>
        <p:nvSpPr>
          <p:cNvPr id="155" name="TextBox"/>
          <p:cNvSpPr txBox="1"/>
          <p:nvPr/>
        </p:nvSpPr>
        <p:spPr>
          <a:xfrm>
            <a:off x="11029950" y="8315325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总耗时</a:t>
            </a:r>
          </a:p>
        </p:txBody>
      </p:sp>
      <p:sp>
        <p:nvSpPr>
          <p:cNvPr id="156" name="TextBox"/>
          <p:cNvSpPr txBox="1"/>
          <p:nvPr/>
        </p:nvSpPr>
        <p:spPr>
          <a:xfrm>
            <a:off x="13716000" y="8324850"/>
            <a:ext cx="205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E9E8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42s</a:t>
            </a:r>
          </a:p>
        </p:txBody>
      </p:sp>
      <p:sp>
        <p:nvSpPr>
          <p:cNvPr id="157" name="Rectangle"/>
          <p:cNvSpPr/>
          <p:nvPr/>
        </p:nvSpPr>
        <p:spPr>
          <a:xfrm>
            <a:off x="10863263" y="4567238"/>
            <a:ext cx="3228975" cy="5715000"/>
          </a:xfrm>
          <a:prstGeom prst="roundRect">
            <a:avLst>
              <a:gd name="adj" fmla="val 2802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8" name="Rectangle"/>
          <p:cNvSpPr/>
          <p:nvPr/>
        </p:nvSpPr>
        <p:spPr>
          <a:xfrm>
            <a:off x="614363" y="1947863"/>
            <a:ext cx="13706475" cy="8562975"/>
          </a:xfrm>
          <a:prstGeom prst="roundRect">
            <a:avLst>
              <a:gd name="adj" fmla="val 1501"/>
            </a:avLst>
          </a:prstGeom>
          <a:noFill/>
          <a:ln w="9525">
            <a:solidFill>
              <a:srgbClr val="DCE0E8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112520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05 / SCREENS · 应用界面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2884323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检索测试与 RAG 问答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7794041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左侧调试检索参数并查看原始命中，右侧把命中结果交给模型生成带引用的回答。两侧共用同一次查询，保证「调参 → 验证」闭环。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392150" y="148590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1440 × 900 · LIGHT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1943100"/>
            <a:ext cx="13716000" cy="8572500"/>
          </a:xfrm>
          <a:prstGeom prst="roundRect">
            <a:avLst>
              <a:gd name="adj" fmla="val 1555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609600" y="1943100"/>
            <a:ext cx="2286000" cy="857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800100" y="2152650"/>
            <a:ext cx="285750" cy="285750"/>
          </a:xfrm>
          <a:prstGeom prst="roundRect">
            <a:avLst>
              <a:gd name="adj" fmla="val 26666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868680" y="2272665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978217" y="222408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978217" y="233457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905310" y="2245478"/>
            <a:ext cx="75330" cy="100095"/>
          </a:xfrm>
          <a:custGeom>
            <a:avLst/>
            <a:gdLst/>
            <a:ahLst/>
            <a:cxnLst/>
            <a:rect l="0" t="0" r="r" b="b"/>
            <a:pathLst>
              <a:path w="75330" h="100095">
                <a:moveTo>
                  <a:pt x="3555" y="34521"/>
                </a:moveTo>
                <a:lnTo>
                  <a:pt x="66420" y="1183"/>
                </a:lnTo>
                <a:quadBezTo>
                  <a:pt x="68504" y="0"/>
                  <a:pt x="70774" y="769"/>
                </a:quadBezTo>
                <a:quadBezTo>
                  <a:pt x="73085" y="1406"/>
                  <a:pt x="74146" y="3555"/>
                </a:quadBezTo>
                <a:quadBezTo>
                  <a:pt x="75330" y="5639"/>
                  <a:pt x="74561" y="7909"/>
                </a:quadBezTo>
                <a:quadBezTo>
                  <a:pt x="73924" y="10220"/>
                  <a:pt x="71775" y="11281"/>
                </a:quadBezTo>
                <a:lnTo>
                  <a:pt x="8910" y="44619"/>
                </a:lnTo>
                <a:quadBezTo>
                  <a:pt x="6826" y="45802"/>
                  <a:pt x="4555" y="45033"/>
                </a:quadBezTo>
                <a:quadBezTo>
                  <a:pt x="2245" y="44396"/>
                  <a:pt x="1183" y="42247"/>
                </a:quadBezTo>
                <a:quadBezTo>
                  <a:pt x="0" y="40163"/>
                  <a:pt x="769" y="37893"/>
                </a:quadBezTo>
                <a:quadBezTo>
                  <a:pt x="1406" y="35582"/>
                  <a:pt x="3555" y="34521"/>
                </a:quadBezTo>
                <a:close/>
                <a:moveTo>
                  <a:pt x="8910" y="55476"/>
                </a:moveTo>
                <a:lnTo>
                  <a:pt x="71775" y="88813"/>
                </a:lnTo>
                <a:quadBezTo>
                  <a:pt x="73924" y="89875"/>
                  <a:pt x="74561" y="92185"/>
                </a:quadBezTo>
                <a:quadBezTo>
                  <a:pt x="75330" y="94456"/>
                  <a:pt x="74146" y="96540"/>
                </a:quadBezTo>
                <a:quadBezTo>
                  <a:pt x="73085" y="98689"/>
                  <a:pt x="70774" y="99326"/>
                </a:quadBezTo>
                <a:quadBezTo>
                  <a:pt x="68504" y="100095"/>
                  <a:pt x="66420" y="98911"/>
                </a:quadBezTo>
                <a:lnTo>
                  <a:pt x="3555" y="65574"/>
                </a:lnTo>
                <a:quadBezTo>
                  <a:pt x="1406" y="64512"/>
                  <a:pt x="769" y="62202"/>
                </a:quadBezTo>
                <a:quadBezTo>
                  <a:pt x="0" y="59932"/>
                  <a:pt x="1183" y="57847"/>
                </a:quadBezTo>
                <a:quadBezTo>
                  <a:pt x="2245" y="55698"/>
                  <a:pt x="4555" y="55061"/>
                </a:quadBezTo>
                <a:quadBezTo>
                  <a:pt x="6826" y="54293"/>
                  <a:pt x="8910" y="55476"/>
                </a:quad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181100" y="21336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知识库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81100" y="233362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zvec · local</a:t>
            </a:r>
          </a:p>
        </p:txBody>
      </p:sp>
      <p:sp>
        <p:nvSpPr>
          <p:cNvPr id="16" name="Rectangle"/>
          <p:cNvSpPr/>
          <p:nvPr/>
        </p:nvSpPr>
        <p:spPr>
          <a:xfrm>
            <a:off x="859155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922020" y="268795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859155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922020" y="275082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85850" y="26574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概览</a:t>
            </a:r>
          </a:p>
        </p:txBody>
      </p:sp>
      <p:sp>
        <p:nvSpPr>
          <p:cNvPr id="21" name="Path"/>
          <p:cNvSpPr/>
          <p:nvPr/>
        </p:nvSpPr>
        <p:spPr>
          <a:xfrm>
            <a:off x="850492" y="3041799"/>
            <a:ext cx="127816" cy="71458"/>
          </a:xfrm>
          <a:custGeom>
            <a:avLst/>
            <a:gdLst/>
            <a:ahLst/>
            <a:cxnLst/>
            <a:rect l="0" t="0" r="r" b="b"/>
            <a:pathLst>
              <a:path w="127816" h="71458">
                <a:moveTo>
                  <a:pt x="123900" y="30228"/>
                </a:moveTo>
                <a:quadBezTo>
                  <a:pt x="124756" y="30669"/>
                  <a:pt x="125436" y="31351"/>
                </a:quadBezTo>
                <a:quadBezTo>
                  <a:pt x="126118" y="32031"/>
                  <a:pt x="126559" y="32887"/>
                </a:quadBezTo>
                <a:quadBezTo>
                  <a:pt x="127816" y="35158"/>
                  <a:pt x="126957" y="37609"/>
                </a:quadBezTo>
                <a:quadBezTo>
                  <a:pt x="126240" y="40104"/>
                  <a:pt x="123900" y="41229"/>
                </a:quadBezTo>
                <a:lnTo>
                  <a:pt x="66750" y="70757"/>
                </a:lnTo>
                <a:quadBezTo>
                  <a:pt x="65416" y="71458"/>
                  <a:pt x="63908" y="71448"/>
                </a:quadBezTo>
                <a:quadBezTo>
                  <a:pt x="62401" y="71458"/>
                  <a:pt x="61066" y="70757"/>
                </a:quadBezTo>
                <a:lnTo>
                  <a:pt x="3916" y="41229"/>
                </a:lnTo>
                <a:quadBezTo>
                  <a:pt x="3060" y="40789"/>
                  <a:pt x="2380" y="40107"/>
                </a:quadBezTo>
                <a:quadBezTo>
                  <a:pt x="1698" y="39427"/>
                  <a:pt x="1258" y="38571"/>
                </a:quadBezTo>
                <a:quadBezTo>
                  <a:pt x="0" y="36299"/>
                  <a:pt x="859" y="33849"/>
                </a:quadBezTo>
                <a:quadBezTo>
                  <a:pt x="1576" y="31353"/>
                  <a:pt x="3916" y="30228"/>
                </a:quadBezTo>
                <a:lnTo>
                  <a:pt x="61066" y="701"/>
                </a:lnTo>
                <a:quadBezTo>
                  <a:pt x="62401" y="0"/>
                  <a:pt x="63908" y="10"/>
                </a:quadBezTo>
                <a:quadBezTo>
                  <a:pt x="65416" y="0"/>
                  <a:pt x="66750" y="701"/>
                </a:quadBezTo>
                <a:lnTo>
                  <a:pt x="123900" y="30228"/>
                </a:lnTo>
                <a:close/>
                <a:moveTo>
                  <a:pt x="63908" y="13170"/>
                </a:moveTo>
                <a:lnTo>
                  <a:pt x="20246" y="35729"/>
                </a:lnTo>
                <a:lnTo>
                  <a:pt x="63908" y="58288"/>
                </a:lnTo>
                <a:lnTo>
                  <a:pt x="107570" y="35729"/>
                </a:lnTo>
                <a:lnTo>
                  <a:pt x="63908" y="1317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854408" y="3104412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854408" y="3132987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085850" y="301942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</a:t>
            </a:r>
          </a:p>
        </p:txBody>
      </p:sp>
      <p:sp>
        <p:nvSpPr>
          <p:cNvPr id="25" name="Path"/>
          <p:cNvSpPr/>
          <p:nvPr/>
        </p:nvSpPr>
        <p:spPr>
          <a:xfrm>
            <a:off x="870109" y="3405659"/>
            <a:ext cx="88587" cy="122877"/>
          </a:xfrm>
          <a:custGeom>
            <a:avLst/>
            <a:gdLst/>
            <a:ahLst/>
            <a:cxnLst/>
            <a:rect l="0" t="0" r="r" b="b"/>
            <a:pathLst>
              <a:path w="88587" h="122877">
                <a:moveTo>
                  <a:pt x="19526" y="5"/>
                </a:moveTo>
                <a:lnTo>
                  <a:pt x="57626" y="5"/>
                </a:lnTo>
                <a:quadBezTo>
                  <a:pt x="58859" y="0"/>
                  <a:pt x="59996" y="476"/>
                </a:quadBezTo>
                <a:quadBezTo>
                  <a:pt x="61136" y="943"/>
                  <a:pt x="62004" y="1818"/>
                </a:quadBezTo>
                <a:lnTo>
                  <a:pt x="86769" y="26583"/>
                </a:lnTo>
                <a:quadBezTo>
                  <a:pt x="87644" y="27451"/>
                  <a:pt x="88111" y="28592"/>
                </a:quadBezTo>
                <a:quadBezTo>
                  <a:pt x="88587" y="29728"/>
                  <a:pt x="88582" y="30961"/>
                </a:quadBezTo>
                <a:lnTo>
                  <a:pt x="88582" y="103351"/>
                </a:lnTo>
                <a:quadBezTo>
                  <a:pt x="88582" y="111630"/>
                  <a:pt x="82959" y="117254"/>
                </a:quadBezTo>
                <a:quadBezTo>
                  <a:pt x="77336" y="122877"/>
                  <a:pt x="69056" y="122877"/>
                </a:quadBezTo>
                <a:lnTo>
                  <a:pt x="19526" y="122877"/>
                </a:lnTo>
                <a:quadBezTo>
                  <a:pt x="11247" y="122877"/>
                  <a:pt x="5623" y="117254"/>
                </a:quadBezTo>
                <a:quadBezTo>
                  <a:pt x="0" y="111630"/>
                  <a:pt x="0" y="103351"/>
                </a:quadBezTo>
                <a:lnTo>
                  <a:pt x="0" y="19531"/>
                </a:lnTo>
                <a:quadBezTo>
                  <a:pt x="0" y="11251"/>
                  <a:pt x="5623" y="5628"/>
                </a:quadBezTo>
                <a:quadBezTo>
                  <a:pt x="11247" y="5"/>
                  <a:pt x="19526" y="5"/>
                </a:quadBezTo>
                <a:close/>
                <a:moveTo>
                  <a:pt x="19526" y="12387"/>
                </a:moveTo>
                <a:quadBezTo>
                  <a:pt x="16376" y="12387"/>
                  <a:pt x="14379" y="14384"/>
                </a:quadBezTo>
                <a:quadBezTo>
                  <a:pt x="12382" y="16380"/>
                  <a:pt x="12382" y="19531"/>
                </a:quadBezTo>
                <a:lnTo>
                  <a:pt x="12382" y="103351"/>
                </a:lnTo>
                <a:quadBezTo>
                  <a:pt x="12382" y="106501"/>
                  <a:pt x="14379" y="108498"/>
                </a:quadBezTo>
                <a:quadBezTo>
                  <a:pt x="16376" y="110495"/>
                  <a:pt x="19526" y="110495"/>
                </a:quadBezTo>
                <a:lnTo>
                  <a:pt x="69056" y="110495"/>
                </a:lnTo>
                <a:quadBezTo>
                  <a:pt x="72207" y="110495"/>
                  <a:pt x="74203" y="108498"/>
                </a:quadBezTo>
                <a:quadBezTo>
                  <a:pt x="76200" y="106501"/>
                  <a:pt x="76200" y="103351"/>
                </a:quadBezTo>
                <a:lnTo>
                  <a:pt x="76200" y="33525"/>
                </a:lnTo>
                <a:lnTo>
                  <a:pt x="55062" y="12387"/>
                </a:lnTo>
                <a:lnTo>
                  <a:pt x="19526" y="12387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921469" y="3411855"/>
            <a:ext cx="31031" cy="31031"/>
          </a:xfrm>
          <a:custGeom>
            <a:avLst/>
            <a:gdLst/>
            <a:ahLst/>
            <a:cxnLst/>
            <a:rect l="0" t="0" r="r" b="b"/>
            <a:pathLst>
              <a:path w="31031" h="31031">
                <a:moveTo>
                  <a:pt x="12457" y="0"/>
                </a:moveTo>
                <a:lnTo>
                  <a:pt x="12457" y="18574"/>
                </a:lnTo>
                <a:lnTo>
                  <a:pt x="31031" y="18574"/>
                </a:lnTo>
                <a:lnTo>
                  <a:pt x="31031" y="30956"/>
                </a:lnTo>
                <a:lnTo>
                  <a:pt x="6266" y="30956"/>
                </a:lnTo>
                <a:quadBezTo>
                  <a:pt x="3671" y="31031"/>
                  <a:pt x="1888" y="29143"/>
                </a:quadBezTo>
                <a:quadBezTo>
                  <a:pt x="0" y="27360"/>
                  <a:pt x="75" y="24765"/>
                </a:quadBezTo>
                <a:lnTo>
                  <a:pt x="75" y="0"/>
                </a:lnTo>
                <a:lnTo>
                  <a:pt x="12457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085850" y="33813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28" name="Rectangle"/>
          <p:cNvSpPr/>
          <p:nvPr/>
        </p:nvSpPr>
        <p:spPr>
          <a:xfrm>
            <a:off x="742950" y="3657600"/>
            <a:ext cx="2019300" cy="342900"/>
          </a:xfrm>
          <a:prstGeom prst="roundRect">
            <a:avLst>
              <a:gd name="adj" fmla="val 2222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Ellipse"/>
          <p:cNvSpPr/>
          <p:nvPr/>
        </p:nvSpPr>
        <p:spPr>
          <a:xfrm>
            <a:off x="863917" y="3778568"/>
            <a:ext cx="85725" cy="85725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932417" y="3847067"/>
            <a:ext cx="42071" cy="42071"/>
          </a:xfrm>
          <a:custGeom>
            <a:avLst/>
            <a:gdLst/>
            <a:ahLst/>
            <a:cxnLst/>
            <a:rect l="0" t="0" r="r" b="b"/>
            <a:pathLst>
              <a:path w="42071" h="42071">
                <a:moveTo>
                  <a:pt x="11463" y="2033"/>
                </a:moveTo>
                <a:lnTo>
                  <a:pt x="40038" y="30608"/>
                </a:lnTo>
                <a:quadBezTo>
                  <a:pt x="42071" y="32528"/>
                  <a:pt x="41990" y="35323"/>
                </a:quadBezTo>
                <a:quadBezTo>
                  <a:pt x="42071" y="38118"/>
                  <a:pt x="40038" y="40038"/>
                </a:quadBezTo>
                <a:quadBezTo>
                  <a:pt x="38118" y="42071"/>
                  <a:pt x="35323" y="41990"/>
                </a:quadBezTo>
                <a:quadBezTo>
                  <a:pt x="32528" y="42071"/>
                  <a:pt x="30608" y="40038"/>
                </a:quadBez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085850" y="37433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检索测试</a:t>
            </a:r>
          </a:p>
        </p:txBody>
      </p:sp>
      <p:sp>
        <p:nvSpPr>
          <p:cNvPr id="32" name="Ellipse"/>
          <p:cNvSpPr/>
          <p:nvPr/>
        </p:nvSpPr>
        <p:spPr>
          <a:xfrm>
            <a:off x="857250" y="4133850"/>
            <a:ext cx="114300" cy="11430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Path"/>
          <p:cNvSpPr/>
          <p:nvPr/>
        </p:nvSpPr>
        <p:spPr>
          <a:xfrm>
            <a:off x="907652" y="4151867"/>
            <a:ext cx="36873" cy="61638"/>
          </a:xfrm>
          <a:custGeom>
            <a:avLst/>
            <a:gdLst/>
            <a:ahLst/>
            <a:cxnLst/>
            <a:rect l="0" t="0" r="r" b="b"/>
            <a:pathLst>
              <a:path w="36873" h="61638">
                <a:moveTo>
                  <a:pt x="13415" y="6748"/>
                </a:moveTo>
                <a:lnTo>
                  <a:pt x="13415" y="38019"/>
                </a:lnTo>
                <a:lnTo>
                  <a:pt x="32784" y="48510"/>
                </a:lnTo>
                <a:quadBezTo>
                  <a:pt x="35280" y="49771"/>
                  <a:pt x="35999" y="52473"/>
                </a:quadBezTo>
                <a:quadBezTo>
                  <a:pt x="36873" y="55129"/>
                  <a:pt x="35471" y="57549"/>
                </a:quadBezTo>
                <a:quadBezTo>
                  <a:pt x="34210" y="60045"/>
                  <a:pt x="31508" y="60764"/>
                </a:quadBezTo>
                <a:quadBezTo>
                  <a:pt x="28852" y="61638"/>
                  <a:pt x="26432" y="60236"/>
                </a:quadBezTo>
                <a:lnTo>
                  <a:pt x="3572" y="47853"/>
                </a:lnTo>
                <a:quadBezTo>
                  <a:pt x="1946" y="46992"/>
                  <a:pt x="1020" y="45402"/>
                </a:quadBezTo>
                <a:quadBezTo>
                  <a:pt x="63" y="43830"/>
                  <a:pt x="80" y="41990"/>
                </a:quadBezTo>
                <a:lnTo>
                  <a:pt x="80" y="6748"/>
                </a:ln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quadBezTo>
                  <a:pt x="13496" y="3953"/>
                  <a:pt x="13415" y="674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085850" y="41052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构建历史</a:t>
            </a:r>
          </a:p>
        </p:txBody>
      </p:sp>
      <p:sp>
        <p:nvSpPr>
          <p:cNvPr id="35" name="Ellipse"/>
          <p:cNvSpPr/>
          <p:nvPr/>
        </p:nvSpPr>
        <p:spPr>
          <a:xfrm>
            <a:off x="870585" y="4509135"/>
            <a:ext cx="87630" cy="8763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897255" y="4535805"/>
            <a:ext cx="34290" cy="34290"/>
          </a:xfrm>
          <a:prstGeom prst="ellipse">
            <a:avLst/>
          </a:pr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844787" y="4483337"/>
            <a:ext cx="139226" cy="139226"/>
          </a:xfrm>
          <a:custGeom>
            <a:avLst/>
            <a:gdLst/>
            <a:ahLst/>
            <a:cxnLst/>
            <a:rect l="0" t="0" r="r" b="b"/>
            <a:pathLst>
              <a:path w="139226" h="139226">
                <a:moveTo>
                  <a:pt x="76280" y="6748"/>
                </a:moveTo>
                <a:lnTo>
                  <a:pt x="76280" y="25798"/>
                </a:lnTo>
                <a:quadBezTo>
                  <a:pt x="76361" y="28593"/>
                  <a:pt x="74328" y="30513"/>
                </a:quadBezTo>
                <a:quadBezTo>
                  <a:pt x="72408" y="32546"/>
                  <a:pt x="69613" y="32465"/>
                </a:quadBezTo>
                <a:quadBezTo>
                  <a:pt x="66818" y="32546"/>
                  <a:pt x="64898" y="30513"/>
                </a:quadBezTo>
                <a:quadBezTo>
                  <a:pt x="62865" y="28593"/>
                  <a:pt x="62945" y="25798"/>
                </a:quadBezTo>
                <a:lnTo>
                  <a:pt x="62945" y="6748"/>
                </a:lnTo>
                <a:quadBezTo>
                  <a:pt x="62865" y="3953"/>
                  <a:pt x="64898" y="2033"/>
                </a:quadBezTo>
                <a:quadBezTo>
                  <a:pt x="66818" y="0"/>
                  <a:pt x="69613" y="80"/>
                </a:quadBezTo>
                <a:quadBezTo>
                  <a:pt x="72408" y="0"/>
                  <a:pt x="74328" y="2033"/>
                </a:quadBezTo>
                <a:quadBezTo>
                  <a:pt x="76361" y="3953"/>
                  <a:pt x="76280" y="6748"/>
                </a:quadBezTo>
                <a:close/>
                <a:moveTo>
                  <a:pt x="6748" y="62945"/>
                </a:moveTo>
                <a:lnTo>
                  <a:pt x="25798" y="62945"/>
                </a:lnTo>
                <a:quadBezTo>
                  <a:pt x="28593" y="62865"/>
                  <a:pt x="30513" y="64898"/>
                </a:quadBezTo>
                <a:quadBezTo>
                  <a:pt x="32546" y="66818"/>
                  <a:pt x="32465" y="69613"/>
                </a:quadBezTo>
                <a:quadBezTo>
                  <a:pt x="32546" y="72408"/>
                  <a:pt x="30513" y="74328"/>
                </a:quadBezTo>
                <a:quadBezTo>
                  <a:pt x="28593" y="76361"/>
                  <a:pt x="25798" y="76280"/>
                </a:quadBezTo>
                <a:lnTo>
                  <a:pt x="6748" y="76280"/>
                </a:lnTo>
                <a:quadBezTo>
                  <a:pt x="3953" y="76361"/>
                  <a:pt x="2033" y="74328"/>
                </a:quadBezTo>
                <a:quadBezTo>
                  <a:pt x="0" y="72408"/>
                  <a:pt x="80" y="69613"/>
                </a:quadBezTo>
                <a:quadBezTo>
                  <a:pt x="0" y="66818"/>
                  <a:pt x="2033" y="64898"/>
                </a:quadBezTo>
                <a:quadBezTo>
                  <a:pt x="3953" y="62865"/>
                  <a:pt x="6748" y="62945"/>
                </a:quadBezTo>
                <a:close/>
                <a:moveTo>
                  <a:pt x="113428" y="62945"/>
                </a:moveTo>
                <a:lnTo>
                  <a:pt x="132478" y="62945"/>
                </a:lnTo>
                <a:quadBezTo>
                  <a:pt x="135273" y="62865"/>
                  <a:pt x="137193" y="64898"/>
                </a:quadBezTo>
                <a:quadBezTo>
                  <a:pt x="139226" y="66818"/>
                  <a:pt x="139145" y="69613"/>
                </a:quadBezTo>
                <a:quadBezTo>
                  <a:pt x="139226" y="72408"/>
                  <a:pt x="137193" y="74328"/>
                </a:quadBezTo>
                <a:quadBezTo>
                  <a:pt x="135273" y="76361"/>
                  <a:pt x="132478" y="76280"/>
                </a:quadBezTo>
                <a:lnTo>
                  <a:pt x="113428" y="76280"/>
                </a:lnTo>
                <a:quadBezTo>
                  <a:pt x="110633" y="76361"/>
                  <a:pt x="108713" y="74328"/>
                </a:quadBezTo>
                <a:quadBezTo>
                  <a:pt x="106680" y="72408"/>
                  <a:pt x="106760" y="69613"/>
                </a:quadBezTo>
                <a:quadBezTo>
                  <a:pt x="106680" y="66818"/>
                  <a:pt x="108713" y="64898"/>
                </a:quadBezTo>
                <a:quadBezTo>
                  <a:pt x="110633" y="62865"/>
                  <a:pt x="113428" y="62945"/>
                </a:quadBezTo>
                <a:close/>
                <a:moveTo>
                  <a:pt x="76280" y="113428"/>
                </a:moveTo>
                <a:lnTo>
                  <a:pt x="76280" y="132478"/>
                </a:lnTo>
                <a:quadBezTo>
                  <a:pt x="76361" y="135273"/>
                  <a:pt x="74328" y="137193"/>
                </a:quadBezTo>
                <a:quadBezTo>
                  <a:pt x="72408" y="139226"/>
                  <a:pt x="69613" y="139145"/>
                </a:quadBezTo>
                <a:quadBezTo>
                  <a:pt x="66818" y="139226"/>
                  <a:pt x="64898" y="137193"/>
                </a:quadBezTo>
                <a:quadBezTo>
                  <a:pt x="62865" y="135273"/>
                  <a:pt x="62945" y="132478"/>
                </a:quadBezTo>
                <a:lnTo>
                  <a:pt x="62945" y="113428"/>
                </a:lnTo>
                <a:quadBezTo>
                  <a:pt x="62865" y="110633"/>
                  <a:pt x="64898" y="108713"/>
                </a:quadBezTo>
                <a:quadBezTo>
                  <a:pt x="66818" y="106680"/>
                  <a:pt x="69613" y="106760"/>
                </a:quadBezTo>
                <a:quadBezTo>
                  <a:pt x="72408" y="106680"/>
                  <a:pt x="74328" y="108713"/>
                </a:quadBezTo>
                <a:quadBezTo>
                  <a:pt x="76361" y="110633"/>
                  <a:pt x="76280" y="11342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85850" y="44672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设置</a:t>
            </a:r>
          </a:p>
        </p:txBody>
      </p:sp>
      <p:sp>
        <p:nvSpPr>
          <p:cNvPr id="39" name="Rectangle"/>
          <p:cNvSpPr/>
          <p:nvPr/>
        </p:nvSpPr>
        <p:spPr>
          <a:xfrm>
            <a:off x="742950" y="9639300"/>
            <a:ext cx="2019300" cy="742950"/>
          </a:xfrm>
          <a:prstGeom prst="roundRect">
            <a:avLst>
              <a:gd name="adj" fmla="val 1282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857250" y="97536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本地索引占用</a:t>
            </a:r>
          </a:p>
        </p:txBody>
      </p:sp>
      <p:sp>
        <p:nvSpPr>
          <p:cNvPr id="41" name="Rectangle"/>
          <p:cNvSpPr/>
          <p:nvPr/>
        </p:nvSpPr>
        <p:spPr>
          <a:xfrm>
            <a:off x="857250" y="9991725"/>
            <a:ext cx="1790700" cy="5715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857250" y="9991725"/>
            <a:ext cx="371475" cy="571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857250" y="10125075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MB / 2 GB</a:t>
            </a:r>
          </a:p>
        </p:txBody>
      </p:sp>
      <p:sp>
        <p:nvSpPr>
          <p:cNvPr id="44" name="Rectangle"/>
          <p:cNvSpPr/>
          <p:nvPr/>
        </p:nvSpPr>
        <p:spPr>
          <a:xfrm>
            <a:off x="2895600" y="1943100"/>
            <a:ext cx="114300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24200" y="2105025"/>
            <a:ext cx="571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检索测试</a:t>
            </a:r>
          </a:p>
        </p:txBody>
      </p:sp>
      <p:sp>
        <p:nvSpPr>
          <p:cNvPr id="46" name="Rectangle"/>
          <p:cNvSpPr/>
          <p:nvPr/>
        </p:nvSpPr>
        <p:spPr>
          <a:xfrm>
            <a:off x="11449050" y="2057400"/>
            <a:ext cx="2286000" cy="304800"/>
          </a:xfrm>
          <a:prstGeom prst="roundRect">
            <a:avLst>
              <a:gd name="adj" fmla="val 2500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Ellipse"/>
          <p:cNvSpPr/>
          <p:nvPr/>
        </p:nvSpPr>
        <p:spPr>
          <a:xfrm>
            <a:off x="11568410" y="2167235"/>
            <a:ext cx="80367" cy="80367"/>
          </a:xfrm>
          <a:prstGeom prst="ellipse">
            <a:avLst/>
          </a:prstGeom>
          <a:noFill/>
          <a:ln w="12502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11632628" y="2231453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1763375" y="213360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搜索知识库或文档</a:t>
            </a:r>
          </a:p>
        </p:txBody>
      </p:sp>
      <p:sp>
        <p:nvSpPr>
          <p:cNvPr id="50" name="Ellipse"/>
          <p:cNvSpPr/>
          <p:nvPr/>
        </p:nvSpPr>
        <p:spPr>
          <a:xfrm>
            <a:off x="13849350" y="2066925"/>
            <a:ext cx="285750" cy="285750"/>
          </a:xfrm>
          <a:prstGeom prst="ellipse">
            <a:avLst/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Ellipse"/>
          <p:cNvSpPr/>
          <p:nvPr/>
        </p:nvSpPr>
        <p:spPr>
          <a:xfrm>
            <a:off x="13952220" y="2137410"/>
            <a:ext cx="80010" cy="80010"/>
          </a:xfrm>
          <a:prstGeom prst="ellipse">
            <a:avLst/>
          </a:prstGeom>
          <a:noFill/>
          <a:ln w="15240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13912123" y="2232660"/>
            <a:ext cx="160204" cy="74387"/>
          </a:xfrm>
          <a:custGeom>
            <a:avLst/>
            <a:gdLst/>
            <a:ahLst/>
            <a:cxnLst/>
            <a:rect l="0" t="0" r="r" b="b"/>
            <a:pathLst>
              <a:path w="160204" h="74387">
                <a:moveTo>
                  <a:pt x="92" y="66675"/>
                </a:moveTo>
                <a:quadBezTo>
                  <a:pt x="92" y="36535"/>
                  <a:pt x="24595" y="17551"/>
                </a:quadBezTo>
                <a:quadBezTo>
                  <a:pt x="47248" y="0"/>
                  <a:pt x="80102" y="0"/>
                </a:quadBezTo>
                <a:quadBezTo>
                  <a:pt x="112956" y="0"/>
                  <a:pt x="135609" y="17551"/>
                </a:quadBezTo>
                <a:quadBezTo>
                  <a:pt x="160112" y="36535"/>
                  <a:pt x="160112" y="66675"/>
                </a:quadBezTo>
                <a:quadBezTo>
                  <a:pt x="160204" y="69869"/>
                  <a:pt x="157880" y="72063"/>
                </a:quadBezTo>
                <a:quadBezTo>
                  <a:pt x="155686" y="74387"/>
                  <a:pt x="152492" y="74295"/>
                </a:quadBezTo>
                <a:quadBezTo>
                  <a:pt x="149298" y="74387"/>
                  <a:pt x="147104" y="72063"/>
                </a:quadBezTo>
                <a:quadBezTo>
                  <a:pt x="144780" y="69869"/>
                  <a:pt x="144872" y="66675"/>
                </a:quadBezTo>
                <a:quadBezTo>
                  <a:pt x="144872" y="44007"/>
                  <a:pt x="126275" y="29598"/>
                </a:quadBezTo>
                <a:quadBezTo>
                  <a:pt x="107743" y="15240"/>
                  <a:pt x="80102" y="15240"/>
                </a:quadBezTo>
                <a:quadBezTo>
                  <a:pt x="52461" y="15240"/>
                  <a:pt x="33929" y="29598"/>
                </a:quadBezTo>
                <a:quadBezTo>
                  <a:pt x="15332" y="44007"/>
                  <a:pt x="15332" y="66675"/>
                </a:quadBezTo>
                <a:quadBezTo>
                  <a:pt x="15424" y="69869"/>
                  <a:pt x="13100" y="72063"/>
                </a:quadBezTo>
                <a:quadBezTo>
                  <a:pt x="10906" y="74387"/>
                  <a:pt x="7712" y="74295"/>
                </a:quadBezTo>
                <a:quadBezTo>
                  <a:pt x="4518" y="74387"/>
                  <a:pt x="2324" y="72063"/>
                </a:quadBezTo>
                <a:quadBezTo>
                  <a:pt x="0" y="69869"/>
                  <a:pt x="92" y="66675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895600" y="2476500"/>
            <a:ext cx="11430000" cy="9525"/>
          </a:xfrm>
          <a:prstGeom prst="rect">
            <a:avLst/>
          </a:prstGeom>
          <a:solidFill>
            <a:srgbClr val="E9EC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3124200" y="2714625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检索测试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3124200" y="3057525"/>
            <a:ext cx="37147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用自然语言验证索引质量，并直接查看工具返回的原始命中与分数。</a:t>
            </a:r>
          </a:p>
        </p:txBody>
      </p:sp>
      <p:sp>
        <p:nvSpPr>
          <p:cNvPr id="56" name="Rectangle"/>
          <p:cNvSpPr/>
          <p:nvPr/>
        </p:nvSpPr>
        <p:spPr>
          <a:xfrm>
            <a:off x="11972925" y="2933700"/>
            <a:ext cx="122872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2087225" y="3019425"/>
            <a:ext cx="8001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产品技术文档库</a:t>
            </a:r>
          </a:p>
        </p:txBody>
      </p:sp>
      <p:sp>
        <p:nvSpPr>
          <p:cNvPr id="58" name="Path"/>
          <p:cNvSpPr/>
          <p:nvPr/>
        </p:nvSpPr>
        <p:spPr>
          <a:xfrm>
            <a:off x="12996930" y="3080215"/>
            <a:ext cx="76064" cy="44810"/>
          </a:xfrm>
          <a:custGeom>
            <a:avLst/>
            <a:gdLst/>
            <a:ahLst/>
            <a:cxnLst/>
            <a:rect l="0" t="0" r="r" b="b"/>
            <a:pathLst>
              <a:path w="76064" h="44810">
                <a:moveTo>
                  <a:pt x="11514" y="2042"/>
                </a:moveTo>
                <a:lnTo>
                  <a:pt x="38032" y="28561"/>
                </a:lnTo>
                <a:lnTo>
                  <a:pt x="64550" y="2042"/>
                </a:lnTo>
                <a:quadBezTo>
                  <a:pt x="66478" y="0"/>
                  <a:pt x="69286" y="81"/>
                </a:quadBezTo>
                <a:quadBezTo>
                  <a:pt x="72093" y="0"/>
                  <a:pt x="74022" y="2042"/>
                </a:quadBezTo>
                <a:quadBezTo>
                  <a:pt x="76064" y="3971"/>
                  <a:pt x="75983" y="6778"/>
                </a:quadBezTo>
                <a:quadBezTo>
                  <a:pt x="76064" y="9586"/>
                  <a:pt x="74022" y="11514"/>
                </a:quadBezTo>
                <a:lnTo>
                  <a:pt x="42768" y="42768"/>
                </a:lnTo>
                <a:quadBezTo>
                  <a:pt x="40840" y="44810"/>
                  <a:pt x="38032" y="44729"/>
                </a:quadBezTo>
                <a:quadBezTo>
                  <a:pt x="35224" y="44810"/>
                  <a:pt x="33296" y="42768"/>
                </a:quadBezTo>
                <a:lnTo>
                  <a:pt x="2042" y="11514"/>
                </a:lnTo>
                <a:quadBezTo>
                  <a:pt x="0" y="9586"/>
                  <a:pt x="81" y="6778"/>
                </a:quadBezTo>
                <a:quadBezTo>
                  <a:pt x="0" y="3971"/>
                  <a:pt x="2042" y="2042"/>
                </a:quadBezTo>
                <a:quadBezTo>
                  <a:pt x="3971" y="0"/>
                  <a:pt x="6778" y="81"/>
                </a:quadBezTo>
                <a:quadBezTo>
                  <a:pt x="9586" y="0"/>
                  <a:pt x="11514" y="2042"/>
                </a:quadBezTo>
                <a:close/>
              </a:path>
            </a:pathLst>
          </a:custGeom>
          <a:solidFill>
            <a:srgbClr val="6B748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11977688" y="2938463"/>
            <a:ext cx="1219200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Rectangle"/>
          <p:cNvSpPr/>
          <p:nvPr/>
        </p:nvSpPr>
        <p:spPr>
          <a:xfrm>
            <a:off x="13296900" y="2933700"/>
            <a:ext cx="800100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13449300" y="300990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运行检索</a:t>
            </a:r>
          </a:p>
        </p:txBody>
      </p:sp>
      <p:sp>
        <p:nvSpPr>
          <p:cNvPr id="62" name="Rectangle"/>
          <p:cNvSpPr/>
          <p:nvPr/>
        </p:nvSpPr>
        <p:spPr>
          <a:xfrm>
            <a:off x="3124200" y="3429000"/>
            <a:ext cx="6972300" cy="12573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3295650" y="3609975"/>
            <a:ext cx="2667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查询</a:t>
            </a:r>
          </a:p>
        </p:txBody>
      </p:sp>
      <p:sp>
        <p:nvSpPr>
          <p:cNvPr id="64" name="Rectangle"/>
          <p:cNvSpPr/>
          <p:nvPr/>
        </p:nvSpPr>
        <p:spPr>
          <a:xfrm>
            <a:off x="8677275" y="3600450"/>
            <a:ext cx="1247775" cy="209550"/>
          </a:xfrm>
          <a:prstGeom prst="roundRect">
            <a:avLst>
              <a:gd name="adj" fmla="val 2727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Box"/>
          <p:cNvSpPr txBox="1"/>
          <p:nvPr/>
        </p:nvSpPr>
        <p:spPr>
          <a:xfrm>
            <a:off x="8753475" y="3638550"/>
            <a:ext cx="10896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topk 5 · 阈值 0.55</a:t>
            </a:r>
          </a:p>
        </p:txBody>
      </p:sp>
      <p:sp>
        <p:nvSpPr>
          <p:cNvPr id="66" name="Rectangle"/>
          <p:cNvSpPr/>
          <p:nvPr/>
        </p:nvSpPr>
        <p:spPr>
          <a:xfrm>
            <a:off x="3295650" y="3924300"/>
            <a:ext cx="6629400" cy="590550"/>
          </a:xfrm>
          <a:prstGeom prst="roundRect">
            <a:avLst>
              <a:gd name="adj" fmla="val 12903"/>
            </a:avLst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3409950" y="4038600"/>
            <a:ext cx="19996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HNSW 索引参数如何影响检索精度？</a:t>
            </a:r>
          </a:p>
        </p:txBody>
      </p:sp>
      <p:sp>
        <p:nvSpPr>
          <p:cNvPr id="68" name="Rectangle"/>
          <p:cNvSpPr/>
          <p:nvPr/>
        </p:nvSpPr>
        <p:spPr>
          <a:xfrm>
            <a:off x="3300413" y="3929063"/>
            <a:ext cx="661987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3128963" y="3433763"/>
            <a:ext cx="6962775" cy="1247775"/>
          </a:xfrm>
          <a:prstGeom prst="roundRect">
            <a:avLst>
              <a:gd name="adj" fmla="val 7251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3124200" y="4838700"/>
            <a:ext cx="6972300" cy="544830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3295650" y="50101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命中结果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8686800" y="5038725"/>
            <a:ext cx="12363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5 条 · 38ms · topk 5</a:t>
            </a:r>
          </a:p>
        </p:txBody>
      </p:sp>
      <p:sp>
        <p:nvSpPr>
          <p:cNvPr id="73" name="Rectangle"/>
          <p:cNvSpPr/>
          <p:nvPr/>
        </p:nvSpPr>
        <p:spPr>
          <a:xfrm>
            <a:off x="3295650" y="5314950"/>
            <a:ext cx="6629400" cy="74295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Box"/>
          <p:cNvSpPr txBox="1"/>
          <p:nvPr/>
        </p:nvSpPr>
        <p:spPr>
          <a:xfrm>
            <a:off x="3409950" y="5429250"/>
            <a:ext cx="190690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zvec-architecture.md · 第 24 段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9048750" y="5429250"/>
            <a:ext cx="7543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E9E8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0.92  strong</a:t>
            </a:r>
          </a:p>
        </p:txBody>
      </p:sp>
      <p:sp>
        <p:nvSpPr>
          <p:cNvPr id="76" name="TextBox"/>
          <p:cNvSpPr txBox="1"/>
          <p:nvPr/>
        </p:nvSpPr>
        <p:spPr>
          <a:xfrm>
            <a:off x="3409950" y="5648325"/>
            <a:ext cx="426784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HNSW 图在构建阶段通过逐层插入维护邻居关系，efConstruction 决定候选集大小…</a:t>
            </a:r>
          </a:p>
        </p:txBody>
      </p:sp>
      <p:sp>
        <p:nvSpPr>
          <p:cNvPr id="77" name="Rectangle"/>
          <p:cNvSpPr/>
          <p:nvPr/>
        </p:nvSpPr>
        <p:spPr>
          <a:xfrm>
            <a:off x="3409950" y="5905500"/>
            <a:ext cx="6400800" cy="3810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Rectangle"/>
          <p:cNvSpPr/>
          <p:nvPr/>
        </p:nvSpPr>
        <p:spPr>
          <a:xfrm>
            <a:off x="3409950" y="5905500"/>
            <a:ext cx="5886450" cy="38100"/>
          </a:xfrm>
          <a:prstGeom prst="roundRect">
            <a:avLst>
              <a:gd name="adj" fmla="val 50000"/>
            </a:avLst>
          </a:prstGeom>
          <a:solidFill>
            <a:srgbClr val="1E9E8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Rectangle"/>
          <p:cNvSpPr/>
          <p:nvPr/>
        </p:nvSpPr>
        <p:spPr>
          <a:xfrm>
            <a:off x="3295650" y="6172200"/>
            <a:ext cx="6629400" cy="74295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3409950" y="6286500"/>
            <a:ext cx="196977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index-tuning-guide.pdf · 第 7 页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8991600" y="6286500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E8A2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0.78  related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3409950" y="6505575"/>
            <a:ext cx="457531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将 efConstruction 从 100 提高到 200，召回率提升约 4.2 个百分点，构建耗时增长 1.6 倍。</a:t>
            </a:r>
          </a:p>
        </p:txBody>
      </p:sp>
      <p:sp>
        <p:nvSpPr>
          <p:cNvPr id="83" name="Rectangle"/>
          <p:cNvSpPr/>
          <p:nvPr/>
        </p:nvSpPr>
        <p:spPr>
          <a:xfrm>
            <a:off x="3409950" y="6762750"/>
            <a:ext cx="6400800" cy="3810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Rectangle"/>
          <p:cNvSpPr/>
          <p:nvPr/>
        </p:nvSpPr>
        <p:spPr>
          <a:xfrm>
            <a:off x="3409950" y="6762750"/>
            <a:ext cx="4991100" cy="38100"/>
          </a:xfrm>
          <a:prstGeom prst="roundRect">
            <a:avLst>
              <a:gd name="adj" fmla="val 50000"/>
            </a:avLst>
          </a:prstGeom>
          <a:solidFill>
            <a:srgbClr val="7CA83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Rectangle"/>
          <p:cNvSpPr/>
          <p:nvPr/>
        </p:nvSpPr>
        <p:spPr>
          <a:xfrm>
            <a:off x="3295650" y="7029450"/>
            <a:ext cx="6629400" cy="74295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3409950" y="7143750"/>
            <a:ext cx="215836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embedding-benchmark.docx · 第 12 段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9182100" y="714375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B4731A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0.61  fair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3409950" y="7362825"/>
            <a:ext cx="4525251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不同量化器（PQ / RaBitQ）在高维向量上的召回对比：RaBitQ 在 1024 维下压缩率更高。</a:t>
            </a:r>
          </a:p>
        </p:txBody>
      </p:sp>
      <p:sp>
        <p:nvSpPr>
          <p:cNvPr id="89" name="Rectangle"/>
          <p:cNvSpPr/>
          <p:nvPr/>
        </p:nvSpPr>
        <p:spPr>
          <a:xfrm>
            <a:off x="3409950" y="7620000"/>
            <a:ext cx="6400800" cy="3810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Rectangle"/>
          <p:cNvSpPr/>
          <p:nvPr/>
        </p:nvSpPr>
        <p:spPr>
          <a:xfrm>
            <a:off x="3409950" y="7620000"/>
            <a:ext cx="3905250" cy="3810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Rectangle"/>
          <p:cNvSpPr/>
          <p:nvPr/>
        </p:nvSpPr>
        <p:spPr>
          <a:xfrm>
            <a:off x="3295650" y="7886700"/>
            <a:ext cx="6629400" cy="74295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TextBox"/>
          <p:cNvSpPr txBox="1"/>
          <p:nvPr/>
        </p:nvSpPr>
        <p:spPr>
          <a:xfrm>
            <a:off x="3409950" y="8001000"/>
            <a:ext cx="17183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faq-collection.txt · 第 3 段</a:t>
            </a:r>
          </a:p>
        </p:txBody>
      </p:sp>
      <p:sp>
        <p:nvSpPr>
          <p:cNvPr id="93" name="TextBox"/>
          <p:cNvSpPr txBox="1"/>
          <p:nvPr/>
        </p:nvSpPr>
        <p:spPr>
          <a:xfrm>
            <a:off x="9182100" y="800100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B4731A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0.57  fair</a:t>
            </a:r>
          </a:p>
        </p:txBody>
      </p:sp>
      <p:sp>
        <p:nvSpPr>
          <p:cNvPr id="94" name="TextBox"/>
          <p:cNvSpPr txBox="1"/>
          <p:nvPr/>
        </p:nvSpPr>
        <p:spPr>
          <a:xfrm>
            <a:off x="3409950" y="8220075"/>
            <a:ext cx="44577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检索结果为空时，先确认文档状态是否为「已就绪」，再检查关键词是否命中分片粒度。</a:t>
            </a:r>
          </a:p>
        </p:txBody>
      </p:sp>
      <p:sp>
        <p:nvSpPr>
          <p:cNvPr id="95" name="Rectangle"/>
          <p:cNvSpPr/>
          <p:nvPr/>
        </p:nvSpPr>
        <p:spPr>
          <a:xfrm>
            <a:off x="3409950" y="8477250"/>
            <a:ext cx="6400800" cy="3810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Rectangle"/>
          <p:cNvSpPr/>
          <p:nvPr/>
        </p:nvSpPr>
        <p:spPr>
          <a:xfrm>
            <a:off x="3409950" y="8477250"/>
            <a:ext cx="3648075" cy="38100"/>
          </a:xfrm>
          <a:prstGeom prst="roundRect">
            <a:avLst>
              <a:gd name="adj" fmla="val 50000"/>
            </a:avLst>
          </a:prstGeom>
          <a:solidFill>
            <a:srgbClr val="D98B1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Rectangle"/>
          <p:cNvSpPr/>
          <p:nvPr/>
        </p:nvSpPr>
        <p:spPr>
          <a:xfrm>
            <a:off x="3128963" y="4843463"/>
            <a:ext cx="6962775" cy="5438775"/>
          </a:xfrm>
          <a:prstGeom prst="roundRect">
            <a:avLst>
              <a:gd name="adj" fmla="val 1663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Rectangle"/>
          <p:cNvSpPr/>
          <p:nvPr/>
        </p:nvSpPr>
        <p:spPr>
          <a:xfrm>
            <a:off x="10287000" y="3429000"/>
            <a:ext cx="3810000" cy="685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Rectangle"/>
          <p:cNvSpPr/>
          <p:nvPr/>
        </p:nvSpPr>
        <p:spPr>
          <a:xfrm>
            <a:off x="10458450" y="360045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Path"/>
          <p:cNvSpPr/>
          <p:nvPr/>
        </p:nvSpPr>
        <p:spPr>
          <a:xfrm>
            <a:off x="10517328" y="3655517"/>
            <a:ext cx="72745" cy="70840"/>
          </a:xfrm>
          <a:custGeom>
            <a:avLst/>
            <a:gdLst/>
            <a:ahLst/>
            <a:cxnLst/>
            <a:rect l="0" t="0" r="r" b="b"/>
            <a:pathLst>
              <a:path w="72745" h="70840">
                <a:moveTo>
                  <a:pt x="1452" y="59761"/>
                </a:moveTo>
                <a:lnTo>
                  <a:pt x="30027" y="4516"/>
                </a:lnTo>
                <a:quadBezTo>
                  <a:pt x="31327" y="1816"/>
                  <a:pt x="34207" y="990"/>
                </a:quadBezTo>
                <a:quadBezTo>
                  <a:pt x="37034" y="0"/>
                  <a:pt x="39655" y="1452"/>
                </a:quadBezTo>
                <a:quadBezTo>
                  <a:pt x="40641" y="1960"/>
                  <a:pt x="41424" y="2746"/>
                </a:quadBezTo>
                <a:quadBezTo>
                  <a:pt x="42210" y="3529"/>
                  <a:pt x="42718" y="4516"/>
                </a:quadBezTo>
                <a:lnTo>
                  <a:pt x="71293" y="59761"/>
                </a:lnTo>
                <a:quadBezTo>
                  <a:pt x="72745" y="62381"/>
                  <a:pt x="71755" y="65209"/>
                </a:quadBezTo>
                <a:quadBezTo>
                  <a:pt x="70929" y="68089"/>
                  <a:pt x="68230" y="69388"/>
                </a:quadBezTo>
                <a:quadBezTo>
                  <a:pt x="65609" y="70840"/>
                  <a:pt x="62782" y="69850"/>
                </a:quadBezTo>
                <a:quadBezTo>
                  <a:pt x="59902" y="69024"/>
                  <a:pt x="58602" y="66325"/>
                </a:quadBezTo>
                <a:lnTo>
                  <a:pt x="36373" y="23347"/>
                </a:lnTo>
                <a:lnTo>
                  <a:pt x="14143" y="66325"/>
                </a:lnTo>
                <a:quadBezTo>
                  <a:pt x="12844" y="69024"/>
                  <a:pt x="9964" y="69850"/>
                </a:quadBezTo>
                <a:quadBezTo>
                  <a:pt x="7136" y="70840"/>
                  <a:pt x="4516" y="69388"/>
                </a:quadBezTo>
                <a:quadBezTo>
                  <a:pt x="1816" y="68089"/>
                  <a:pt x="990" y="65209"/>
                </a:quadBezTo>
                <a:quadBezTo>
                  <a:pt x="0" y="62381"/>
                  <a:pt x="1452" y="59761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Path"/>
          <p:cNvSpPr/>
          <p:nvPr/>
        </p:nvSpPr>
        <p:spPr>
          <a:xfrm>
            <a:off x="10527420" y="3696090"/>
            <a:ext cx="52560" cy="14460"/>
          </a:xfrm>
          <a:custGeom>
            <a:avLst/>
            <a:gdLst/>
            <a:ahLst/>
            <a:cxnLst/>
            <a:rect l="0" t="0" r="r" b="b"/>
            <a:pathLst>
              <a:path w="52560" h="14460">
                <a:moveTo>
                  <a:pt x="7230" y="86"/>
                </a:moveTo>
                <a:lnTo>
                  <a:pt x="45330" y="86"/>
                </a:lnTo>
                <a:quadBezTo>
                  <a:pt x="48325" y="0"/>
                  <a:pt x="50381" y="2179"/>
                </a:quadBezTo>
                <a:quadBezTo>
                  <a:pt x="52560" y="4235"/>
                  <a:pt x="52474" y="7230"/>
                </a:quadBezTo>
                <a:quadBezTo>
                  <a:pt x="52560" y="10225"/>
                  <a:pt x="50381" y="12281"/>
                </a:quadBezTo>
                <a:quadBezTo>
                  <a:pt x="48325" y="14460"/>
                  <a:pt x="45330" y="14374"/>
                </a:quadBezTo>
                <a:lnTo>
                  <a:pt x="7230" y="14374"/>
                </a:lnTo>
                <a:quadBezTo>
                  <a:pt x="4235" y="14460"/>
                  <a:pt x="2179" y="12281"/>
                </a:quadBezTo>
                <a:quadBezTo>
                  <a:pt x="0" y="10225"/>
                  <a:pt x="86" y="7230"/>
                </a:quadBezTo>
                <a:quadBezTo>
                  <a:pt x="0" y="4235"/>
                  <a:pt x="2179" y="2179"/>
                </a:quadBezTo>
                <a:quadBezTo>
                  <a:pt x="4235" y="0"/>
                  <a:pt x="7230" y="86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Box"/>
          <p:cNvSpPr txBox="1"/>
          <p:nvPr/>
        </p:nvSpPr>
        <p:spPr>
          <a:xfrm>
            <a:off x="10725150" y="3600450"/>
            <a:ext cx="56113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RAG 回答</a:t>
            </a:r>
          </a:p>
        </p:txBody>
      </p:sp>
      <p:sp>
        <p:nvSpPr>
          <p:cNvPr id="103" name="Rectangle"/>
          <p:cNvSpPr/>
          <p:nvPr/>
        </p:nvSpPr>
        <p:spPr>
          <a:xfrm>
            <a:off x="10458450" y="3924300"/>
            <a:ext cx="3467100" cy="628650"/>
          </a:xfrm>
          <a:prstGeom prst="rect">
            <a:avLst/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Box"/>
          <p:cNvSpPr txBox="1"/>
          <p:nvPr/>
        </p:nvSpPr>
        <p:spPr>
          <a:xfrm>
            <a:off x="10572750" y="4038600"/>
            <a:ext cx="2095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提问</a:t>
            </a:r>
          </a:p>
        </p:txBody>
      </p:sp>
      <p:sp>
        <p:nvSpPr>
          <p:cNvPr id="105" name="TextBox"/>
          <p:cNvSpPr txBox="1"/>
          <p:nvPr/>
        </p:nvSpPr>
        <p:spPr>
          <a:xfrm>
            <a:off x="10572750" y="4238625"/>
            <a:ext cx="199965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HNSW 索引参数如何影响检索精度？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10458450" y="4686300"/>
            <a:ext cx="11106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回答 · 基于 5 条命中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10458450" y="4962525"/>
            <a:ext cx="3494837" cy="125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650"/>
              </a:lnSpc>
            </a:pPr>
            <a:r>
              <a:rPr lang="zh-CN" sz="975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在 zvec 中，HNSW 的检索精度主要由 efConstruction 与 efSearch 两个参数决定。efConstruction 控制建图阶段每个节点的候选邻居数量，提高它会得到更稠密的邻接结构，从而抬高召回上限；efSearch 在查询阶段决定候选队列长度，是调节召回最直接的旋钮。两者都会以构建或查询耗时为代价，建议先用 efSearch 满足召回要求，再评估是否需要重建索引。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10458450" y="6353175"/>
            <a:ext cx="6705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引用来源 · 2</a:t>
            </a:r>
          </a:p>
        </p:txBody>
      </p:sp>
      <p:sp>
        <p:nvSpPr>
          <p:cNvPr id="109" name="Path"/>
          <p:cNvSpPr/>
          <p:nvPr/>
        </p:nvSpPr>
        <p:spPr>
          <a:xfrm>
            <a:off x="10486370" y="6594689"/>
            <a:ext cx="77514" cy="107517"/>
          </a:xfrm>
          <a:custGeom>
            <a:avLst/>
            <a:gdLst/>
            <a:ahLst/>
            <a:cxnLst/>
            <a:rect l="0" t="0" r="r" b="b"/>
            <a:pathLst>
              <a:path w="77514" h="107517">
                <a:moveTo>
                  <a:pt x="17085" y="4"/>
                </a:moveTo>
                <a:lnTo>
                  <a:pt x="50423" y="4"/>
                </a:lnTo>
                <a:quadBezTo>
                  <a:pt x="51501" y="0"/>
                  <a:pt x="52496" y="416"/>
                </a:quadBezTo>
                <a:quadBezTo>
                  <a:pt x="53494" y="825"/>
                  <a:pt x="54254" y="1591"/>
                </a:quadBezTo>
                <a:lnTo>
                  <a:pt x="75923" y="23260"/>
                </a:lnTo>
                <a:quadBezTo>
                  <a:pt x="76688" y="24020"/>
                  <a:pt x="77097" y="25018"/>
                </a:quadBezTo>
                <a:quadBezTo>
                  <a:pt x="77514" y="26012"/>
                  <a:pt x="77510" y="27091"/>
                </a:quadBezTo>
                <a:lnTo>
                  <a:pt x="77510" y="90432"/>
                </a:lnTo>
                <a:quadBezTo>
                  <a:pt x="77510" y="97677"/>
                  <a:pt x="72589" y="102597"/>
                </a:quadBezTo>
                <a:quadBezTo>
                  <a:pt x="67669" y="107517"/>
                  <a:pt x="60424" y="107517"/>
                </a:quadBezTo>
                <a:lnTo>
                  <a:pt x="17085" y="107517"/>
                </a:lnTo>
                <a:quadBezTo>
                  <a:pt x="9841" y="107517"/>
                  <a:pt x="4920" y="102597"/>
                </a:quadBezTo>
                <a:quadBezTo>
                  <a:pt x="0" y="97677"/>
                  <a:pt x="0" y="90432"/>
                </a:quadBezTo>
                <a:lnTo>
                  <a:pt x="0" y="17090"/>
                </a:lnTo>
                <a:quadBezTo>
                  <a:pt x="0" y="9845"/>
                  <a:pt x="4920" y="4924"/>
                </a:quadBezTo>
                <a:quadBezTo>
                  <a:pt x="9841" y="4"/>
                  <a:pt x="17085" y="4"/>
                </a:quadBezTo>
                <a:close/>
                <a:moveTo>
                  <a:pt x="17085" y="10839"/>
                </a:moveTo>
                <a:quadBezTo>
                  <a:pt x="14329" y="10839"/>
                  <a:pt x="12582" y="12586"/>
                </a:quadBezTo>
                <a:quadBezTo>
                  <a:pt x="10835" y="14333"/>
                  <a:pt x="10835" y="17090"/>
                </a:quadBezTo>
                <a:lnTo>
                  <a:pt x="10835" y="90432"/>
                </a:lnTo>
                <a:quadBezTo>
                  <a:pt x="10835" y="93189"/>
                  <a:pt x="12582" y="94936"/>
                </a:quadBezTo>
                <a:quadBezTo>
                  <a:pt x="14329" y="96683"/>
                  <a:pt x="17085" y="96683"/>
                </a:quadBezTo>
                <a:lnTo>
                  <a:pt x="60424" y="96683"/>
                </a:lnTo>
                <a:quadBezTo>
                  <a:pt x="63181" y="96683"/>
                  <a:pt x="64928" y="94936"/>
                </a:quadBezTo>
                <a:quadBezTo>
                  <a:pt x="66675" y="93189"/>
                  <a:pt x="66675" y="90432"/>
                </a:quadBezTo>
                <a:lnTo>
                  <a:pt x="66675" y="29335"/>
                </a:lnTo>
                <a:lnTo>
                  <a:pt x="48179" y="10839"/>
                </a:lnTo>
                <a:lnTo>
                  <a:pt x="17085" y="10839"/>
                </a:lnTo>
                <a:close/>
              </a:path>
            </a:pathLst>
          </a:custGeom>
          <a:solidFill>
            <a:srgbClr val="1E9E8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Path"/>
          <p:cNvSpPr/>
          <p:nvPr/>
        </p:nvSpPr>
        <p:spPr>
          <a:xfrm>
            <a:off x="10531311" y="6600111"/>
            <a:ext cx="27152" cy="27152"/>
          </a:xfrm>
          <a:custGeom>
            <a:avLst/>
            <a:gdLst/>
            <a:ahLst/>
            <a:cxnLst/>
            <a:rect l="0" t="0" r="r" b="b"/>
            <a:pathLst>
              <a:path w="27152" h="27152">
                <a:moveTo>
                  <a:pt x="10900" y="0"/>
                </a:moveTo>
                <a:lnTo>
                  <a:pt x="10900" y="16252"/>
                </a:lnTo>
                <a:lnTo>
                  <a:pt x="27152" y="16252"/>
                </a:lnTo>
                <a:lnTo>
                  <a:pt x="27152" y="27087"/>
                </a:lnTo>
                <a:lnTo>
                  <a:pt x="5483" y="27087"/>
                </a:lnTo>
                <a:quadBezTo>
                  <a:pt x="3212" y="27152"/>
                  <a:pt x="1652" y="25500"/>
                </a:quadBezTo>
                <a:quadBezTo>
                  <a:pt x="0" y="23940"/>
                  <a:pt x="65" y="21669"/>
                </a:quadBezTo>
                <a:lnTo>
                  <a:pt x="65" y="0"/>
                </a:lnTo>
                <a:lnTo>
                  <a:pt x="10900" y="0"/>
                </a:lnTo>
                <a:close/>
              </a:path>
            </a:pathLst>
          </a:custGeom>
          <a:solidFill>
            <a:srgbClr val="1E9E8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extBox"/>
          <p:cNvSpPr txBox="1"/>
          <p:nvPr/>
        </p:nvSpPr>
        <p:spPr>
          <a:xfrm>
            <a:off x="10668000" y="6572250"/>
            <a:ext cx="259842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[1] zvec-architecture.md · 第 24 段 · 0.92</a:t>
            </a:r>
          </a:p>
        </p:txBody>
      </p:sp>
      <p:sp>
        <p:nvSpPr>
          <p:cNvPr id="112" name="Path"/>
          <p:cNvSpPr/>
          <p:nvPr/>
        </p:nvSpPr>
        <p:spPr>
          <a:xfrm>
            <a:off x="10486370" y="6813764"/>
            <a:ext cx="77514" cy="107517"/>
          </a:xfrm>
          <a:custGeom>
            <a:avLst/>
            <a:gdLst/>
            <a:ahLst/>
            <a:cxnLst/>
            <a:rect l="0" t="0" r="r" b="b"/>
            <a:pathLst>
              <a:path w="77514" h="107517">
                <a:moveTo>
                  <a:pt x="17085" y="4"/>
                </a:moveTo>
                <a:lnTo>
                  <a:pt x="50423" y="4"/>
                </a:lnTo>
                <a:quadBezTo>
                  <a:pt x="51501" y="0"/>
                  <a:pt x="52496" y="416"/>
                </a:quadBezTo>
                <a:quadBezTo>
                  <a:pt x="53494" y="825"/>
                  <a:pt x="54254" y="1591"/>
                </a:quadBezTo>
                <a:lnTo>
                  <a:pt x="75923" y="23260"/>
                </a:lnTo>
                <a:quadBezTo>
                  <a:pt x="76688" y="24020"/>
                  <a:pt x="77097" y="25018"/>
                </a:quadBezTo>
                <a:quadBezTo>
                  <a:pt x="77514" y="26012"/>
                  <a:pt x="77510" y="27091"/>
                </a:quadBezTo>
                <a:lnTo>
                  <a:pt x="77510" y="90432"/>
                </a:lnTo>
                <a:quadBezTo>
                  <a:pt x="77510" y="97677"/>
                  <a:pt x="72589" y="102597"/>
                </a:quadBezTo>
                <a:quadBezTo>
                  <a:pt x="67669" y="107517"/>
                  <a:pt x="60424" y="107517"/>
                </a:quadBezTo>
                <a:lnTo>
                  <a:pt x="17085" y="107517"/>
                </a:lnTo>
                <a:quadBezTo>
                  <a:pt x="9841" y="107517"/>
                  <a:pt x="4920" y="102597"/>
                </a:quadBezTo>
                <a:quadBezTo>
                  <a:pt x="0" y="97677"/>
                  <a:pt x="0" y="90432"/>
                </a:quadBezTo>
                <a:lnTo>
                  <a:pt x="0" y="17090"/>
                </a:lnTo>
                <a:quadBezTo>
                  <a:pt x="0" y="9845"/>
                  <a:pt x="4920" y="4924"/>
                </a:quadBezTo>
                <a:quadBezTo>
                  <a:pt x="9841" y="4"/>
                  <a:pt x="17085" y="4"/>
                </a:quadBezTo>
                <a:close/>
                <a:moveTo>
                  <a:pt x="17085" y="10839"/>
                </a:moveTo>
                <a:quadBezTo>
                  <a:pt x="14329" y="10839"/>
                  <a:pt x="12582" y="12586"/>
                </a:quadBezTo>
                <a:quadBezTo>
                  <a:pt x="10835" y="14333"/>
                  <a:pt x="10835" y="17090"/>
                </a:quadBezTo>
                <a:lnTo>
                  <a:pt x="10835" y="90432"/>
                </a:lnTo>
                <a:quadBezTo>
                  <a:pt x="10835" y="93189"/>
                  <a:pt x="12582" y="94936"/>
                </a:quadBezTo>
                <a:quadBezTo>
                  <a:pt x="14329" y="96683"/>
                  <a:pt x="17085" y="96683"/>
                </a:quadBezTo>
                <a:lnTo>
                  <a:pt x="60424" y="96683"/>
                </a:lnTo>
                <a:quadBezTo>
                  <a:pt x="63181" y="96683"/>
                  <a:pt x="64928" y="94936"/>
                </a:quadBezTo>
                <a:quadBezTo>
                  <a:pt x="66675" y="93189"/>
                  <a:pt x="66675" y="90432"/>
                </a:quadBezTo>
                <a:lnTo>
                  <a:pt x="66675" y="29335"/>
                </a:lnTo>
                <a:lnTo>
                  <a:pt x="48179" y="10839"/>
                </a:lnTo>
                <a:lnTo>
                  <a:pt x="17085" y="10839"/>
                </a:lnTo>
                <a:close/>
              </a:path>
            </a:pathLst>
          </a:custGeom>
          <a:solidFill>
            <a:srgbClr val="7CA83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10531311" y="6819186"/>
            <a:ext cx="27152" cy="27152"/>
          </a:xfrm>
          <a:custGeom>
            <a:avLst/>
            <a:gdLst/>
            <a:ahLst/>
            <a:cxnLst/>
            <a:rect l="0" t="0" r="r" b="b"/>
            <a:pathLst>
              <a:path w="27152" h="27152">
                <a:moveTo>
                  <a:pt x="10900" y="0"/>
                </a:moveTo>
                <a:lnTo>
                  <a:pt x="10900" y="16252"/>
                </a:lnTo>
                <a:lnTo>
                  <a:pt x="27152" y="16252"/>
                </a:lnTo>
                <a:lnTo>
                  <a:pt x="27152" y="27087"/>
                </a:lnTo>
                <a:lnTo>
                  <a:pt x="5483" y="27087"/>
                </a:lnTo>
                <a:quadBezTo>
                  <a:pt x="3212" y="27152"/>
                  <a:pt x="1652" y="25500"/>
                </a:quadBezTo>
                <a:quadBezTo>
                  <a:pt x="0" y="23940"/>
                  <a:pt x="65" y="21669"/>
                </a:quadBezTo>
                <a:lnTo>
                  <a:pt x="65" y="0"/>
                </a:lnTo>
                <a:lnTo>
                  <a:pt x="10900" y="0"/>
                </a:lnTo>
                <a:close/>
              </a:path>
            </a:pathLst>
          </a:custGeom>
          <a:solidFill>
            <a:srgbClr val="7CA83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10668000" y="6791325"/>
            <a:ext cx="266128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[2] index-tuning-guide.pdf · 第 7 页 · 0.78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10458450" y="7067550"/>
            <a:ext cx="34575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350"/>
              </a:lnSpc>
            </a:pPr>
            <a:r>
              <a:rPr lang="zh-CN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回答仅基于知识库命中内容生成；命中分数低于阈值时返回「未在知识库中找到依据」。</a:t>
            </a:r>
          </a:p>
        </p:txBody>
      </p:sp>
      <p:sp>
        <p:nvSpPr>
          <p:cNvPr id="116" name="Rectangle"/>
          <p:cNvSpPr/>
          <p:nvPr/>
        </p:nvSpPr>
        <p:spPr>
          <a:xfrm>
            <a:off x="10458450" y="7543800"/>
            <a:ext cx="34671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TextBox"/>
          <p:cNvSpPr txBox="1"/>
          <p:nvPr/>
        </p:nvSpPr>
        <p:spPr>
          <a:xfrm>
            <a:off x="10458450" y="76866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追问建议</a:t>
            </a:r>
          </a:p>
        </p:txBody>
      </p:sp>
      <p:sp>
        <p:nvSpPr>
          <p:cNvPr id="118" name="Rectangle"/>
          <p:cNvSpPr/>
          <p:nvPr/>
        </p:nvSpPr>
        <p:spPr>
          <a:xfrm>
            <a:off x="10458450" y="7981950"/>
            <a:ext cx="3467100" cy="371475"/>
          </a:xfrm>
          <a:prstGeom prst="roundRect">
            <a:avLst>
              <a:gd name="adj" fmla="val 15384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9" name="TextBox"/>
          <p:cNvSpPr txBox="1"/>
          <p:nvPr/>
        </p:nvSpPr>
        <p:spPr>
          <a:xfrm>
            <a:off x="10553700" y="8077200"/>
            <a:ext cx="2130324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efSearch 与 efConstruction 该如何取舍？</a:t>
            </a:r>
          </a:p>
        </p:txBody>
      </p:sp>
      <p:sp>
        <p:nvSpPr>
          <p:cNvPr id="120" name="Path"/>
          <p:cNvSpPr/>
          <p:nvPr/>
        </p:nvSpPr>
        <p:spPr>
          <a:xfrm>
            <a:off x="13740630" y="8127786"/>
            <a:ext cx="50991" cy="89329"/>
          </a:xfrm>
          <a:custGeom>
            <a:avLst/>
            <a:gdLst/>
            <a:ahLst/>
            <a:cxnLst/>
            <a:rect l="0" t="0" r="r" b="b"/>
            <a:pathLst>
              <a:path w="50991" h="89329">
                <a:moveTo>
                  <a:pt x="10746" y="1906"/>
                </a:moveTo>
                <a:lnTo>
                  <a:pt x="49084" y="40244"/>
                </a:lnTo>
                <a:quadBezTo>
                  <a:pt x="50991" y="42044"/>
                  <a:pt x="50915" y="44664"/>
                </a:quadBezTo>
                <a:quadBezTo>
                  <a:pt x="50991" y="47285"/>
                  <a:pt x="49084" y="49084"/>
                </a:quadBezTo>
                <a:lnTo>
                  <a:pt x="10746" y="87422"/>
                </a:lnTo>
                <a:quadBezTo>
                  <a:pt x="8947" y="89329"/>
                  <a:pt x="6326" y="89253"/>
                </a:quadBezTo>
                <a:quadBezTo>
                  <a:pt x="3706" y="89329"/>
                  <a:pt x="1906" y="87422"/>
                </a:quadBezTo>
                <a:quadBezTo>
                  <a:pt x="0" y="85623"/>
                  <a:pt x="75" y="83002"/>
                </a:quadBezTo>
                <a:quadBezTo>
                  <a:pt x="0" y="80382"/>
                  <a:pt x="1906" y="78582"/>
                </a:quadBezTo>
                <a:lnTo>
                  <a:pt x="35824" y="44664"/>
                </a:ln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Rectangle"/>
          <p:cNvSpPr/>
          <p:nvPr/>
        </p:nvSpPr>
        <p:spPr>
          <a:xfrm>
            <a:off x="10463213" y="7986713"/>
            <a:ext cx="3457575" cy="361950"/>
          </a:xfrm>
          <a:prstGeom prst="roundRect">
            <a:avLst>
              <a:gd name="adj" fmla="val 14473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Rectangle"/>
          <p:cNvSpPr/>
          <p:nvPr/>
        </p:nvSpPr>
        <p:spPr>
          <a:xfrm>
            <a:off x="10458450" y="8486775"/>
            <a:ext cx="3467100" cy="371475"/>
          </a:xfrm>
          <a:prstGeom prst="roundRect">
            <a:avLst>
              <a:gd name="adj" fmla="val 15384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3" name="TextBox"/>
          <p:cNvSpPr txBox="1"/>
          <p:nvPr/>
        </p:nvSpPr>
        <p:spPr>
          <a:xfrm>
            <a:off x="10553700" y="8582025"/>
            <a:ext cx="18288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召回率不达标时应该先调哪个参数？</a:t>
            </a:r>
          </a:p>
        </p:txBody>
      </p:sp>
      <p:sp>
        <p:nvSpPr>
          <p:cNvPr id="124" name="Path"/>
          <p:cNvSpPr/>
          <p:nvPr/>
        </p:nvSpPr>
        <p:spPr>
          <a:xfrm>
            <a:off x="13740630" y="8632611"/>
            <a:ext cx="50991" cy="89329"/>
          </a:xfrm>
          <a:custGeom>
            <a:avLst/>
            <a:gdLst/>
            <a:ahLst/>
            <a:cxnLst/>
            <a:rect l="0" t="0" r="r" b="b"/>
            <a:pathLst>
              <a:path w="50991" h="89329">
                <a:moveTo>
                  <a:pt x="10746" y="1906"/>
                </a:moveTo>
                <a:lnTo>
                  <a:pt x="49084" y="40244"/>
                </a:lnTo>
                <a:quadBezTo>
                  <a:pt x="50991" y="42044"/>
                  <a:pt x="50915" y="44664"/>
                </a:quadBezTo>
                <a:quadBezTo>
                  <a:pt x="50991" y="47285"/>
                  <a:pt x="49084" y="49084"/>
                </a:quadBezTo>
                <a:lnTo>
                  <a:pt x="10746" y="87422"/>
                </a:lnTo>
                <a:quadBezTo>
                  <a:pt x="8947" y="89329"/>
                  <a:pt x="6326" y="89253"/>
                </a:quadBezTo>
                <a:quadBezTo>
                  <a:pt x="3706" y="89329"/>
                  <a:pt x="1906" y="87422"/>
                </a:quadBezTo>
                <a:quadBezTo>
                  <a:pt x="0" y="85623"/>
                  <a:pt x="75" y="83002"/>
                </a:quadBezTo>
                <a:quadBezTo>
                  <a:pt x="0" y="80382"/>
                  <a:pt x="1906" y="78582"/>
                </a:quadBezTo>
                <a:lnTo>
                  <a:pt x="35824" y="44664"/>
                </a:ln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Rectangle"/>
          <p:cNvSpPr/>
          <p:nvPr/>
        </p:nvSpPr>
        <p:spPr>
          <a:xfrm>
            <a:off x="10463213" y="8491538"/>
            <a:ext cx="3457575" cy="361950"/>
          </a:xfrm>
          <a:prstGeom prst="roundRect">
            <a:avLst>
              <a:gd name="adj" fmla="val 14473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Rectangle"/>
          <p:cNvSpPr/>
          <p:nvPr/>
        </p:nvSpPr>
        <p:spPr>
          <a:xfrm>
            <a:off x="10458450" y="8991600"/>
            <a:ext cx="3467100" cy="371475"/>
          </a:xfrm>
          <a:prstGeom prst="roundRect">
            <a:avLst>
              <a:gd name="adj" fmla="val 15384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TextBox"/>
          <p:cNvSpPr txBox="1"/>
          <p:nvPr/>
        </p:nvSpPr>
        <p:spPr>
          <a:xfrm>
            <a:off x="10553700" y="9086850"/>
            <a:ext cx="2400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425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重建索引需要多久，会影响正在进行的会话吗？</a:t>
            </a:r>
          </a:p>
        </p:txBody>
      </p:sp>
      <p:sp>
        <p:nvSpPr>
          <p:cNvPr id="128" name="Path"/>
          <p:cNvSpPr/>
          <p:nvPr/>
        </p:nvSpPr>
        <p:spPr>
          <a:xfrm>
            <a:off x="13740630" y="9137436"/>
            <a:ext cx="50991" cy="89329"/>
          </a:xfrm>
          <a:custGeom>
            <a:avLst/>
            <a:gdLst/>
            <a:ahLst/>
            <a:cxnLst/>
            <a:rect l="0" t="0" r="r" b="b"/>
            <a:pathLst>
              <a:path w="50991" h="89329">
                <a:moveTo>
                  <a:pt x="10746" y="1906"/>
                </a:moveTo>
                <a:lnTo>
                  <a:pt x="49084" y="40244"/>
                </a:lnTo>
                <a:quadBezTo>
                  <a:pt x="50991" y="42044"/>
                  <a:pt x="50915" y="44664"/>
                </a:quadBezTo>
                <a:quadBezTo>
                  <a:pt x="50991" y="47285"/>
                  <a:pt x="49084" y="49084"/>
                </a:quadBezTo>
                <a:lnTo>
                  <a:pt x="10746" y="87422"/>
                </a:lnTo>
                <a:quadBezTo>
                  <a:pt x="8947" y="89329"/>
                  <a:pt x="6326" y="89253"/>
                </a:quadBezTo>
                <a:quadBezTo>
                  <a:pt x="3706" y="89329"/>
                  <a:pt x="1906" y="87422"/>
                </a:quadBezTo>
                <a:quadBezTo>
                  <a:pt x="0" y="85623"/>
                  <a:pt x="75" y="83002"/>
                </a:quadBezTo>
                <a:quadBezTo>
                  <a:pt x="0" y="80382"/>
                  <a:pt x="1906" y="78582"/>
                </a:quadBezTo>
                <a:lnTo>
                  <a:pt x="35824" y="44664"/>
                </a:ln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Rectangle"/>
          <p:cNvSpPr/>
          <p:nvPr/>
        </p:nvSpPr>
        <p:spPr>
          <a:xfrm>
            <a:off x="10463213" y="8996363"/>
            <a:ext cx="3457575" cy="361950"/>
          </a:xfrm>
          <a:prstGeom prst="roundRect">
            <a:avLst>
              <a:gd name="adj" fmla="val 14473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0" name="Rectangle"/>
          <p:cNvSpPr/>
          <p:nvPr/>
        </p:nvSpPr>
        <p:spPr>
          <a:xfrm>
            <a:off x="10291763" y="3433763"/>
            <a:ext cx="3800475" cy="6848475"/>
          </a:xfrm>
          <a:prstGeom prst="roundRect">
            <a:avLst>
              <a:gd name="adj" fmla="val 2380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Rectangle"/>
          <p:cNvSpPr/>
          <p:nvPr/>
        </p:nvSpPr>
        <p:spPr>
          <a:xfrm>
            <a:off x="614363" y="1947863"/>
            <a:ext cx="13706475" cy="8562975"/>
          </a:xfrm>
          <a:prstGeom prst="roundRect">
            <a:avLst>
              <a:gd name="adj" fmla="val 1501"/>
            </a:avLst>
          </a:prstGeom>
          <a:noFill/>
          <a:ln w="9525">
            <a:solidFill>
              <a:srgbClr val="DCE0E8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5240000" cy="11372850"/>
          </a:xfrm>
          <a:prstGeom prst="rect">
            <a:avLst/>
          </a:prstGeom>
          <a:solidFill>
            <a:srgbClr val="F5F6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609600" y="609600"/>
            <a:ext cx="1485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4F5BD5"/>
                </a:solidFill>
                <a:latin typeface="JetBrains Mono"/>
                <a:ea typeface="JetBrains Mono"/>
                <a:cs typeface="JetBrains Mono"/>
              </a:rPr>
              <a:t>05 / SCREENS · 应用界面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609600" y="876300"/>
            <a:ext cx="18288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31619"/>
                </a:solidFill>
                <a:latin typeface="Noto Sans SC Bold"/>
                <a:ea typeface="Noto Sans SC Bold"/>
                <a:cs typeface="Noto Sans SC Bold"/>
              </a:rPr>
              <a:t>索引策略配置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09600" y="1390650"/>
            <a:ext cx="82677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1950"/>
              </a:lnSpc>
            </a:pPr>
            <a:r>
              <a:rPr lang="zh-CN" sz="1050">
                <a:solidFill>
                  <a:srgbClr val="6B7484"/>
                </a:solidFill>
                <a:latin typeface="Noto Sans SC"/>
                <a:ea typeface="Noto Sans SC"/>
                <a:cs typeface="Noto Sans SC"/>
              </a:rPr>
              <a:t>切分策略与嵌入策略的完整配置面。左侧调参并实时预览分片效果，右侧对齐嵌入模型、索引与量化参数，底部给出规模与耗时预估后才允许提交。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3392150" y="1733550"/>
            <a:ext cx="12344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3B2"/>
                </a:solidFill>
                <a:latin typeface="JetBrains Mono"/>
                <a:ea typeface="JetBrains Mono"/>
                <a:cs typeface="JetBrains Mono"/>
              </a:rPr>
              <a:t>1440 × 900 · LIGHT</a:t>
            </a:r>
          </a:p>
        </p:txBody>
      </p:sp>
      <p:sp>
        <p:nvSpPr>
          <p:cNvPr id="7" name="Rectangle"/>
          <p:cNvSpPr/>
          <p:nvPr/>
        </p:nvSpPr>
        <p:spPr>
          <a:xfrm>
            <a:off x="609600" y="2190750"/>
            <a:ext cx="13716000" cy="8572500"/>
          </a:xfrm>
          <a:prstGeom prst="roundRect">
            <a:avLst>
              <a:gd name="adj" fmla="val 1555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609600" y="2190750"/>
            <a:ext cx="2286000" cy="857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800100" y="2400300"/>
            <a:ext cx="285750" cy="285750"/>
          </a:xfrm>
          <a:prstGeom prst="roundRect">
            <a:avLst>
              <a:gd name="adj" fmla="val 26666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868680" y="2520315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978217" y="247173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Ellipse"/>
          <p:cNvSpPr/>
          <p:nvPr/>
        </p:nvSpPr>
        <p:spPr>
          <a:xfrm>
            <a:off x="978217" y="2582228"/>
            <a:ext cx="32385" cy="32385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905310" y="2493128"/>
            <a:ext cx="75330" cy="100095"/>
          </a:xfrm>
          <a:custGeom>
            <a:avLst/>
            <a:gdLst/>
            <a:ahLst/>
            <a:cxnLst/>
            <a:rect l="0" t="0" r="r" b="b"/>
            <a:pathLst>
              <a:path w="75330" h="100095">
                <a:moveTo>
                  <a:pt x="3555" y="34521"/>
                </a:moveTo>
                <a:lnTo>
                  <a:pt x="66420" y="1183"/>
                </a:lnTo>
                <a:quadBezTo>
                  <a:pt x="68504" y="0"/>
                  <a:pt x="70774" y="769"/>
                </a:quadBezTo>
                <a:quadBezTo>
                  <a:pt x="73085" y="1406"/>
                  <a:pt x="74146" y="3555"/>
                </a:quadBezTo>
                <a:quadBezTo>
                  <a:pt x="75330" y="5639"/>
                  <a:pt x="74561" y="7909"/>
                </a:quadBezTo>
                <a:quadBezTo>
                  <a:pt x="73924" y="10220"/>
                  <a:pt x="71775" y="11281"/>
                </a:quadBezTo>
                <a:lnTo>
                  <a:pt x="8910" y="44619"/>
                </a:lnTo>
                <a:quadBezTo>
                  <a:pt x="6826" y="45802"/>
                  <a:pt x="4555" y="45033"/>
                </a:quadBezTo>
                <a:quadBezTo>
                  <a:pt x="2245" y="44396"/>
                  <a:pt x="1183" y="42247"/>
                </a:quadBezTo>
                <a:quadBezTo>
                  <a:pt x="0" y="40163"/>
                  <a:pt x="769" y="37893"/>
                </a:quadBezTo>
                <a:quadBezTo>
                  <a:pt x="1406" y="35582"/>
                  <a:pt x="3555" y="34521"/>
                </a:quadBezTo>
                <a:close/>
                <a:moveTo>
                  <a:pt x="8910" y="55476"/>
                </a:moveTo>
                <a:lnTo>
                  <a:pt x="71775" y="88813"/>
                </a:lnTo>
                <a:quadBezTo>
                  <a:pt x="73924" y="89875"/>
                  <a:pt x="74561" y="92185"/>
                </a:quadBezTo>
                <a:quadBezTo>
                  <a:pt x="75330" y="94456"/>
                  <a:pt x="74146" y="96540"/>
                </a:quadBezTo>
                <a:quadBezTo>
                  <a:pt x="73085" y="98689"/>
                  <a:pt x="70774" y="99326"/>
                </a:quadBezTo>
                <a:quadBezTo>
                  <a:pt x="68504" y="100095"/>
                  <a:pt x="66420" y="98911"/>
                </a:quadBezTo>
                <a:lnTo>
                  <a:pt x="3555" y="65574"/>
                </a:lnTo>
                <a:quadBezTo>
                  <a:pt x="1406" y="64512"/>
                  <a:pt x="769" y="62202"/>
                </a:quadBezTo>
                <a:quadBezTo>
                  <a:pt x="0" y="59932"/>
                  <a:pt x="1183" y="57847"/>
                </a:quadBezTo>
                <a:quadBezTo>
                  <a:pt x="2245" y="55698"/>
                  <a:pt x="4555" y="55061"/>
                </a:quadBezTo>
                <a:quadBezTo>
                  <a:pt x="6826" y="54293"/>
                  <a:pt x="8910" y="55476"/>
                </a:quad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181100" y="238125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知识库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81100" y="2581275"/>
            <a:ext cx="6858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zvec · local</a:t>
            </a:r>
          </a:p>
        </p:txBody>
      </p:sp>
      <p:sp>
        <p:nvSpPr>
          <p:cNvPr id="16" name="Rectangle"/>
          <p:cNvSpPr/>
          <p:nvPr/>
        </p:nvSpPr>
        <p:spPr>
          <a:xfrm>
            <a:off x="859155" y="293560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922020" y="2935605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859155" y="299847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922020" y="2998470"/>
            <a:ext cx="47625" cy="47625"/>
          </a:xfrm>
          <a:prstGeom prst="roundRect">
            <a:avLst>
              <a:gd name="adj" fmla="val 28000"/>
            </a:avLst>
          </a:prstGeom>
          <a:noFill/>
          <a:ln w="13335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085850" y="29051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概览</a:t>
            </a:r>
          </a:p>
        </p:txBody>
      </p:sp>
      <p:sp>
        <p:nvSpPr>
          <p:cNvPr id="21" name="Rectangle"/>
          <p:cNvSpPr/>
          <p:nvPr/>
        </p:nvSpPr>
        <p:spPr>
          <a:xfrm>
            <a:off x="742950" y="3181350"/>
            <a:ext cx="2019300" cy="342900"/>
          </a:xfrm>
          <a:prstGeom prst="roundRect">
            <a:avLst>
              <a:gd name="adj" fmla="val 2222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Path"/>
          <p:cNvSpPr/>
          <p:nvPr/>
        </p:nvSpPr>
        <p:spPr>
          <a:xfrm>
            <a:off x="850492" y="3289449"/>
            <a:ext cx="127816" cy="71458"/>
          </a:xfrm>
          <a:custGeom>
            <a:avLst/>
            <a:gdLst/>
            <a:ahLst/>
            <a:cxnLst/>
            <a:rect l="0" t="0" r="r" b="b"/>
            <a:pathLst>
              <a:path w="127816" h="71458">
                <a:moveTo>
                  <a:pt x="123900" y="30228"/>
                </a:moveTo>
                <a:quadBezTo>
                  <a:pt x="124756" y="30669"/>
                  <a:pt x="125436" y="31351"/>
                </a:quadBezTo>
                <a:quadBezTo>
                  <a:pt x="126118" y="32031"/>
                  <a:pt x="126559" y="32887"/>
                </a:quadBezTo>
                <a:quadBezTo>
                  <a:pt x="127816" y="35158"/>
                  <a:pt x="126957" y="37609"/>
                </a:quadBezTo>
                <a:quadBezTo>
                  <a:pt x="126240" y="40104"/>
                  <a:pt x="123900" y="41229"/>
                </a:quadBezTo>
                <a:lnTo>
                  <a:pt x="66750" y="70757"/>
                </a:lnTo>
                <a:quadBezTo>
                  <a:pt x="65416" y="71458"/>
                  <a:pt x="63908" y="71448"/>
                </a:quadBezTo>
                <a:quadBezTo>
                  <a:pt x="62401" y="71458"/>
                  <a:pt x="61066" y="70757"/>
                </a:quadBezTo>
                <a:lnTo>
                  <a:pt x="3916" y="41229"/>
                </a:lnTo>
                <a:quadBezTo>
                  <a:pt x="3060" y="40789"/>
                  <a:pt x="2380" y="40107"/>
                </a:quadBezTo>
                <a:quadBezTo>
                  <a:pt x="1698" y="39427"/>
                  <a:pt x="1258" y="38571"/>
                </a:quadBezTo>
                <a:quadBezTo>
                  <a:pt x="0" y="36299"/>
                  <a:pt x="859" y="33849"/>
                </a:quadBezTo>
                <a:quadBezTo>
                  <a:pt x="1576" y="31353"/>
                  <a:pt x="3916" y="30228"/>
                </a:quadBezTo>
                <a:lnTo>
                  <a:pt x="61066" y="701"/>
                </a:lnTo>
                <a:quadBezTo>
                  <a:pt x="62401" y="0"/>
                  <a:pt x="63908" y="10"/>
                </a:quadBezTo>
                <a:quadBezTo>
                  <a:pt x="65416" y="0"/>
                  <a:pt x="66750" y="701"/>
                </a:quadBezTo>
                <a:lnTo>
                  <a:pt x="123900" y="30228"/>
                </a:lnTo>
                <a:close/>
                <a:moveTo>
                  <a:pt x="63908" y="13170"/>
                </a:moveTo>
                <a:lnTo>
                  <a:pt x="20246" y="35729"/>
                </a:lnTo>
                <a:lnTo>
                  <a:pt x="63908" y="58288"/>
                </a:lnTo>
                <a:lnTo>
                  <a:pt x="107570" y="35729"/>
                </a:lnTo>
                <a:lnTo>
                  <a:pt x="63908" y="1317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854408" y="3352062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854408" y="3380637"/>
            <a:ext cx="119984" cy="41229"/>
          </a:xfrm>
          <a:custGeom>
            <a:avLst/>
            <a:gdLst/>
            <a:ahLst/>
            <a:cxnLst/>
            <a:rect l="0" t="0" r="r" b="b"/>
            <a:pathLst>
              <a:path w="119984" h="41229">
                <a:moveTo>
                  <a:pt x="5684" y="0"/>
                </a:moveTo>
                <a:lnTo>
                  <a:pt x="59992" y="28059"/>
                </a:lnTo>
                <a:lnTo>
                  <a:pt x="114300" y="0"/>
                </a:lnTo>
                <a:lnTo>
                  <a:pt x="119984" y="11001"/>
                </a:lnTo>
                <a:lnTo>
                  <a:pt x="62834" y="40528"/>
                </a:lnTo>
                <a:quadBezTo>
                  <a:pt x="61499" y="41229"/>
                  <a:pt x="59992" y="41219"/>
                </a:quadBezTo>
                <a:quadBezTo>
                  <a:pt x="58485" y="41229"/>
                  <a:pt x="57150" y="40528"/>
                </a:quadBezTo>
                <a:lnTo>
                  <a:pt x="0" y="11001"/>
                </a:lnTo>
                <a:lnTo>
                  <a:pt x="5684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085850" y="326707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知识库</a:t>
            </a:r>
          </a:p>
        </p:txBody>
      </p:sp>
      <p:sp>
        <p:nvSpPr>
          <p:cNvPr id="26" name="Path"/>
          <p:cNvSpPr/>
          <p:nvPr/>
        </p:nvSpPr>
        <p:spPr>
          <a:xfrm>
            <a:off x="870109" y="3653309"/>
            <a:ext cx="88587" cy="122877"/>
          </a:xfrm>
          <a:custGeom>
            <a:avLst/>
            <a:gdLst/>
            <a:ahLst/>
            <a:cxnLst/>
            <a:rect l="0" t="0" r="r" b="b"/>
            <a:pathLst>
              <a:path w="88587" h="122877">
                <a:moveTo>
                  <a:pt x="19526" y="5"/>
                </a:moveTo>
                <a:lnTo>
                  <a:pt x="57626" y="5"/>
                </a:lnTo>
                <a:quadBezTo>
                  <a:pt x="58859" y="0"/>
                  <a:pt x="59996" y="476"/>
                </a:quadBezTo>
                <a:quadBezTo>
                  <a:pt x="61136" y="943"/>
                  <a:pt x="62004" y="1818"/>
                </a:quadBezTo>
                <a:lnTo>
                  <a:pt x="86769" y="26583"/>
                </a:lnTo>
                <a:quadBezTo>
                  <a:pt x="87644" y="27451"/>
                  <a:pt x="88111" y="28592"/>
                </a:quadBezTo>
                <a:quadBezTo>
                  <a:pt x="88587" y="29728"/>
                  <a:pt x="88582" y="30961"/>
                </a:quadBezTo>
                <a:lnTo>
                  <a:pt x="88582" y="103351"/>
                </a:lnTo>
                <a:quadBezTo>
                  <a:pt x="88582" y="111630"/>
                  <a:pt x="82959" y="117254"/>
                </a:quadBezTo>
                <a:quadBezTo>
                  <a:pt x="77336" y="122877"/>
                  <a:pt x="69056" y="122877"/>
                </a:quadBezTo>
                <a:lnTo>
                  <a:pt x="19526" y="122877"/>
                </a:lnTo>
                <a:quadBezTo>
                  <a:pt x="11247" y="122877"/>
                  <a:pt x="5623" y="117254"/>
                </a:quadBezTo>
                <a:quadBezTo>
                  <a:pt x="0" y="111630"/>
                  <a:pt x="0" y="103351"/>
                </a:quadBezTo>
                <a:lnTo>
                  <a:pt x="0" y="19531"/>
                </a:lnTo>
                <a:quadBezTo>
                  <a:pt x="0" y="11251"/>
                  <a:pt x="5623" y="5628"/>
                </a:quadBezTo>
                <a:quadBezTo>
                  <a:pt x="11247" y="5"/>
                  <a:pt x="19526" y="5"/>
                </a:quadBezTo>
                <a:close/>
                <a:moveTo>
                  <a:pt x="19526" y="12387"/>
                </a:moveTo>
                <a:quadBezTo>
                  <a:pt x="16376" y="12387"/>
                  <a:pt x="14379" y="14384"/>
                </a:quadBezTo>
                <a:quadBezTo>
                  <a:pt x="12382" y="16380"/>
                  <a:pt x="12382" y="19531"/>
                </a:quadBezTo>
                <a:lnTo>
                  <a:pt x="12382" y="103351"/>
                </a:lnTo>
                <a:quadBezTo>
                  <a:pt x="12382" y="106501"/>
                  <a:pt x="14379" y="108498"/>
                </a:quadBezTo>
                <a:quadBezTo>
                  <a:pt x="16376" y="110495"/>
                  <a:pt x="19526" y="110495"/>
                </a:quadBezTo>
                <a:lnTo>
                  <a:pt x="69056" y="110495"/>
                </a:lnTo>
                <a:quadBezTo>
                  <a:pt x="72207" y="110495"/>
                  <a:pt x="74203" y="108498"/>
                </a:quadBezTo>
                <a:quadBezTo>
                  <a:pt x="76200" y="106501"/>
                  <a:pt x="76200" y="103351"/>
                </a:quadBezTo>
                <a:lnTo>
                  <a:pt x="76200" y="33525"/>
                </a:lnTo>
                <a:lnTo>
                  <a:pt x="55062" y="12387"/>
                </a:lnTo>
                <a:lnTo>
                  <a:pt x="19526" y="12387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921469" y="3659505"/>
            <a:ext cx="31031" cy="31031"/>
          </a:xfrm>
          <a:custGeom>
            <a:avLst/>
            <a:gdLst/>
            <a:ahLst/>
            <a:cxnLst/>
            <a:rect l="0" t="0" r="r" b="b"/>
            <a:pathLst>
              <a:path w="31031" h="31031">
                <a:moveTo>
                  <a:pt x="12457" y="0"/>
                </a:moveTo>
                <a:lnTo>
                  <a:pt x="12457" y="18574"/>
                </a:lnTo>
                <a:lnTo>
                  <a:pt x="31031" y="18574"/>
                </a:lnTo>
                <a:lnTo>
                  <a:pt x="31031" y="30956"/>
                </a:lnTo>
                <a:lnTo>
                  <a:pt x="6266" y="30956"/>
                </a:lnTo>
                <a:quadBezTo>
                  <a:pt x="3671" y="31031"/>
                  <a:pt x="1888" y="29143"/>
                </a:quadBezTo>
                <a:quadBezTo>
                  <a:pt x="0" y="27360"/>
                  <a:pt x="75" y="24765"/>
                </a:quadBezTo>
                <a:lnTo>
                  <a:pt x="75" y="0"/>
                </a:lnTo>
                <a:lnTo>
                  <a:pt x="12457" y="0"/>
                </a:ln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085850" y="362902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文档</a:t>
            </a:r>
          </a:p>
        </p:txBody>
      </p:sp>
      <p:sp>
        <p:nvSpPr>
          <p:cNvPr id="29" name="Ellipse"/>
          <p:cNvSpPr/>
          <p:nvPr/>
        </p:nvSpPr>
        <p:spPr>
          <a:xfrm>
            <a:off x="863917" y="4026218"/>
            <a:ext cx="85725" cy="85725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932417" y="4094717"/>
            <a:ext cx="42071" cy="42071"/>
          </a:xfrm>
          <a:custGeom>
            <a:avLst/>
            <a:gdLst/>
            <a:ahLst/>
            <a:cxnLst/>
            <a:rect l="0" t="0" r="r" b="b"/>
            <a:pathLst>
              <a:path w="42071" h="42071">
                <a:moveTo>
                  <a:pt x="11463" y="2033"/>
                </a:moveTo>
                <a:lnTo>
                  <a:pt x="40038" y="30608"/>
                </a:lnTo>
                <a:quadBezTo>
                  <a:pt x="42071" y="32528"/>
                  <a:pt x="41990" y="35323"/>
                </a:quadBezTo>
                <a:quadBezTo>
                  <a:pt x="42071" y="38118"/>
                  <a:pt x="40038" y="40038"/>
                </a:quadBezTo>
                <a:quadBezTo>
                  <a:pt x="38118" y="42071"/>
                  <a:pt x="35323" y="41990"/>
                </a:quadBezTo>
                <a:quadBezTo>
                  <a:pt x="32528" y="42071"/>
                  <a:pt x="30608" y="40038"/>
                </a:quadBezTo>
                <a:lnTo>
                  <a:pt x="2033" y="11463"/>
                </a:lnTo>
                <a:quadBezTo>
                  <a:pt x="0" y="9543"/>
                  <a:pt x="80" y="6748"/>
                </a:quadBez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085850" y="39909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检索测试</a:t>
            </a:r>
          </a:p>
        </p:txBody>
      </p:sp>
      <p:sp>
        <p:nvSpPr>
          <p:cNvPr id="32" name="Ellipse"/>
          <p:cNvSpPr/>
          <p:nvPr/>
        </p:nvSpPr>
        <p:spPr>
          <a:xfrm>
            <a:off x="857250" y="4381500"/>
            <a:ext cx="114300" cy="11430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Path"/>
          <p:cNvSpPr/>
          <p:nvPr/>
        </p:nvSpPr>
        <p:spPr>
          <a:xfrm>
            <a:off x="907652" y="4399517"/>
            <a:ext cx="36873" cy="61638"/>
          </a:xfrm>
          <a:custGeom>
            <a:avLst/>
            <a:gdLst/>
            <a:ahLst/>
            <a:cxnLst/>
            <a:rect l="0" t="0" r="r" b="b"/>
            <a:pathLst>
              <a:path w="36873" h="61638">
                <a:moveTo>
                  <a:pt x="13415" y="6748"/>
                </a:moveTo>
                <a:lnTo>
                  <a:pt x="13415" y="38019"/>
                </a:lnTo>
                <a:lnTo>
                  <a:pt x="32784" y="48510"/>
                </a:lnTo>
                <a:quadBezTo>
                  <a:pt x="35280" y="49771"/>
                  <a:pt x="35999" y="52473"/>
                </a:quadBezTo>
                <a:quadBezTo>
                  <a:pt x="36873" y="55129"/>
                  <a:pt x="35471" y="57549"/>
                </a:quadBezTo>
                <a:quadBezTo>
                  <a:pt x="34210" y="60045"/>
                  <a:pt x="31508" y="60764"/>
                </a:quadBezTo>
                <a:quadBezTo>
                  <a:pt x="28852" y="61638"/>
                  <a:pt x="26432" y="60236"/>
                </a:quadBezTo>
                <a:lnTo>
                  <a:pt x="3572" y="47853"/>
                </a:lnTo>
                <a:quadBezTo>
                  <a:pt x="1946" y="46992"/>
                  <a:pt x="1020" y="45402"/>
                </a:quadBezTo>
                <a:quadBezTo>
                  <a:pt x="63" y="43830"/>
                  <a:pt x="80" y="41990"/>
                </a:quadBezTo>
                <a:lnTo>
                  <a:pt x="80" y="6748"/>
                </a:lnTo>
                <a:quadBezTo>
                  <a:pt x="0" y="3953"/>
                  <a:pt x="2033" y="2033"/>
                </a:quadBezTo>
                <a:quadBezTo>
                  <a:pt x="3953" y="0"/>
                  <a:pt x="6748" y="80"/>
                </a:quadBezTo>
                <a:quadBezTo>
                  <a:pt x="9543" y="0"/>
                  <a:pt x="11463" y="2033"/>
                </a:quadBezTo>
                <a:quadBezTo>
                  <a:pt x="13496" y="3953"/>
                  <a:pt x="13415" y="674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085850" y="435292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构建历史</a:t>
            </a:r>
          </a:p>
        </p:txBody>
      </p:sp>
      <p:sp>
        <p:nvSpPr>
          <p:cNvPr id="35" name="Ellipse"/>
          <p:cNvSpPr/>
          <p:nvPr/>
        </p:nvSpPr>
        <p:spPr>
          <a:xfrm>
            <a:off x="870585" y="4756785"/>
            <a:ext cx="87630" cy="87630"/>
          </a:xfrm>
          <a:prstGeom prst="ellipse">
            <a:avLst/>
          </a:prstGeom>
          <a:noFill/>
          <a:ln w="13335">
            <a:solidFill>
              <a:srgbClr val="5B647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Ellipse"/>
          <p:cNvSpPr/>
          <p:nvPr/>
        </p:nvSpPr>
        <p:spPr>
          <a:xfrm>
            <a:off x="897255" y="4783455"/>
            <a:ext cx="34290" cy="34290"/>
          </a:xfrm>
          <a:prstGeom prst="ellipse">
            <a:avLst/>
          </a:pr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Path"/>
          <p:cNvSpPr/>
          <p:nvPr/>
        </p:nvSpPr>
        <p:spPr>
          <a:xfrm>
            <a:off x="844787" y="4730987"/>
            <a:ext cx="139226" cy="139226"/>
          </a:xfrm>
          <a:custGeom>
            <a:avLst/>
            <a:gdLst/>
            <a:ahLst/>
            <a:cxnLst/>
            <a:rect l="0" t="0" r="r" b="b"/>
            <a:pathLst>
              <a:path w="139226" h="139226">
                <a:moveTo>
                  <a:pt x="76280" y="6748"/>
                </a:moveTo>
                <a:lnTo>
                  <a:pt x="76280" y="25798"/>
                </a:lnTo>
                <a:quadBezTo>
                  <a:pt x="76361" y="28593"/>
                  <a:pt x="74328" y="30513"/>
                </a:quadBezTo>
                <a:quadBezTo>
                  <a:pt x="72408" y="32546"/>
                  <a:pt x="69613" y="32465"/>
                </a:quadBezTo>
                <a:quadBezTo>
                  <a:pt x="66818" y="32546"/>
                  <a:pt x="64898" y="30513"/>
                </a:quadBezTo>
                <a:quadBezTo>
                  <a:pt x="62865" y="28593"/>
                  <a:pt x="62945" y="25798"/>
                </a:quadBezTo>
                <a:lnTo>
                  <a:pt x="62945" y="6748"/>
                </a:lnTo>
                <a:quadBezTo>
                  <a:pt x="62865" y="3953"/>
                  <a:pt x="64898" y="2033"/>
                </a:quadBezTo>
                <a:quadBezTo>
                  <a:pt x="66818" y="0"/>
                  <a:pt x="69613" y="80"/>
                </a:quadBezTo>
                <a:quadBezTo>
                  <a:pt x="72408" y="0"/>
                  <a:pt x="74328" y="2033"/>
                </a:quadBezTo>
                <a:quadBezTo>
                  <a:pt x="76361" y="3953"/>
                  <a:pt x="76280" y="6748"/>
                </a:quadBezTo>
                <a:close/>
                <a:moveTo>
                  <a:pt x="6748" y="62945"/>
                </a:moveTo>
                <a:lnTo>
                  <a:pt x="25798" y="62945"/>
                </a:lnTo>
                <a:quadBezTo>
                  <a:pt x="28593" y="62865"/>
                  <a:pt x="30513" y="64898"/>
                </a:quadBezTo>
                <a:quadBezTo>
                  <a:pt x="32546" y="66818"/>
                  <a:pt x="32465" y="69613"/>
                </a:quadBezTo>
                <a:quadBezTo>
                  <a:pt x="32546" y="72408"/>
                  <a:pt x="30513" y="74328"/>
                </a:quadBezTo>
                <a:quadBezTo>
                  <a:pt x="28593" y="76361"/>
                  <a:pt x="25798" y="76280"/>
                </a:quadBezTo>
                <a:lnTo>
                  <a:pt x="6748" y="76280"/>
                </a:lnTo>
                <a:quadBezTo>
                  <a:pt x="3953" y="76361"/>
                  <a:pt x="2033" y="74328"/>
                </a:quadBezTo>
                <a:quadBezTo>
                  <a:pt x="0" y="72408"/>
                  <a:pt x="80" y="69613"/>
                </a:quadBezTo>
                <a:quadBezTo>
                  <a:pt x="0" y="66818"/>
                  <a:pt x="2033" y="64898"/>
                </a:quadBezTo>
                <a:quadBezTo>
                  <a:pt x="3953" y="62865"/>
                  <a:pt x="6748" y="62945"/>
                </a:quadBezTo>
                <a:close/>
                <a:moveTo>
                  <a:pt x="113428" y="62945"/>
                </a:moveTo>
                <a:lnTo>
                  <a:pt x="132478" y="62945"/>
                </a:lnTo>
                <a:quadBezTo>
                  <a:pt x="135273" y="62865"/>
                  <a:pt x="137193" y="64898"/>
                </a:quadBezTo>
                <a:quadBezTo>
                  <a:pt x="139226" y="66818"/>
                  <a:pt x="139145" y="69613"/>
                </a:quadBezTo>
                <a:quadBezTo>
                  <a:pt x="139226" y="72408"/>
                  <a:pt x="137193" y="74328"/>
                </a:quadBezTo>
                <a:quadBezTo>
                  <a:pt x="135273" y="76361"/>
                  <a:pt x="132478" y="76280"/>
                </a:quadBezTo>
                <a:lnTo>
                  <a:pt x="113428" y="76280"/>
                </a:lnTo>
                <a:quadBezTo>
                  <a:pt x="110633" y="76361"/>
                  <a:pt x="108713" y="74328"/>
                </a:quadBezTo>
                <a:quadBezTo>
                  <a:pt x="106680" y="72408"/>
                  <a:pt x="106760" y="69613"/>
                </a:quadBezTo>
                <a:quadBezTo>
                  <a:pt x="106680" y="66818"/>
                  <a:pt x="108713" y="64898"/>
                </a:quadBezTo>
                <a:quadBezTo>
                  <a:pt x="110633" y="62865"/>
                  <a:pt x="113428" y="62945"/>
                </a:quadBezTo>
                <a:close/>
                <a:moveTo>
                  <a:pt x="76280" y="113428"/>
                </a:moveTo>
                <a:lnTo>
                  <a:pt x="76280" y="132478"/>
                </a:lnTo>
                <a:quadBezTo>
                  <a:pt x="76361" y="135273"/>
                  <a:pt x="74328" y="137193"/>
                </a:quadBezTo>
                <a:quadBezTo>
                  <a:pt x="72408" y="139226"/>
                  <a:pt x="69613" y="139145"/>
                </a:quadBezTo>
                <a:quadBezTo>
                  <a:pt x="66818" y="139226"/>
                  <a:pt x="64898" y="137193"/>
                </a:quadBezTo>
                <a:quadBezTo>
                  <a:pt x="62865" y="135273"/>
                  <a:pt x="62945" y="132478"/>
                </a:quadBezTo>
                <a:lnTo>
                  <a:pt x="62945" y="113428"/>
                </a:lnTo>
                <a:quadBezTo>
                  <a:pt x="62865" y="110633"/>
                  <a:pt x="64898" y="108713"/>
                </a:quadBezTo>
                <a:quadBezTo>
                  <a:pt x="66818" y="106680"/>
                  <a:pt x="69613" y="106760"/>
                </a:quadBezTo>
                <a:quadBezTo>
                  <a:pt x="72408" y="106680"/>
                  <a:pt x="74328" y="108713"/>
                </a:quadBezTo>
                <a:quadBezTo>
                  <a:pt x="76361" y="110633"/>
                  <a:pt x="76280" y="113428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85850" y="4714875"/>
            <a:ext cx="2476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设置</a:t>
            </a:r>
          </a:p>
        </p:txBody>
      </p:sp>
      <p:sp>
        <p:nvSpPr>
          <p:cNvPr id="39" name="Rectangle"/>
          <p:cNvSpPr/>
          <p:nvPr/>
        </p:nvSpPr>
        <p:spPr>
          <a:xfrm>
            <a:off x="742950" y="9886950"/>
            <a:ext cx="2019300" cy="742950"/>
          </a:xfrm>
          <a:prstGeom prst="roundRect">
            <a:avLst>
              <a:gd name="adj" fmla="val 1282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857250" y="1000125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本地索引占用</a:t>
            </a:r>
          </a:p>
        </p:txBody>
      </p:sp>
      <p:sp>
        <p:nvSpPr>
          <p:cNvPr id="41" name="Rectangle"/>
          <p:cNvSpPr/>
          <p:nvPr/>
        </p:nvSpPr>
        <p:spPr>
          <a:xfrm>
            <a:off x="857250" y="10239375"/>
            <a:ext cx="1790700" cy="57150"/>
          </a:xfrm>
          <a:prstGeom prst="roundRect">
            <a:avLst>
              <a:gd name="adj" fmla="val 50000"/>
            </a:avLst>
          </a:prstGeom>
          <a:solidFill>
            <a:srgbClr val="E1E5E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857250" y="10239375"/>
            <a:ext cx="371475" cy="5715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857250" y="10372725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MB / 2 GB</a:t>
            </a:r>
          </a:p>
        </p:txBody>
      </p:sp>
      <p:sp>
        <p:nvSpPr>
          <p:cNvPr id="44" name="Rectangle"/>
          <p:cNvSpPr/>
          <p:nvPr/>
        </p:nvSpPr>
        <p:spPr>
          <a:xfrm>
            <a:off x="2895600" y="2190750"/>
            <a:ext cx="114300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3124200" y="235267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1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索引策略配置</a:t>
            </a:r>
          </a:p>
        </p:txBody>
      </p:sp>
      <p:sp>
        <p:nvSpPr>
          <p:cNvPr id="46" name="Rectangle"/>
          <p:cNvSpPr/>
          <p:nvPr/>
        </p:nvSpPr>
        <p:spPr>
          <a:xfrm>
            <a:off x="11449050" y="2305050"/>
            <a:ext cx="2286000" cy="304800"/>
          </a:xfrm>
          <a:prstGeom prst="roundRect">
            <a:avLst>
              <a:gd name="adj" fmla="val 25000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Ellipse"/>
          <p:cNvSpPr/>
          <p:nvPr/>
        </p:nvSpPr>
        <p:spPr>
          <a:xfrm>
            <a:off x="11568410" y="2414885"/>
            <a:ext cx="80367" cy="80367"/>
          </a:xfrm>
          <a:prstGeom prst="ellipse">
            <a:avLst/>
          </a:prstGeom>
          <a:noFill/>
          <a:ln w="12502">
            <a:solidFill>
              <a:srgbClr val="9AA3B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11632628" y="2479104"/>
            <a:ext cx="39441" cy="39441"/>
          </a:xfrm>
          <a:custGeom>
            <a:avLst/>
            <a:gdLst/>
            <a:ahLst/>
            <a:cxnLst/>
            <a:rect l="0" t="0" r="r" b="b"/>
            <a:pathLst>
              <a:path w="39441" h="39441">
                <a:moveTo>
                  <a:pt x="10746" y="1906"/>
                </a:moveTo>
                <a:lnTo>
                  <a:pt x="37535" y="28695"/>
                </a:lnTo>
                <a:quadBezTo>
                  <a:pt x="39441" y="30495"/>
                  <a:pt x="39366" y="33115"/>
                </a:quadBezTo>
                <a:quadBezTo>
                  <a:pt x="39441" y="35736"/>
                  <a:pt x="37535" y="37535"/>
                </a:quadBezTo>
                <a:quadBezTo>
                  <a:pt x="35736" y="39441"/>
                  <a:pt x="33115" y="39366"/>
                </a:quadBezTo>
                <a:quadBezTo>
                  <a:pt x="30495" y="39441"/>
                  <a:pt x="28695" y="37535"/>
                </a:quadBezTo>
                <a:lnTo>
                  <a:pt x="1906" y="10746"/>
                </a:lnTo>
                <a:quadBezTo>
                  <a:pt x="0" y="8947"/>
                  <a:pt x="75" y="6326"/>
                </a:quadBezTo>
                <a:quadBezTo>
                  <a:pt x="0" y="3706"/>
                  <a:pt x="1906" y="1906"/>
                </a:quadBezTo>
                <a:quadBezTo>
                  <a:pt x="3706" y="0"/>
                  <a:pt x="6326" y="75"/>
                </a:quadBezTo>
                <a:quadBezTo>
                  <a:pt x="8947" y="0"/>
                  <a:pt x="10746" y="1906"/>
                </a:quadBezTo>
                <a:close/>
              </a:path>
            </a:pathLst>
          </a:custGeom>
          <a:solidFill>
            <a:srgbClr val="9AA3B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1763375" y="2381250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搜索知识库或文档</a:t>
            </a:r>
          </a:p>
        </p:txBody>
      </p:sp>
      <p:sp>
        <p:nvSpPr>
          <p:cNvPr id="50" name="Ellipse"/>
          <p:cNvSpPr/>
          <p:nvPr/>
        </p:nvSpPr>
        <p:spPr>
          <a:xfrm>
            <a:off x="13849350" y="2314575"/>
            <a:ext cx="285750" cy="285750"/>
          </a:xfrm>
          <a:prstGeom prst="ellipse">
            <a:avLst/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Ellipse"/>
          <p:cNvSpPr/>
          <p:nvPr/>
        </p:nvSpPr>
        <p:spPr>
          <a:xfrm>
            <a:off x="13952220" y="2385060"/>
            <a:ext cx="80010" cy="80010"/>
          </a:xfrm>
          <a:prstGeom prst="ellipse">
            <a:avLst/>
          </a:prstGeom>
          <a:noFill/>
          <a:ln w="15240">
            <a:solidFill>
              <a:srgbClr val="4F5BD5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13912123" y="2480310"/>
            <a:ext cx="160204" cy="74387"/>
          </a:xfrm>
          <a:custGeom>
            <a:avLst/>
            <a:gdLst/>
            <a:ahLst/>
            <a:cxnLst/>
            <a:rect l="0" t="0" r="r" b="b"/>
            <a:pathLst>
              <a:path w="160204" h="74387">
                <a:moveTo>
                  <a:pt x="92" y="66675"/>
                </a:moveTo>
                <a:quadBezTo>
                  <a:pt x="92" y="36535"/>
                  <a:pt x="24595" y="17551"/>
                </a:quadBezTo>
                <a:quadBezTo>
                  <a:pt x="47248" y="0"/>
                  <a:pt x="80102" y="0"/>
                </a:quadBezTo>
                <a:quadBezTo>
                  <a:pt x="112956" y="0"/>
                  <a:pt x="135609" y="17551"/>
                </a:quadBezTo>
                <a:quadBezTo>
                  <a:pt x="160112" y="36535"/>
                  <a:pt x="160112" y="66675"/>
                </a:quadBezTo>
                <a:quadBezTo>
                  <a:pt x="160204" y="69869"/>
                  <a:pt x="157880" y="72063"/>
                </a:quadBezTo>
                <a:quadBezTo>
                  <a:pt x="155686" y="74387"/>
                  <a:pt x="152492" y="74295"/>
                </a:quadBezTo>
                <a:quadBezTo>
                  <a:pt x="149298" y="74387"/>
                  <a:pt x="147104" y="72063"/>
                </a:quadBezTo>
                <a:quadBezTo>
                  <a:pt x="144780" y="69869"/>
                  <a:pt x="144872" y="66675"/>
                </a:quadBezTo>
                <a:quadBezTo>
                  <a:pt x="144872" y="44007"/>
                  <a:pt x="126275" y="29598"/>
                </a:quadBezTo>
                <a:quadBezTo>
                  <a:pt x="107743" y="15240"/>
                  <a:pt x="80102" y="15240"/>
                </a:quadBezTo>
                <a:quadBezTo>
                  <a:pt x="52461" y="15240"/>
                  <a:pt x="33929" y="29598"/>
                </a:quadBezTo>
                <a:quadBezTo>
                  <a:pt x="15332" y="44007"/>
                  <a:pt x="15332" y="66675"/>
                </a:quadBezTo>
                <a:quadBezTo>
                  <a:pt x="15424" y="69869"/>
                  <a:pt x="13100" y="72063"/>
                </a:quadBezTo>
                <a:quadBezTo>
                  <a:pt x="10906" y="74387"/>
                  <a:pt x="7712" y="74295"/>
                </a:quadBezTo>
                <a:quadBezTo>
                  <a:pt x="4518" y="74387"/>
                  <a:pt x="2324" y="72063"/>
                </a:quadBezTo>
                <a:quadBezTo>
                  <a:pt x="0" y="69869"/>
                  <a:pt x="92" y="66675"/>
                </a:quadBezTo>
                <a:close/>
              </a:path>
            </a:pathLst>
          </a:cu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2895600" y="2724150"/>
            <a:ext cx="11430000" cy="9525"/>
          </a:xfrm>
          <a:prstGeom prst="rect">
            <a:avLst/>
          </a:prstGeom>
          <a:solidFill>
            <a:srgbClr val="E9ECF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3124200" y="2962275"/>
            <a:ext cx="12573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索引策略配置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3124200" y="3305175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75"/>
              </a:lnSpc>
            </a:pPr>
            <a:r>
              <a:rPr lang="zh-CN" sz="97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切分粒度决定召回上限，嵌入与索引参数决定检索代价。参数变更后需重建索引才会生效。</a:t>
            </a:r>
          </a:p>
        </p:txBody>
      </p:sp>
      <p:sp>
        <p:nvSpPr>
          <p:cNvPr id="56" name="Rectangle"/>
          <p:cNvSpPr/>
          <p:nvPr/>
        </p:nvSpPr>
        <p:spPr>
          <a:xfrm>
            <a:off x="11820525" y="3181350"/>
            <a:ext cx="10096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1953875" y="3257550"/>
            <a:ext cx="74295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重置为推荐值</a:t>
            </a:r>
          </a:p>
        </p:txBody>
      </p:sp>
      <p:sp>
        <p:nvSpPr>
          <p:cNvPr id="58" name="Rectangle"/>
          <p:cNvSpPr/>
          <p:nvPr/>
        </p:nvSpPr>
        <p:spPr>
          <a:xfrm>
            <a:off x="11825288" y="3186113"/>
            <a:ext cx="100012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Rectangle"/>
          <p:cNvSpPr/>
          <p:nvPr/>
        </p:nvSpPr>
        <p:spPr>
          <a:xfrm>
            <a:off x="12925425" y="3181350"/>
            <a:ext cx="1171575" cy="323850"/>
          </a:xfrm>
          <a:prstGeom prst="roundRect">
            <a:avLst>
              <a:gd name="adj" fmla="val 17647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Box"/>
          <p:cNvSpPr txBox="1"/>
          <p:nvPr/>
        </p:nvSpPr>
        <p:spPr>
          <a:xfrm>
            <a:off x="13077825" y="3257550"/>
            <a:ext cx="8667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保存并重建索引</a:t>
            </a:r>
          </a:p>
        </p:txBody>
      </p:sp>
      <p:sp>
        <p:nvSpPr>
          <p:cNvPr id="61" name="Rectangle"/>
          <p:cNvSpPr/>
          <p:nvPr/>
        </p:nvSpPr>
        <p:spPr>
          <a:xfrm>
            <a:off x="3124200" y="3676650"/>
            <a:ext cx="6972300" cy="2562225"/>
          </a:xfrm>
          <a:prstGeom prst="roundRect">
            <a:avLst>
              <a:gd name="adj" fmla="val 371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Box"/>
          <p:cNvSpPr txBox="1"/>
          <p:nvPr/>
        </p:nvSpPr>
        <p:spPr>
          <a:xfrm>
            <a:off x="3295650" y="3857625"/>
            <a:ext cx="134683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切分策略 · Chunking</a:t>
            </a:r>
          </a:p>
        </p:txBody>
      </p:sp>
      <p:sp>
        <p:nvSpPr>
          <p:cNvPr id="63" name="Rectangle"/>
          <p:cNvSpPr/>
          <p:nvPr/>
        </p:nvSpPr>
        <p:spPr>
          <a:xfrm>
            <a:off x="8115300" y="3848100"/>
            <a:ext cx="1809750" cy="209550"/>
          </a:xfrm>
          <a:prstGeom prst="roundRect">
            <a:avLst>
              <a:gd name="adj" fmla="val 27272"/>
            </a:avLst>
          </a:prstGeom>
          <a:solidFill>
            <a:srgbClr val="EEF0FB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8191500" y="3886200"/>
            <a:ext cx="16554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推荐：按标题层级 · 1024 token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3295650" y="419100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切分方式</a:t>
            </a:r>
          </a:p>
        </p:txBody>
      </p:sp>
      <p:sp>
        <p:nvSpPr>
          <p:cNvPr id="66" name="Rectangle"/>
          <p:cNvSpPr/>
          <p:nvPr/>
        </p:nvSpPr>
        <p:spPr>
          <a:xfrm>
            <a:off x="3295650" y="4486275"/>
            <a:ext cx="2400300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Rectangle"/>
          <p:cNvSpPr/>
          <p:nvPr/>
        </p:nvSpPr>
        <p:spPr>
          <a:xfrm>
            <a:off x="3324225" y="4514850"/>
            <a:ext cx="885825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3457575" y="4562475"/>
            <a:ext cx="61912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131619"/>
                </a:solidFill>
                <a:effectLst>
                  <a:outerShdw blurRad="9525" dist="9525" dir="5400000" algn="ctr" rotWithShape="0">
                    <a:srgbClr val="0F121A">
                      <a:alpha val="10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按标题层级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4371975" y="4562475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按段落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5038725" y="4562475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固定长度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3295650" y="4943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分片长度</a:t>
            </a:r>
          </a:p>
        </p:txBody>
      </p:sp>
      <p:sp>
        <p:nvSpPr>
          <p:cNvPr id="72" name="Rectangle"/>
          <p:cNvSpPr/>
          <p:nvPr/>
        </p:nvSpPr>
        <p:spPr>
          <a:xfrm>
            <a:off x="3295650" y="5153025"/>
            <a:ext cx="21082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3409950" y="523875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1024 token</a:t>
            </a:r>
          </a:p>
        </p:txBody>
      </p:sp>
      <p:sp>
        <p:nvSpPr>
          <p:cNvPr id="74" name="Rectangle"/>
          <p:cNvSpPr/>
          <p:nvPr/>
        </p:nvSpPr>
        <p:spPr>
          <a:xfrm>
            <a:off x="3300413" y="5157788"/>
            <a:ext cx="20986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Box"/>
          <p:cNvSpPr txBox="1"/>
          <p:nvPr/>
        </p:nvSpPr>
        <p:spPr>
          <a:xfrm>
            <a:off x="5553075" y="4943475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重叠长度</a:t>
            </a:r>
          </a:p>
        </p:txBody>
      </p:sp>
      <p:sp>
        <p:nvSpPr>
          <p:cNvPr id="76" name="Rectangle"/>
          <p:cNvSpPr/>
          <p:nvPr/>
        </p:nvSpPr>
        <p:spPr>
          <a:xfrm>
            <a:off x="5553075" y="5153025"/>
            <a:ext cx="21082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Box"/>
          <p:cNvSpPr txBox="1"/>
          <p:nvPr/>
        </p:nvSpPr>
        <p:spPr>
          <a:xfrm>
            <a:off x="5667375" y="5238750"/>
            <a:ext cx="6172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128 token</a:t>
            </a:r>
          </a:p>
        </p:txBody>
      </p:sp>
      <p:sp>
        <p:nvSpPr>
          <p:cNvPr id="78" name="Rectangle"/>
          <p:cNvSpPr/>
          <p:nvPr/>
        </p:nvSpPr>
        <p:spPr>
          <a:xfrm>
            <a:off x="5557838" y="5157788"/>
            <a:ext cx="20986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Box"/>
          <p:cNvSpPr txBox="1"/>
          <p:nvPr/>
        </p:nvSpPr>
        <p:spPr>
          <a:xfrm>
            <a:off x="7820025" y="4943475"/>
            <a:ext cx="11525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最小分片（低于则丢弃）</a:t>
            </a:r>
          </a:p>
        </p:txBody>
      </p:sp>
      <p:sp>
        <p:nvSpPr>
          <p:cNvPr id="80" name="Rectangle"/>
          <p:cNvSpPr/>
          <p:nvPr/>
        </p:nvSpPr>
        <p:spPr>
          <a:xfrm>
            <a:off x="7820025" y="5153025"/>
            <a:ext cx="21082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TextBox"/>
          <p:cNvSpPr txBox="1"/>
          <p:nvPr/>
        </p:nvSpPr>
        <p:spPr>
          <a:xfrm>
            <a:off x="7934325" y="5238750"/>
            <a:ext cx="5486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64 token</a:t>
            </a:r>
          </a:p>
        </p:txBody>
      </p:sp>
      <p:sp>
        <p:nvSpPr>
          <p:cNvPr id="82" name="Rectangle"/>
          <p:cNvSpPr/>
          <p:nvPr/>
        </p:nvSpPr>
        <p:spPr>
          <a:xfrm>
            <a:off x="7824788" y="5157788"/>
            <a:ext cx="2098675" cy="314325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Box"/>
          <p:cNvSpPr txBox="1"/>
          <p:nvPr/>
        </p:nvSpPr>
        <p:spPr>
          <a:xfrm>
            <a:off x="3295650" y="561022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特殊处理</a:t>
            </a:r>
          </a:p>
        </p:txBody>
      </p:sp>
      <p:sp>
        <p:nvSpPr>
          <p:cNvPr id="84" name="Rectangle"/>
          <p:cNvSpPr/>
          <p:nvPr/>
        </p:nvSpPr>
        <p:spPr>
          <a:xfrm>
            <a:off x="3295650" y="5915025"/>
            <a:ext cx="142875" cy="142875"/>
          </a:xfrm>
          <a:prstGeom prst="roundRect">
            <a:avLst>
              <a:gd name="adj" fmla="val 25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Path"/>
          <p:cNvSpPr/>
          <p:nvPr/>
        </p:nvSpPr>
        <p:spPr>
          <a:xfrm>
            <a:off x="3327259" y="5957226"/>
            <a:ext cx="79781" cy="61028"/>
          </a:xfrm>
          <a:custGeom>
            <a:avLst/>
            <a:gdLst/>
            <a:ahLst/>
            <a:cxnLst/>
            <a:rect l="0" t="0" r="r" b="b"/>
            <a:pathLst>
              <a:path w="79781" h="61028">
                <a:moveTo>
                  <a:pt x="13049" y="25655"/>
                </a:moveTo>
                <a:lnTo>
                  <a:pt x="29783" y="42389"/>
                </a:lnTo>
                <a:lnTo>
                  <a:pt x="66394" y="2661"/>
                </a:lnTo>
                <a:quadBezTo>
                  <a:pt x="68483" y="260"/>
                  <a:pt x="71666" y="221"/>
                </a:quadBezTo>
                <a:quadBezTo>
                  <a:pt x="74842" y="0"/>
                  <a:pt x="77119" y="2224"/>
                </a:quadBezTo>
                <a:quadBezTo>
                  <a:pt x="79521" y="4313"/>
                  <a:pt x="79559" y="7496"/>
                </a:quadBezTo>
                <a:quadBezTo>
                  <a:pt x="79781" y="10671"/>
                  <a:pt x="77557" y="12949"/>
                </a:quadBezTo>
                <a:lnTo>
                  <a:pt x="35588" y="58490"/>
                </a:lnTo>
                <a:quadBezTo>
                  <a:pt x="35535" y="58547"/>
                  <a:pt x="35481" y="58603"/>
                </a:quadBezTo>
                <a:quadBezTo>
                  <a:pt x="35428" y="58659"/>
                  <a:pt x="35373" y="58714"/>
                </a:quadBezTo>
                <a:quadBezTo>
                  <a:pt x="33188" y="61028"/>
                  <a:pt x="30006" y="60937"/>
                </a:quadBezTo>
                <a:quadBezTo>
                  <a:pt x="26824" y="61028"/>
                  <a:pt x="24639" y="58714"/>
                </a:quadBezTo>
                <a:lnTo>
                  <a:pt x="2315" y="36389"/>
                </a:lnTo>
                <a:quadBezTo>
                  <a:pt x="0" y="34204"/>
                  <a:pt x="92" y="31022"/>
                </a:quadBezTo>
                <a:quadBezTo>
                  <a:pt x="0" y="27840"/>
                  <a:pt x="2315" y="25655"/>
                </a:quadBezTo>
                <a:quadBezTo>
                  <a:pt x="4500" y="23341"/>
                  <a:pt x="7682" y="23432"/>
                </a:quadBezTo>
                <a:quadBezTo>
                  <a:pt x="10864" y="23341"/>
                  <a:pt x="13049" y="25655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Box"/>
          <p:cNvSpPr txBox="1"/>
          <p:nvPr/>
        </p:nvSpPr>
        <p:spPr>
          <a:xfrm>
            <a:off x="3505200" y="5905500"/>
            <a:ext cx="17145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按标题层级切分时保留代码块完整</a:t>
            </a:r>
          </a:p>
        </p:txBody>
      </p:sp>
      <p:sp>
        <p:nvSpPr>
          <p:cNvPr id="87" name="Rectangle"/>
          <p:cNvSpPr/>
          <p:nvPr/>
        </p:nvSpPr>
        <p:spPr>
          <a:xfrm>
            <a:off x="5416451" y="5921276"/>
            <a:ext cx="130373" cy="130373"/>
          </a:xfrm>
          <a:prstGeom prst="roundRect">
            <a:avLst>
              <a:gd name="adj" fmla="val 24657"/>
            </a:avLst>
          </a:prstGeom>
          <a:noFill/>
          <a:ln w="12502">
            <a:solidFill>
              <a:srgbClr val="CBD2DE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TextBox"/>
          <p:cNvSpPr txBox="1"/>
          <p:nvPr/>
        </p:nvSpPr>
        <p:spPr>
          <a:xfrm>
            <a:off x="5619750" y="59055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表格按行拆分</a:t>
            </a:r>
          </a:p>
        </p:txBody>
      </p:sp>
      <p:sp>
        <p:nvSpPr>
          <p:cNvPr id="89" name="Rectangle"/>
          <p:cNvSpPr/>
          <p:nvPr/>
        </p:nvSpPr>
        <p:spPr>
          <a:xfrm>
            <a:off x="3128963" y="3681413"/>
            <a:ext cx="6962775" cy="2552700"/>
          </a:xfrm>
          <a:prstGeom prst="roundRect">
            <a:avLst>
              <a:gd name="adj" fmla="val 3544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Rectangle"/>
          <p:cNvSpPr/>
          <p:nvPr/>
        </p:nvSpPr>
        <p:spPr>
          <a:xfrm>
            <a:off x="3124200" y="6391275"/>
            <a:ext cx="6972300" cy="4143375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3295650" y="6600825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分片预览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9115425" y="6629400"/>
            <a:ext cx="44005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 / 128</a:t>
            </a:r>
          </a:p>
        </p:txBody>
      </p:sp>
      <p:sp>
        <p:nvSpPr>
          <p:cNvPr id="93" name="Rectangle"/>
          <p:cNvSpPr/>
          <p:nvPr/>
        </p:nvSpPr>
        <p:spPr>
          <a:xfrm>
            <a:off x="9658350" y="6562725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Path"/>
          <p:cNvSpPr/>
          <p:nvPr/>
        </p:nvSpPr>
        <p:spPr>
          <a:xfrm>
            <a:off x="9763704" y="6651411"/>
            <a:ext cx="50991" cy="89329"/>
          </a:xfrm>
          <a:custGeom>
            <a:avLst/>
            <a:gdLst/>
            <a:ahLst/>
            <a:cxnLst/>
            <a:rect l="0" t="0" r="r" b="b"/>
            <a:pathLst>
              <a:path w="50991" h="89329">
                <a:moveTo>
                  <a:pt x="49084" y="10746"/>
                </a:moveTo>
                <a:lnTo>
                  <a:pt x="15166" y="44664"/>
                </a:lnTo>
                <a:lnTo>
                  <a:pt x="49084" y="78582"/>
                </a:lnTo>
                <a:quadBezTo>
                  <a:pt x="50991" y="80382"/>
                  <a:pt x="50915" y="83002"/>
                </a:quadBezTo>
                <a:quadBezTo>
                  <a:pt x="50991" y="85623"/>
                  <a:pt x="49084" y="87422"/>
                </a:quadBezTo>
                <a:quadBezTo>
                  <a:pt x="47285" y="89329"/>
                  <a:pt x="44664" y="89253"/>
                </a:quadBezTo>
                <a:quadBezTo>
                  <a:pt x="42044" y="89329"/>
                  <a:pt x="40244" y="87422"/>
                </a:quadBezTo>
                <a:lnTo>
                  <a:pt x="1906" y="49084"/>
                </a:lnTo>
                <a:quadBezTo>
                  <a:pt x="0" y="47285"/>
                  <a:pt x="75" y="44664"/>
                </a:quadBezTo>
                <a:quadBezTo>
                  <a:pt x="0" y="42044"/>
                  <a:pt x="1906" y="40244"/>
                </a:quadBezTo>
                <a:lnTo>
                  <a:pt x="40244" y="1906"/>
                </a:lnTo>
                <a:quadBezTo>
                  <a:pt x="42044" y="0"/>
                  <a:pt x="44664" y="75"/>
                </a:quadBezTo>
                <a:quadBezTo>
                  <a:pt x="47285" y="0"/>
                  <a:pt x="49084" y="1906"/>
                </a:quadBezTo>
                <a:quadBezTo>
                  <a:pt x="50991" y="3706"/>
                  <a:pt x="50915" y="6326"/>
                </a:quadBezTo>
                <a:quadBezTo>
                  <a:pt x="50991" y="8947"/>
                  <a:pt x="49084" y="10746"/>
                </a:quadBezTo>
                <a:close/>
              </a:path>
            </a:pathLst>
          </a:custGeom>
          <a:solidFill>
            <a:srgbClr val="5B6472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Rectangle"/>
          <p:cNvSpPr/>
          <p:nvPr/>
        </p:nvSpPr>
        <p:spPr>
          <a:xfrm>
            <a:off x="9663113" y="6567488"/>
            <a:ext cx="257175" cy="257175"/>
          </a:xfrm>
          <a:prstGeom prst="roundRect">
            <a:avLst>
              <a:gd name="adj" fmla="val 20370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Rectangle"/>
          <p:cNvSpPr/>
          <p:nvPr/>
        </p:nvSpPr>
        <p:spPr>
          <a:xfrm>
            <a:off x="3295650" y="6943725"/>
            <a:ext cx="6629400" cy="600075"/>
          </a:xfrm>
          <a:prstGeom prst="roundRect">
            <a:avLst>
              <a:gd name="adj" fmla="val 12698"/>
            </a:avLst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TextBox"/>
          <p:cNvSpPr txBox="1"/>
          <p:nvPr/>
        </p:nvSpPr>
        <p:spPr>
          <a:xfrm>
            <a:off x="3409950" y="7058025"/>
            <a:ext cx="29527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分片 #1 · 458 token · zvec-architecture.md · 第 24 段</a:t>
            </a:r>
          </a:p>
        </p:txBody>
      </p:sp>
      <p:sp>
        <p:nvSpPr>
          <p:cNvPr id="98" name="TextBox"/>
          <p:cNvSpPr txBox="1"/>
          <p:nvPr/>
        </p:nvSpPr>
        <p:spPr>
          <a:xfrm>
            <a:off x="3409950" y="7239000"/>
            <a:ext cx="620420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HNSW 图在构建阶段通过逐层插入维护邻居关系，efConstruction 决定候选集大小；将其提高可改善高维向量的召回上限。</a:t>
            </a:r>
          </a:p>
        </p:txBody>
      </p:sp>
      <p:sp>
        <p:nvSpPr>
          <p:cNvPr id="99" name="Rectangle"/>
          <p:cNvSpPr/>
          <p:nvPr/>
        </p:nvSpPr>
        <p:spPr>
          <a:xfrm>
            <a:off x="3300413" y="6948488"/>
            <a:ext cx="6619875" cy="590550"/>
          </a:xfrm>
          <a:prstGeom prst="roundRect">
            <a:avLst>
              <a:gd name="adj" fmla="val 12096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Rectangle"/>
          <p:cNvSpPr/>
          <p:nvPr/>
        </p:nvSpPr>
        <p:spPr>
          <a:xfrm>
            <a:off x="3295650" y="7658100"/>
            <a:ext cx="6629400" cy="600075"/>
          </a:xfrm>
          <a:prstGeom prst="roundRect">
            <a:avLst>
              <a:gd name="adj" fmla="val 12698"/>
            </a:avLst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3409950" y="7772400"/>
            <a:ext cx="23622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分片 #2 · 476 token · 与上一片重叠 128 token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3409950" y="7953375"/>
            <a:ext cx="527380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将 efConstruction 提高到 200 后召回率提升约 4.2 个百分点，构建耗时增长约 1.6 倍，需要按业务权衡。</a:t>
            </a:r>
          </a:p>
        </p:txBody>
      </p:sp>
      <p:sp>
        <p:nvSpPr>
          <p:cNvPr id="103" name="Rectangle"/>
          <p:cNvSpPr/>
          <p:nvPr/>
        </p:nvSpPr>
        <p:spPr>
          <a:xfrm>
            <a:off x="3300413" y="7662863"/>
            <a:ext cx="6619875" cy="590550"/>
          </a:xfrm>
          <a:prstGeom prst="roundRect">
            <a:avLst>
              <a:gd name="adj" fmla="val 12096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3295650" y="8372475"/>
            <a:ext cx="6629400" cy="600075"/>
          </a:xfrm>
          <a:prstGeom prst="roundRect">
            <a:avLst>
              <a:gd name="adj" fmla="val 12698"/>
            </a:avLst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TextBox"/>
          <p:cNvSpPr txBox="1"/>
          <p:nvPr/>
        </p:nvSpPr>
        <p:spPr>
          <a:xfrm>
            <a:off x="3409950" y="8486775"/>
            <a:ext cx="23622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分片 #3 · 402 token · 与上一片重叠 128 token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3409950" y="8667750"/>
            <a:ext cx="549257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索引类型对比：HNSW 适合高召回低延迟场景，IVF 更适合超大规模批量检索，DiskANN 面向磁盘常驻集合。</a:t>
            </a:r>
          </a:p>
        </p:txBody>
      </p:sp>
      <p:sp>
        <p:nvSpPr>
          <p:cNvPr id="107" name="Rectangle"/>
          <p:cNvSpPr/>
          <p:nvPr/>
        </p:nvSpPr>
        <p:spPr>
          <a:xfrm>
            <a:off x="3300413" y="8377238"/>
            <a:ext cx="6619875" cy="590550"/>
          </a:xfrm>
          <a:prstGeom prst="roundRect">
            <a:avLst>
              <a:gd name="adj" fmla="val 12096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Rectangle"/>
          <p:cNvSpPr/>
          <p:nvPr/>
        </p:nvSpPr>
        <p:spPr>
          <a:xfrm>
            <a:off x="3295650" y="9086850"/>
            <a:ext cx="6629400" cy="600075"/>
          </a:xfrm>
          <a:prstGeom prst="roundRect">
            <a:avLst>
              <a:gd name="adj" fmla="val 12698"/>
            </a:avLst>
          </a:prstGeom>
          <a:solidFill>
            <a:srgbClr val="F8F9FC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TextBox"/>
          <p:cNvSpPr txBox="1"/>
          <p:nvPr/>
        </p:nvSpPr>
        <p:spPr>
          <a:xfrm>
            <a:off x="3409950" y="9201150"/>
            <a:ext cx="22479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3B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分片 #4 · 386 token · changelog-2026.txt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3409950" y="9382125"/>
            <a:ext cx="42576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量化器以少量召回损失换取存储压缩；RaBitQ 在 1024 维下的压缩率优于 PQ-INT8。</a:t>
            </a:r>
          </a:p>
        </p:txBody>
      </p:sp>
      <p:sp>
        <p:nvSpPr>
          <p:cNvPr id="111" name="Rectangle"/>
          <p:cNvSpPr/>
          <p:nvPr/>
        </p:nvSpPr>
        <p:spPr>
          <a:xfrm>
            <a:off x="3300413" y="9091613"/>
            <a:ext cx="6619875" cy="590550"/>
          </a:xfrm>
          <a:prstGeom prst="roundRect">
            <a:avLst>
              <a:gd name="adj" fmla="val 12096"/>
            </a:avLst>
          </a:prstGeom>
          <a:noFill/>
          <a:ln w="9525">
            <a:solidFill>
              <a:srgbClr val="E9ECF2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TextBox"/>
          <p:cNvSpPr txBox="1"/>
          <p:nvPr/>
        </p:nvSpPr>
        <p:spPr>
          <a:xfrm>
            <a:off x="3295650" y="10220325"/>
            <a:ext cx="349948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共 128 片 · 平均 448 token · 已丢弃 3 个低于 64 token 的碎片</a:t>
            </a:r>
          </a:p>
        </p:txBody>
      </p:sp>
      <p:sp>
        <p:nvSpPr>
          <p:cNvPr id="113" name="Rectangle"/>
          <p:cNvSpPr/>
          <p:nvPr/>
        </p:nvSpPr>
        <p:spPr>
          <a:xfrm>
            <a:off x="3128963" y="6396038"/>
            <a:ext cx="6962775" cy="4133850"/>
          </a:xfrm>
          <a:prstGeom prst="roundRect">
            <a:avLst>
              <a:gd name="adj" fmla="val 2188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Rectangle"/>
          <p:cNvSpPr/>
          <p:nvPr/>
        </p:nvSpPr>
        <p:spPr>
          <a:xfrm>
            <a:off x="10287000" y="3676650"/>
            <a:ext cx="3810000" cy="2581275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5" name="TextBox"/>
          <p:cNvSpPr txBox="1"/>
          <p:nvPr/>
        </p:nvSpPr>
        <p:spPr>
          <a:xfrm>
            <a:off x="10458450" y="3848100"/>
            <a:ext cx="186863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嵌入与索引策略 · Embedding</a:t>
            </a:r>
          </a:p>
        </p:txBody>
      </p:sp>
      <p:sp>
        <p:nvSpPr>
          <p:cNvPr id="116" name="Rectangle"/>
          <p:cNvSpPr/>
          <p:nvPr/>
        </p:nvSpPr>
        <p:spPr>
          <a:xfrm>
            <a:off x="10458450" y="4171950"/>
            <a:ext cx="1676400" cy="523875"/>
          </a:xfrm>
          <a:prstGeom prst="roundRect">
            <a:avLst>
              <a:gd name="adj" fmla="val 10909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TextBox"/>
          <p:cNvSpPr txBox="1"/>
          <p:nvPr/>
        </p:nvSpPr>
        <p:spPr>
          <a:xfrm>
            <a:off x="10553700" y="4267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嵌入模型</a:t>
            </a:r>
          </a:p>
        </p:txBody>
      </p:sp>
      <p:sp>
        <p:nvSpPr>
          <p:cNvPr id="118" name="TextBox"/>
          <p:cNvSpPr txBox="1"/>
          <p:nvPr/>
        </p:nvSpPr>
        <p:spPr>
          <a:xfrm>
            <a:off x="10553700" y="4457700"/>
            <a:ext cx="106870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text-embedding-v4</a:t>
            </a:r>
          </a:p>
        </p:txBody>
      </p:sp>
      <p:sp>
        <p:nvSpPr>
          <p:cNvPr id="119" name="Rectangle"/>
          <p:cNvSpPr/>
          <p:nvPr/>
        </p:nvSpPr>
        <p:spPr>
          <a:xfrm>
            <a:off x="12249150" y="4171950"/>
            <a:ext cx="1676400" cy="523875"/>
          </a:xfrm>
          <a:prstGeom prst="roundRect">
            <a:avLst>
              <a:gd name="adj" fmla="val 10909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TextBox"/>
          <p:cNvSpPr txBox="1"/>
          <p:nvPr/>
        </p:nvSpPr>
        <p:spPr>
          <a:xfrm>
            <a:off x="12344400" y="4267200"/>
            <a:ext cx="7803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向量维度 · 类型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12344400" y="4457700"/>
            <a:ext cx="691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1024 · FP32</a:t>
            </a:r>
          </a:p>
        </p:txBody>
      </p:sp>
      <p:sp>
        <p:nvSpPr>
          <p:cNvPr id="122" name="Rectangle"/>
          <p:cNvSpPr/>
          <p:nvPr/>
        </p:nvSpPr>
        <p:spPr>
          <a:xfrm>
            <a:off x="10458450" y="4810125"/>
            <a:ext cx="1676400" cy="523875"/>
          </a:xfrm>
          <a:prstGeom prst="roundRect">
            <a:avLst>
              <a:gd name="adj" fmla="val 10909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3" name="TextBox"/>
          <p:cNvSpPr txBox="1"/>
          <p:nvPr/>
        </p:nvSpPr>
        <p:spPr>
          <a:xfrm>
            <a:off x="10553700" y="4905375"/>
            <a:ext cx="8851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距离度量 · 归一化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10553700" y="5095875"/>
            <a:ext cx="37719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cosine</a:t>
            </a:r>
          </a:p>
        </p:txBody>
      </p:sp>
      <p:sp>
        <p:nvSpPr>
          <p:cNvPr id="125" name="Rectangle"/>
          <p:cNvSpPr/>
          <p:nvPr/>
        </p:nvSpPr>
        <p:spPr>
          <a:xfrm>
            <a:off x="12249150" y="4810125"/>
            <a:ext cx="1676400" cy="523875"/>
          </a:xfrm>
          <a:prstGeom prst="roundRect">
            <a:avLst>
              <a:gd name="adj" fmla="val 10909"/>
            </a:avLst>
          </a:prstGeom>
          <a:solidFill>
            <a:srgbClr val="F5F6F9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TextBox"/>
          <p:cNvSpPr txBox="1"/>
          <p:nvPr/>
        </p:nvSpPr>
        <p:spPr>
          <a:xfrm>
            <a:off x="12344400" y="4905375"/>
            <a:ext cx="7803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量化器 · 压缩比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12344400" y="5095875"/>
            <a:ext cx="75438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PQ-INT8 · 4×</a:t>
            </a:r>
          </a:p>
        </p:txBody>
      </p:sp>
      <p:sp>
        <p:nvSpPr>
          <p:cNvPr id="128" name="TextBox"/>
          <p:cNvSpPr txBox="1"/>
          <p:nvPr/>
        </p:nvSpPr>
        <p:spPr>
          <a:xfrm>
            <a:off x="10458450" y="54673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3A424E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索引类型</a:t>
            </a:r>
          </a:p>
        </p:txBody>
      </p:sp>
      <p:sp>
        <p:nvSpPr>
          <p:cNvPr id="129" name="Rectangle"/>
          <p:cNvSpPr/>
          <p:nvPr/>
        </p:nvSpPr>
        <p:spPr>
          <a:xfrm>
            <a:off x="10458450" y="5762625"/>
            <a:ext cx="1885950" cy="323850"/>
          </a:xfrm>
          <a:prstGeom prst="roundRect">
            <a:avLst>
              <a:gd name="adj" fmla="val 23529"/>
            </a:avLst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0" name="Rectangle"/>
          <p:cNvSpPr/>
          <p:nvPr/>
        </p:nvSpPr>
        <p:spPr>
          <a:xfrm>
            <a:off x="10487025" y="5791200"/>
            <a:ext cx="542925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>
            <a:outerShdw blurRad="9525" dist="9525" dir="5400000" algn="ctr" rotWithShape="0">
              <a:srgbClr val="0F121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TextBox"/>
          <p:cNvSpPr txBox="1"/>
          <p:nvPr/>
        </p:nvSpPr>
        <p:spPr>
          <a:xfrm>
            <a:off x="10620375" y="584835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9525" dist="9525" dir="5400000" algn="ctr" rotWithShape="0">
                    <a:srgbClr val="0F121A">
                      <a:alpha val="10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HNSW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11191875" y="5848350"/>
            <a:ext cx="2057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IVF</a:t>
            </a:r>
          </a:p>
        </p:txBody>
      </p:sp>
      <p:sp>
        <p:nvSpPr>
          <p:cNvPr id="133" name="TextBox"/>
          <p:cNvSpPr txBox="1"/>
          <p:nvPr/>
        </p:nvSpPr>
        <p:spPr>
          <a:xfrm>
            <a:off x="11696700" y="5848350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B6472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DiskANN</a:t>
            </a:r>
          </a:p>
        </p:txBody>
      </p:sp>
      <p:sp>
        <p:nvSpPr>
          <p:cNvPr id="134" name="Rectangle"/>
          <p:cNvSpPr/>
          <p:nvPr/>
        </p:nvSpPr>
        <p:spPr>
          <a:xfrm>
            <a:off x="10291763" y="3681413"/>
            <a:ext cx="3800475" cy="2571750"/>
          </a:xfrm>
          <a:prstGeom prst="roundRect">
            <a:avLst>
              <a:gd name="adj" fmla="val 3518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Rectangle"/>
          <p:cNvSpPr/>
          <p:nvPr/>
        </p:nvSpPr>
        <p:spPr>
          <a:xfrm>
            <a:off x="10287000" y="6410325"/>
            <a:ext cx="3810000" cy="412432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6" name="TextBox"/>
          <p:cNvSpPr txBox="1"/>
          <p:nvPr/>
        </p:nvSpPr>
        <p:spPr>
          <a:xfrm>
            <a:off x="10458450" y="6581775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 Bold"/>
                <a:ea typeface="Noto Sans SC Bold"/>
                <a:cs typeface="Noto Sans SC Bold"/>
              </a:rPr>
              <a:t>混合检索与预估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10458450" y="6905625"/>
            <a:ext cx="97075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稠密向量 semantic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13649325" y="691515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0.70</a:t>
            </a:r>
          </a:p>
        </p:txBody>
      </p:sp>
      <p:sp>
        <p:nvSpPr>
          <p:cNvPr id="139" name="TextBox"/>
          <p:cNvSpPr txBox="1"/>
          <p:nvPr/>
        </p:nvSpPr>
        <p:spPr>
          <a:xfrm>
            <a:off x="10458450" y="7200900"/>
            <a:ext cx="12586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全文检索 BM25 / n-gram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13649325" y="7210425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0.30</a:t>
            </a:r>
          </a:p>
        </p:txBody>
      </p:sp>
      <p:sp>
        <p:nvSpPr>
          <p:cNvPr id="141" name="Rectangle"/>
          <p:cNvSpPr/>
          <p:nvPr/>
        </p:nvSpPr>
        <p:spPr>
          <a:xfrm>
            <a:off x="10458450" y="7496175"/>
            <a:ext cx="3467100" cy="9525"/>
          </a:xfrm>
          <a:prstGeom prst="rect">
            <a:avLst/>
          </a:prstGeom>
          <a:solidFill>
            <a:srgbClr val="EDEFF4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2" name="TextBox"/>
          <p:cNvSpPr txBox="1"/>
          <p:nvPr/>
        </p:nvSpPr>
        <p:spPr>
          <a:xfrm>
            <a:off x="10458450" y="763905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预估分片总数</a:t>
            </a:r>
          </a:p>
        </p:txBody>
      </p:sp>
      <p:sp>
        <p:nvSpPr>
          <p:cNvPr id="143" name="TextBox"/>
          <p:cNvSpPr txBox="1"/>
          <p:nvPr/>
        </p:nvSpPr>
        <p:spPr>
          <a:xfrm>
            <a:off x="13582650" y="7648575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1,024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10458450" y="7934325"/>
            <a:ext cx="11306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向量存储（PQ-INT8）</a:t>
            </a:r>
          </a:p>
        </p:txBody>
      </p:sp>
      <p:sp>
        <p:nvSpPr>
          <p:cNvPr id="145" name="TextBox"/>
          <p:cNvSpPr txBox="1"/>
          <p:nvPr/>
        </p:nvSpPr>
        <p:spPr>
          <a:xfrm>
            <a:off x="13506450" y="794385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31619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412 MB</a:t>
            </a:r>
          </a:p>
        </p:txBody>
      </p:sp>
      <p:sp>
        <p:nvSpPr>
          <p:cNvPr id="146" name="TextBox"/>
          <p:cNvSpPr txBox="1"/>
          <p:nvPr/>
        </p:nvSpPr>
        <p:spPr>
          <a:xfrm>
            <a:off x="10458450" y="822960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6B7484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预计构建耗时</a:t>
            </a:r>
          </a:p>
        </p:txBody>
      </p:sp>
      <p:sp>
        <p:nvSpPr>
          <p:cNvPr id="147" name="TextBox"/>
          <p:cNvSpPr txBox="1"/>
          <p:nvPr/>
        </p:nvSpPr>
        <p:spPr>
          <a:xfrm>
            <a:off x="13582650" y="8239125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4F5BD5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≈ 42s</a:t>
            </a:r>
          </a:p>
        </p:txBody>
      </p:sp>
      <p:sp>
        <p:nvSpPr>
          <p:cNvPr id="148" name="Rectangle"/>
          <p:cNvSpPr/>
          <p:nvPr/>
        </p:nvSpPr>
        <p:spPr>
          <a:xfrm>
            <a:off x="10458450" y="9982200"/>
            <a:ext cx="3467100" cy="381000"/>
          </a:xfrm>
          <a:prstGeom prst="roundRect">
            <a:avLst>
              <a:gd name="adj" fmla="val 15000"/>
            </a:avLst>
          </a:prstGeom>
          <a:solidFill>
            <a:srgbClr val="4F5BD5"/>
          </a:solidFill>
          <a:ln>
            <a:noFill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9" name="TextBox"/>
          <p:cNvSpPr txBox="1"/>
          <p:nvPr/>
        </p:nvSpPr>
        <p:spPr>
          <a:xfrm>
            <a:off x="11763375" y="10086975"/>
            <a:ext cx="866775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effectLst>
                  <a:outerShdw blurRad="190500" dist="152400" dir="5400000" algn="ctr" rotWithShape="0">
                    <a:srgbClr val="0F121A">
                      <a:alpha val="12000"/>
                    </a:srgbClr>
                  </a:outerShdw>
                </a:effectLst>
                <a:latin typeface="Noto Sans SC"/>
                <a:ea typeface="Noto Sans SC"/>
                <a:cs typeface="Noto Sans SC"/>
              </a:rPr>
              <a:t>保存并重建索引</a:t>
            </a:r>
          </a:p>
        </p:txBody>
      </p:sp>
      <p:sp>
        <p:nvSpPr>
          <p:cNvPr id="150" name="Rectangle"/>
          <p:cNvSpPr/>
          <p:nvPr/>
        </p:nvSpPr>
        <p:spPr>
          <a:xfrm>
            <a:off x="10291763" y="6415088"/>
            <a:ext cx="3800475" cy="4114800"/>
          </a:xfrm>
          <a:prstGeom prst="roundRect">
            <a:avLst>
              <a:gd name="adj" fmla="val 2380"/>
            </a:avLst>
          </a:prstGeom>
          <a:noFill/>
          <a:ln w="9525">
            <a:solidFill>
              <a:srgbClr val="E1E5EC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1" name="Rectangle"/>
          <p:cNvSpPr/>
          <p:nvPr/>
        </p:nvSpPr>
        <p:spPr>
          <a:xfrm>
            <a:off x="614363" y="2195513"/>
            <a:ext cx="13706475" cy="8562975"/>
          </a:xfrm>
          <a:prstGeom prst="roundRect">
            <a:avLst>
              <a:gd name="adj" fmla="val 1501"/>
            </a:avLst>
          </a:prstGeom>
          <a:noFill/>
          <a:ln w="9525">
            <a:solidFill>
              <a:srgbClr val="DCE0E8"/>
            </a:solidFill>
            <a:miter lim="400000"/>
          </a:ln>
          <a:effectLst>
            <a:outerShdw blurRad="190500" dist="152400" dir="5400000" algn="ctr" rotWithShape="0">
              <a:srgbClr val="0F121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9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